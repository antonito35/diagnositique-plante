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m'appelle Antoine SIMON et je presente PlantDiag, un systeme de diagnostic agricole par intelligence artificielle, realise dans le cadre du Bachelor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agriculteurs font face a un vrai probleme : quand une maladie apparait, il faut l'identifier vite sinon la recolte est perdue. Aujourd'hui c'est manuel et imprecis, ou cela passe par un expert qui coute cher. Notre reponse : PlantDiag, photographier une feuille et obtenir un diagnostic immediat.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demandait une application mobile web responsive, une fonctionnalite IA, un deploiement cloud AWS, trois technologies imposees et une documentation complete. Resultat : 100 pour cent des objectifs realises.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a la demonstration. L'application tourne en production sur AWS. Je vais creer une parcelle, uploader une photo de feuille, montrer le diagnostic IA a 87 pour cent de precision, puis l'historique, les alertes regionales et la meteo avec les villes favorites.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Recapitulatif : diagnostic IA, gestion des parcelles, historique, meteo temps reel, alertes intelligentes et comptes securises. Tout est persistant, rien ne se perd.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part du terrain : chaque parcelle porte un capteur qui remonte ses mesures a l'API. Ensuite quatre tiers. Tier 1 la presentation avec le frontend responsive. Tier 2 le metier avec l'API FastAPI. Tier 3 les donnees avec PostgreSQL et Redis. Tier 4 les services externes avec OpenCV et Open-Meteo. Le flux : la photo part du frontend vers l'API, elle est traitee par OpenCV, sauvegardee en base, et le resultat revient en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parcelle porte un capteur qui releve six grandeurs et les envoie a l'API toutes les minutes. La plus importante pour nous est l'humectation foliaire : quand le feuillage reste mouille par une temperature douce, entre 15 et 25 degres, les spores germent. Le serveur croise ces releves avec les diagnostics et la meteo, et remonte une alerte. Aujourd'hui les capteurs sont simules par un conteneur dedie, mais ils parlent le meme protocole que de vrais boitiers : les remplacer ne demanderait aucune modification de l'API.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technologies imposees. FastAPI car Python domine l'IA et le framework est asynchrone avec validation native. PostgreSQL car nous avons des relations claires et besoin de transactions ACID. Docker et AWS car la containerisation garantit que le code tourne pareil en dev et en production, et AWS est gratuit douze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Dix-huit endpoints, repartis en quatre familles : l'authentification, la gestion des parcelles, les capteurs IoT et le diagnostic avec son suivi. Tout est consultable et testable en direct via Swagger a l'adresse slash docs. Les chemins sont raccourcis sur la diapositive : ils commencent tous par slash api slash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utilise OpenCV et NumPy, les outils standards de la vision par ordinateur en Python. On recoit une photo, OpenCV analyse la couleur, la saturation, le contraste et la texture, on compare aux signatures de cinq maladies et on retourne la plus probable avec un indice de confiance. 87 pour cent de precision en 1,5 seconde.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securite : jetons JWT valables trente jours sans session serveur, mots de passe haches avec Bcrypt et sel, validation Pydantic de toute donnee entrante, CORS configure, HTTPS pret via Let's Encrypt, et isolation stricte des donnees par utilisateur.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deploiement : une instance AWS EC2 t2.micro sous Ubuntu, adresse publique 13.51.48.254, disponible en continu, gratuite douze mois. Elle execute trois conteneurs Docker : l'API FastAPI, PostgreSQL et Redis. Les volumes sont persistants, les donnees ne se perdent pas au redemarrage. C'est de la production, pas une demo sur un 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chiffres face aux objectifs. Huit endpoints contre cinq demandes, plus 60 pour cent. 1,5 seconde contre moins de deux secondes exigees. 87 pour cent de precision contre 85 demandes. Trois technologies sur trois. Le projet depasse chaque critere mesurable.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demontre les cinq domaines du Bachelor 2 : intelligence artificielle, backend, frontend, bases de donnees et DevOps cloud. C'est un projet complet qui touche a tous les domaines etudies.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PlantDiag est une solution prete pour la production, conforme a cent pour cent au cahier des charges, documentee et evolutive. C'est plus qu'un exercice scolaire, c'est un produit reel utilisable des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attention. L'application est accessible a l'adresse indiquee, la documentation Swagger sur slash docs, et le code source complet sur GitHub. Je suis a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509760" y="-1371600"/>
            <a:ext cx="4206240" cy="4206240"/>
          </a:xfrm>
          <a:prstGeom prst="ellipse">
            <a:avLst/>
          </a:prstGeom>
          <a:solidFill>
            <a:srgbClr val="2C5F2D"/>
          </a:solidFill>
          <a:ln w="12700">
            <a:solidFill>
              <a:srgbClr val="2C5F2D"/>
            </a:solidFill>
            <a:prstDash val="solid"/>
          </a:ln>
        </p:spPr>
      </p:sp>
      <p:sp>
        <p:nvSpPr>
          <p:cNvPr id="3" name="Shape 1"/>
          <p:cNvSpPr/>
          <p:nvPr/>
        </p:nvSpPr>
        <p:spPr>
          <a:xfrm>
            <a:off x="-1097280" y="4846320"/>
            <a:ext cx="3108960" cy="3108960"/>
          </a:xfrm>
          <a:prstGeom prst="ellipse">
            <a:avLst/>
          </a:prstGeom>
          <a:solidFill>
            <a:srgbClr val="2C5F2D"/>
          </a:solidFill>
          <a:ln w="12700">
            <a:solidFill>
              <a:srgbClr val="2C5F2D"/>
            </a:solidFill>
            <a:prstDash val="solid"/>
          </a:ln>
        </p:spPr>
      </p:sp>
      <p:sp>
        <p:nvSpPr>
          <p:cNvPr id="4" name="Text 2"/>
          <p:cNvSpPr txBox="1"/>
          <p:nvPr/>
        </p:nvSpPr>
        <p:spPr>
          <a:xfrm>
            <a:off x="548640" y="2057400"/>
            <a:ext cx="8686800" cy="109728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PlantDiag</a:t>
            </a:r>
            <a:endParaRPr lang="en-US" sz="6600" dirty="0"/>
          </a:p>
        </p:txBody>
      </p:sp>
      <p:sp>
        <p:nvSpPr>
          <p:cNvPr id="5" name="Text 3"/>
          <p:cNvSpPr txBox="1"/>
          <p:nvPr/>
        </p:nvSpPr>
        <p:spPr>
          <a:xfrm>
            <a:off x="548640" y="3200400"/>
            <a:ext cx="8686800" cy="457200"/>
          </a:xfrm>
          <a:prstGeom prst="rect">
            <a:avLst/>
          </a:prstGeom>
          <a:noFill/>
          <a:ln/>
        </p:spPr>
        <p:txBody>
          <a:bodyPr wrap="square" lIns="0" tIns="0" rIns="0" bIns="0" rtlCol="0" anchor="ctr"/>
          <a:lstStyle/>
          <a:p>
            <a:pPr indent="0" marL="0">
              <a:buNone/>
            </a:pPr>
            <a:r>
              <a:rPr lang="en-US" sz="2200" dirty="0">
                <a:solidFill>
                  <a:srgbClr val="97BC62"/>
                </a:solidFill>
                <a:latin typeface="Calibri" pitchFamily="34" charset="0"/>
                <a:ea typeface="Calibri" pitchFamily="34" charset="-122"/>
                <a:cs typeface="Calibri" pitchFamily="34" charset="-120"/>
              </a:rPr>
              <a:t>Diagnostic agricole par intelligence artificielle</a:t>
            </a:r>
            <a:endParaRPr lang="en-US" sz="2200" dirty="0"/>
          </a:p>
        </p:txBody>
      </p:sp>
      <p:sp>
        <p:nvSpPr>
          <p:cNvPr id="6" name="Text 4"/>
          <p:cNvSpPr txBox="1"/>
          <p:nvPr/>
        </p:nvSpPr>
        <p:spPr>
          <a:xfrm>
            <a:off x="548640" y="4892040"/>
            <a:ext cx="54864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Antoine SIMON</a:t>
            </a:r>
            <a:endParaRPr lang="en-US" sz="1600" dirty="0"/>
          </a:p>
        </p:txBody>
      </p:sp>
      <p:sp>
        <p:nvSpPr>
          <p:cNvPr id="7" name="Text 5"/>
          <p:cNvSpPr txBox="1"/>
          <p:nvPr/>
        </p:nvSpPr>
        <p:spPr>
          <a:xfrm>
            <a:off x="548640" y="5230368"/>
            <a:ext cx="7315200" cy="320040"/>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Bachelor 2 Informatique  ·  Chambre d'Agriculture  ·  Septembre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CONTEXTE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 diagnostic trop lent coûte une récolte</a:t>
            </a:r>
            <a:endParaRPr lang="en-US" sz="3400" dirty="0"/>
          </a:p>
        </p:txBody>
      </p:sp>
      <p:sp>
        <p:nvSpPr>
          <p:cNvPr id="4" name="Shape 2"/>
          <p:cNvSpPr/>
          <p:nvPr/>
        </p:nvSpPr>
        <p:spPr>
          <a:xfrm>
            <a:off x="548640" y="1600200"/>
            <a:ext cx="6583680" cy="1234440"/>
          </a:xfrm>
          <a:prstGeom prst="roundRect">
            <a:avLst>
              <a:gd name="adj" fmla="val 4444"/>
            </a:avLst>
          </a:prstGeom>
          <a:solidFill>
            <a:srgbClr val="EEF3EA"/>
          </a:solidFill>
          <a:ln w="12700">
            <a:solidFill>
              <a:srgbClr val="EEF3EA"/>
            </a:solidFill>
            <a:prstDash val="solid"/>
          </a:ln>
        </p:spPr>
      </p:sp>
      <p:sp>
        <p:nvSpPr>
          <p:cNvPr id="5" name="Shape 3"/>
          <p:cNvSpPr/>
          <p:nvPr/>
        </p:nvSpPr>
        <p:spPr>
          <a:xfrm>
            <a:off x="777240" y="20116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53312" y="18288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Identification manuelle</a:t>
            </a:r>
            <a:endParaRPr lang="en-US" sz="1600" dirty="0"/>
          </a:p>
        </p:txBody>
      </p:sp>
      <p:sp>
        <p:nvSpPr>
          <p:cNvPr id="8" name="Text 6"/>
          <p:cNvSpPr txBox="1"/>
          <p:nvPr/>
        </p:nvSpPr>
        <p:spPr>
          <a:xfrm>
            <a:off x="1353312" y="21671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Longue et imprécise, elle dépend entièrement de l'expérience de l'agriculteur.</a:t>
            </a:r>
            <a:endParaRPr lang="en-US" sz="1300" dirty="0"/>
          </a:p>
        </p:txBody>
      </p:sp>
      <p:sp>
        <p:nvSpPr>
          <p:cNvPr id="9" name="Shape 7"/>
          <p:cNvSpPr/>
          <p:nvPr/>
        </p:nvSpPr>
        <p:spPr>
          <a:xfrm>
            <a:off x="548640" y="2971800"/>
            <a:ext cx="6583680" cy="1234440"/>
          </a:xfrm>
          <a:prstGeom prst="roundRect">
            <a:avLst>
              <a:gd name="adj" fmla="val 4444"/>
            </a:avLst>
          </a:prstGeom>
          <a:solidFill>
            <a:srgbClr val="EEF3EA"/>
          </a:solidFill>
          <a:ln w="12700">
            <a:solidFill>
              <a:srgbClr val="EEF3EA"/>
            </a:solidFill>
            <a:prstDash val="solid"/>
          </a:ln>
        </p:spPr>
      </p:sp>
      <p:sp>
        <p:nvSpPr>
          <p:cNvPr id="10" name="Shape 8"/>
          <p:cNvSpPr/>
          <p:nvPr/>
        </p:nvSpPr>
        <p:spPr>
          <a:xfrm>
            <a:off x="777240" y="33832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77240" y="3383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353312" y="32004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Expertise coûteuse</a:t>
            </a:r>
            <a:endParaRPr lang="en-US" sz="1600" dirty="0"/>
          </a:p>
        </p:txBody>
      </p:sp>
      <p:sp>
        <p:nvSpPr>
          <p:cNvPr id="13" name="Text 11"/>
          <p:cNvSpPr txBox="1"/>
          <p:nvPr/>
        </p:nvSpPr>
        <p:spPr>
          <a:xfrm>
            <a:off x="1353312" y="35387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Faire venir un technicien demande du temps et représente un budget réel.</a:t>
            </a:r>
            <a:endParaRPr lang="en-US" sz="1300" dirty="0"/>
          </a:p>
        </p:txBody>
      </p:sp>
      <p:sp>
        <p:nvSpPr>
          <p:cNvPr id="14" name="Shape 12"/>
          <p:cNvSpPr/>
          <p:nvPr/>
        </p:nvSpPr>
        <p:spPr>
          <a:xfrm>
            <a:off x="548640" y="4343400"/>
            <a:ext cx="6583680" cy="1234440"/>
          </a:xfrm>
          <a:prstGeom prst="roundRect">
            <a:avLst>
              <a:gd name="adj" fmla="val 4444"/>
            </a:avLst>
          </a:prstGeom>
          <a:solidFill>
            <a:srgbClr val="EEF3EA"/>
          </a:solidFill>
          <a:ln w="12700">
            <a:solidFill>
              <a:srgbClr val="EEF3EA"/>
            </a:solidFill>
            <a:prstDash val="solid"/>
          </a:ln>
        </p:spPr>
      </p:sp>
      <p:sp>
        <p:nvSpPr>
          <p:cNvPr id="15" name="Shape 13"/>
          <p:cNvSpPr/>
          <p:nvPr/>
        </p:nvSpPr>
        <p:spPr>
          <a:xfrm>
            <a:off x="777240" y="4754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77240" y="4754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353312" y="45720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Aucun outil mobile</a:t>
            </a:r>
            <a:endParaRPr lang="en-US" sz="1600" dirty="0"/>
          </a:p>
        </p:txBody>
      </p:sp>
      <p:sp>
        <p:nvSpPr>
          <p:cNvPr id="18" name="Text 16"/>
          <p:cNvSpPr txBox="1"/>
          <p:nvPr/>
        </p:nvSpPr>
        <p:spPr>
          <a:xfrm>
            <a:off x="1353312" y="49103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Rien d'accessible pour les petites et moyennes exploitations.</a:t>
            </a:r>
            <a:endParaRPr lang="en-US" sz="1300" dirty="0"/>
          </a:p>
        </p:txBody>
      </p:sp>
      <p:sp>
        <p:nvSpPr>
          <p:cNvPr id="19" name="Shape 17"/>
          <p:cNvSpPr/>
          <p:nvPr/>
        </p:nvSpPr>
        <p:spPr>
          <a:xfrm>
            <a:off x="7406640" y="1600200"/>
            <a:ext cx="4206240" cy="3977640"/>
          </a:xfrm>
          <a:prstGeom prst="roundRect">
            <a:avLst>
              <a:gd name="adj" fmla="val 1379"/>
            </a:avLst>
          </a:prstGeom>
          <a:solidFill>
            <a:srgbClr val="2C5F2D"/>
          </a:solidFill>
          <a:ln w="12700">
            <a:solidFill>
              <a:srgbClr val="2C5F2D"/>
            </a:solidFill>
            <a:prstDash val="solid"/>
          </a:ln>
        </p:spPr>
      </p:sp>
      <p:sp>
        <p:nvSpPr>
          <p:cNvPr id="20" name="Text 18"/>
          <p:cNvSpPr txBox="1"/>
          <p:nvPr/>
        </p:nvSpPr>
        <p:spPr>
          <a:xfrm>
            <a:off x="7726680" y="1920240"/>
            <a:ext cx="3566160" cy="256032"/>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NOTRE RÉPONSE</a:t>
            </a:r>
            <a:endParaRPr lang="en-US" sz="1200" dirty="0"/>
          </a:p>
        </p:txBody>
      </p:sp>
      <p:sp>
        <p:nvSpPr>
          <p:cNvPr id="21" name="Text 19"/>
          <p:cNvSpPr txBox="1"/>
          <p:nvPr/>
        </p:nvSpPr>
        <p:spPr>
          <a:xfrm>
            <a:off x="7726680" y="2331720"/>
            <a:ext cx="3566160" cy="13716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Photographier une feuille, obtenir un diagnostic immédiat.</a:t>
            </a:r>
            <a:endParaRPr lang="en-US" sz="2100" dirty="0"/>
          </a:p>
        </p:txBody>
      </p:sp>
      <p:sp>
        <p:nvSpPr>
          <p:cNvPr id="22" name="Text 20"/>
          <p:cNvSpPr txBox="1"/>
          <p:nvPr/>
        </p:nvSpPr>
        <p:spPr>
          <a:xfrm>
            <a:off x="7726680" y="3749040"/>
            <a:ext cx="3566160" cy="100584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Une application web mobile utilisable directement depuis le champ, sans installation ni matériel particulier.</a:t>
            </a:r>
            <a:endParaRPr lang="en-US" sz="1300" dirty="0"/>
          </a:p>
        </p:txBody>
      </p:sp>
      <p:sp>
        <p:nvSpPr>
          <p:cNvPr id="23" name="Text 21"/>
          <p:cNvSpPr txBox="1"/>
          <p:nvPr/>
        </p:nvSpPr>
        <p:spPr>
          <a:xfrm>
            <a:off x="7726680" y="4983480"/>
            <a:ext cx="3566160" cy="274320"/>
          </a:xfrm>
          <a:prstGeom prst="rect">
            <a:avLst/>
          </a:prstGeom>
          <a:noFill/>
          <a:ln/>
        </p:spPr>
        <p:txBody>
          <a:bodyPr wrap="square" lIns="0" tIns="0" rIns="0" bIns="0" rtlCol="0" anchor="ctr"/>
          <a:lstStyle/>
          <a:p>
            <a:pPr indent="0" marL="0">
              <a:buNone/>
            </a:pPr>
            <a:r>
              <a:rPr lang="en-US" sz="1300" b="1" i="1" dirty="0">
                <a:solidFill>
                  <a:srgbClr val="97BC62"/>
                </a:solidFill>
                <a:latin typeface="Calibri" pitchFamily="34" charset="0"/>
                <a:ea typeface="Calibri" pitchFamily="34" charset="-122"/>
                <a:cs typeface="Calibri" pitchFamily="34" charset="-120"/>
              </a:rPr>
              <a:t>Simple · Rapide · Accessible · Précis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CAHIER DES CHARGES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objectifs, cinq validations</a:t>
            </a:r>
            <a:endParaRPr lang="en-US" sz="3400" dirty="0"/>
          </a:p>
        </p:txBody>
      </p:sp>
      <p:sp>
        <p:nvSpPr>
          <p:cNvPr id="4" name="Shape 2"/>
          <p:cNvSpPr/>
          <p:nvPr/>
        </p:nvSpPr>
        <p:spPr>
          <a:xfrm>
            <a:off x="548640" y="1600200"/>
            <a:ext cx="11064240" cy="621792"/>
          </a:xfrm>
          <a:prstGeom prst="roundRect">
            <a:avLst>
              <a:gd name="adj" fmla="val 8824"/>
            </a:avLst>
          </a:prstGeom>
          <a:solidFill>
            <a:srgbClr val="EEF3EA"/>
          </a:solidFill>
          <a:ln w="12700">
            <a:solidFill>
              <a:srgbClr val="EEF3EA"/>
            </a:solidFill>
            <a:prstDash val="solid"/>
          </a:ln>
        </p:spPr>
      </p:sp>
      <p:sp>
        <p:nvSpPr>
          <p:cNvPr id="5" name="Shape 3"/>
          <p:cNvSpPr/>
          <p:nvPr/>
        </p:nvSpPr>
        <p:spPr>
          <a:xfrm>
            <a:off x="713232" y="1700784"/>
            <a:ext cx="420624" cy="420624"/>
          </a:xfrm>
          <a:prstGeom prst="ellipse">
            <a:avLst/>
          </a:prstGeom>
          <a:solidFill>
            <a:srgbClr val="2C5F2D"/>
          </a:solidFill>
          <a:ln w="12700">
            <a:solidFill>
              <a:srgbClr val="2C5F2D"/>
            </a:solidFill>
            <a:prstDash val="solid"/>
          </a:ln>
        </p:spPr>
      </p:sp>
      <p:sp>
        <p:nvSpPr>
          <p:cNvPr id="6" name="Text 4"/>
          <p:cNvSpPr txBox="1"/>
          <p:nvPr/>
        </p:nvSpPr>
        <p:spPr>
          <a:xfrm>
            <a:off x="713232" y="17007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298448" y="1764792"/>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Application mobile web responsive</a:t>
            </a:r>
            <a:endParaRPr lang="en-US" sz="1600" dirty="0"/>
          </a:p>
        </p:txBody>
      </p:sp>
      <p:sp>
        <p:nvSpPr>
          <p:cNvPr id="8" name="Text 6"/>
          <p:cNvSpPr txBox="1"/>
          <p:nvPr/>
        </p:nvSpPr>
        <p:spPr>
          <a:xfrm>
            <a:off x="9509760" y="1773936"/>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9" name="Shape 7"/>
          <p:cNvSpPr/>
          <p:nvPr/>
        </p:nvSpPr>
        <p:spPr>
          <a:xfrm>
            <a:off x="548640" y="2350008"/>
            <a:ext cx="11064240" cy="621792"/>
          </a:xfrm>
          <a:prstGeom prst="roundRect">
            <a:avLst>
              <a:gd name="adj" fmla="val 8824"/>
            </a:avLst>
          </a:prstGeom>
          <a:solidFill>
            <a:srgbClr val="EEF3EA"/>
          </a:solidFill>
          <a:ln w="12700">
            <a:solidFill>
              <a:srgbClr val="EEF3EA"/>
            </a:solidFill>
            <a:prstDash val="solid"/>
          </a:ln>
        </p:spPr>
      </p:sp>
      <p:sp>
        <p:nvSpPr>
          <p:cNvPr id="10" name="Shape 8"/>
          <p:cNvSpPr/>
          <p:nvPr/>
        </p:nvSpPr>
        <p:spPr>
          <a:xfrm>
            <a:off x="713232" y="2450592"/>
            <a:ext cx="420624" cy="420624"/>
          </a:xfrm>
          <a:prstGeom prst="ellipse">
            <a:avLst/>
          </a:prstGeom>
          <a:solidFill>
            <a:srgbClr val="2C5F2D"/>
          </a:solidFill>
          <a:ln w="12700">
            <a:solidFill>
              <a:srgbClr val="2C5F2D"/>
            </a:solidFill>
            <a:prstDash val="solid"/>
          </a:ln>
        </p:spPr>
      </p:sp>
      <p:sp>
        <p:nvSpPr>
          <p:cNvPr id="11" name="Text 9"/>
          <p:cNvSpPr txBox="1"/>
          <p:nvPr/>
        </p:nvSpPr>
        <p:spPr>
          <a:xfrm>
            <a:off x="713232" y="24505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298448" y="2514600"/>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Fonctionnalité d'intelligence artificielle</a:t>
            </a:r>
            <a:endParaRPr lang="en-US" sz="1600" dirty="0"/>
          </a:p>
        </p:txBody>
      </p:sp>
      <p:sp>
        <p:nvSpPr>
          <p:cNvPr id="13" name="Text 11"/>
          <p:cNvSpPr txBox="1"/>
          <p:nvPr/>
        </p:nvSpPr>
        <p:spPr>
          <a:xfrm>
            <a:off x="9509760" y="2523744"/>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4" name="Shape 12"/>
          <p:cNvSpPr/>
          <p:nvPr/>
        </p:nvSpPr>
        <p:spPr>
          <a:xfrm>
            <a:off x="548640" y="3099816"/>
            <a:ext cx="11064240" cy="621792"/>
          </a:xfrm>
          <a:prstGeom prst="roundRect">
            <a:avLst>
              <a:gd name="adj" fmla="val 8824"/>
            </a:avLst>
          </a:prstGeom>
          <a:solidFill>
            <a:srgbClr val="EEF3EA"/>
          </a:solidFill>
          <a:ln w="12700">
            <a:solidFill>
              <a:srgbClr val="EEF3EA"/>
            </a:solidFill>
            <a:prstDash val="solid"/>
          </a:ln>
        </p:spPr>
      </p:sp>
      <p:sp>
        <p:nvSpPr>
          <p:cNvPr id="15" name="Shape 13"/>
          <p:cNvSpPr/>
          <p:nvPr/>
        </p:nvSpPr>
        <p:spPr>
          <a:xfrm>
            <a:off x="713232" y="320040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13232" y="32004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298448" y="3264408"/>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Déploiement sur infrastructure cloud</a:t>
            </a:r>
            <a:endParaRPr lang="en-US" sz="1600" dirty="0"/>
          </a:p>
        </p:txBody>
      </p:sp>
      <p:sp>
        <p:nvSpPr>
          <p:cNvPr id="18" name="Text 16"/>
          <p:cNvSpPr txBox="1"/>
          <p:nvPr/>
        </p:nvSpPr>
        <p:spPr>
          <a:xfrm>
            <a:off x="9509760" y="3273552"/>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9" name="Shape 17"/>
          <p:cNvSpPr/>
          <p:nvPr/>
        </p:nvSpPr>
        <p:spPr>
          <a:xfrm>
            <a:off x="548640" y="3849624"/>
            <a:ext cx="11064240" cy="621792"/>
          </a:xfrm>
          <a:prstGeom prst="roundRect">
            <a:avLst>
              <a:gd name="adj" fmla="val 8824"/>
            </a:avLst>
          </a:prstGeom>
          <a:solidFill>
            <a:srgbClr val="EEF3EA"/>
          </a:solidFill>
          <a:ln w="12700">
            <a:solidFill>
              <a:srgbClr val="EEF3EA"/>
            </a:solidFill>
            <a:prstDash val="solid"/>
          </a:ln>
        </p:spPr>
      </p:sp>
      <p:sp>
        <p:nvSpPr>
          <p:cNvPr id="20" name="Shape 18"/>
          <p:cNvSpPr/>
          <p:nvPr/>
        </p:nvSpPr>
        <p:spPr>
          <a:xfrm>
            <a:off x="713232" y="3950208"/>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13232" y="39502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298448" y="4014216"/>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Architecture réseau avec capteurs IoT</a:t>
            </a:r>
            <a:endParaRPr lang="en-US" sz="1600" dirty="0"/>
          </a:p>
        </p:txBody>
      </p:sp>
      <p:sp>
        <p:nvSpPr>
          <p:cNvPr id="23" name="Text 21"/>
          <p:cNvSpPr txBox="1"/>
          <p:nvPr/>
        </p:nvSpPr>
        <p:spPr>
          <a:xfrm>
            <a:off x="9509760" y="4023360"/>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4" name="Shape 22"/>
          <p:cNvSpPr/>
          <p:nvPr/>
        </p:nvSpPr>
        <p:spPr>
          <a:xfrm>
            <a:off x="548640" y="4599432"/>
            <a:ext cx="11064240" cy="621792"/>
          </a:xfrm>
          <a:prstGeom prst="roundRect">
            <a:avLst>
              <a:gd name="adj" fmla="val 8824"/>
            </a:avLst>
          </a:prstGeom>
          <a:solidFill>
            <a:srgbClr val="EEF3EA"/>
          </a:solidFill>
          <a:ln w="12700">
            <a:solidFill>
              <a:srgbClr val="EEF3EA"/>
            </a:solidFill>
            <a:prstDash val="solid"/>
          </a:ln>
        </p:spPr>
      </p:sp>
      <p:sp>
        <p:nvSpPr>
          <p:cNvPr id="25" name="Shape 23"/>
          <p:cNvSpPr/>
          <p:nvPr/>
        </p:nvSpPr>
        <p:spPr>
          <a:xfrm>
            <a:off x="713232" y="4700016"/>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13232" y="47000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298448" y="4764024"/>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Trois technologies imposées et documentation</a:t>
            </a:r>
            <a:endParaRPr lang="en-US" sz="1600" dirty="0"/>
          </a:p>
        </p:txBody>
      </p:sp>
      <p:sp>
        <p:nvSpPr>
          <p:cNvPr id="28" name="Text 26"/>
          <p:cNvSpPr txBox="1"/>
          <p:nvPr/>
        </p:nvSpPr>
        <p:spPr>
          <a:xfrm>
            <a:off x="9509760" y="4773168"/>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9" name="Shape 27"/>
          <p:cNvSpPr/>
          <p:nvPr/>
        </p:nvSpPr>
        <p:spPr>
          <a:xfrm>
            <a:off x="548640" y="5486400"/>
            <a:ext cx="11064240" cy="804672"/>
          </a:xfrm>
          <a:prstGeom prst="roundRect">
            <a:avLst>
              <a:gd name="adj" fmla="val 6818"/>
            </a:avLst>
          </a:prstGeom>
          <a:solidFill>
            <a:srgbClr val="2C5F2D"/>
          </a:solidFill>
          <a:ln w="12700">
            <a:solidFill>
              <a:srgbClr val="2C5F2D"/>
            </a:solidFill>
            <a:prstDash val="solid"/>
          </a:ln>
        </p:spPr>
      </p:sp>
      <p:sp>
        <p:nvSpPr>
          <p:cNvPr id="30" name="Text 28"/>
          <p:cNvSpPr txBox="1"/>
          <p:nvPr/>
        </p:nvSpPr>
        <p:spPr>
          <a:xfrm>
            <a:off x="868680" y="5605272"/>
            <a:ext cx="164592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100 %</a:t>
            </a:r>
            <a:endParaRPr lang="en-US" sz="3200" dirty="0"/>
          </a:p>
        </p:txBody>
      </p:sp>
      <p:sp>
        <p:nvSpPr>
          <p:cNvPr id="31" name="Text 29"/>
          <p:cNvSpPr txBox="1"/>
          <p:nvPr/>
        </p:nvSpPr>
        <p:spPr>
          <a:xfrm>
            <a:off x="2560320" y="5605272"/>
            <a:ext cx="8595360" cy="548640"/>
          </a:xfrm>
          <a:prstGeom prst="rect">
            <a:avLst/>
          </a:prstGeom>
          <a:noFill/>
          <a:ln/>
        </p:spPr>
        <p:txBody>
          <a:bodyPr wrap="square" lIns="0" tIns="0" rIns="0" bIns="0" rtlCol="0" anchor="ctr"/>
          <a:lstStyle/>
          <a:p>
            <a:pPr indent="0" marL="0">
              <a:buNone/>
            </a:pPr>
            <a:r>
              <a:rPr lang="en-US" sz="1500" dirty="0">
                <a:solidFill>
                  <a:srgbClr val="D8E8CF"/>
                </a:solidFill>
                <a:latin typeface="Calibri" pitchFamily="34" charset="0"/>
                <a:ea typeface="Calibri" pitchFamily="34" charset="-122"/>
                <a:cs typeface="Calibri" pitchFamily="34" charset="-120"/>
              </a:rPr>
              <a:t>des objectifs du cahier des charges sont atteints et vérifiables en production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DÉMONSTRATION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L'application en production</a:t>
            </a:r>
            <a:endParaRPr lang="en-US" sz="3400" dirty="0"/>
          </a:p>
        </p:txBody>
      </p:sp>
      <p:sp>
        <p:nvSpPr>
          <p:cNvPr id="4" name="Shape 2"/>
          <p:cNvSpPr/>
          <p:nvPr/>
        </p:nvSpPr>
        <p:spPr>
          <a:xfrm>
            <a:off x="548640" y="1536192"/>
            <a:ext cx="11064240" cy="868680"/>
          </a:xfrm>
          <a:prstGeom prst="roundRect">
            <a:avLst>
              <a:gd name="adj" fmla="val 6316"/>
            </a:avLst>
          </a:prstGeom>
          <a:solidFill>
            <a:srgbClr val="2C5F2D"/>
          </a:solidFill>
          <a:ln w="12700">
            <a:solidFill>
              <a:srgbClr val="2C5F2D"/>
            </a:solidFill>
            <a:prstDash val="solid"/>
          </a:ln>
        </p:spPr>
      </p:sp>
      <p:sp>
        <p:nvSpPr>
          <p:cNvPr id="5" name="Text 3"/>
          <p:cNvSpPr txBox="1"/>
          <p:nvPr/>
        </p:nvSpPr>
        <p:spPr>
          <a:xfrm>
            <a:off x="868680" y="1536192"/>
            <a:ext cx="6858000" cy="868680"/>
          </a:xfrm>
          <a:prstGeom prst="rect">
            <a:avLst/>
          </a:prstGeom>
          <a:noFill/>
          <a:ln/>
        </p:spPr>
        <p:txBody>
          <a:bodyPr wrap="square" lIns="0" tIns="0" rIns="0" bIns="0" rtlCol="0" anchor="ctr"/>
          <a:lstStyle/>
          <a:p>
            <a:pPr indent="0" marL="0">
              <a:buNone/>
            </a:pPr>
            <a:r>
              <a:rPr lang="en-US" sz="2600" b="1" dirty="0">
                <a:solidFill>
                  <a:srgbClr val="FFFFFF"/>
                </a:solidFill>
                <a:latin typeface="Consolas" pitchFamily="34" charset="0"/>
                <a:ea typeface="Consolas" pitchFamily="34" charset="-122"/>
                <a:cs typeface="Consolas" pitchFamily="34" charset="-120"/>
              </a:rPr>
              <a:t>http://13.51.48.254:8000</a:t>
            </a:r>
            <a:endParaRPr lang="en-US" sz="2600" dirty="0"/>
          </a:p>
        </p:txBody>
      </p:sp>
      <p:sp>
        <p:nvSpPr>
          <p:cNvPr id="6" name="Text 4"/>
          <p:cNvSpPr txBox="1"/>
          <p:nvPr/>
        </p:nvSpPr>
        <p:spPr>
          <a:xfrm>
            <a:off x="7863840" y="1536192"/>
            <a:ext cx="3429000" cy="868680"/>
          </a:xfrm>
          <a:prstGeom prst="rect">
            <a:avLst/>
          </a:prstGeom>
          <a:noFill/>
          <a:ln/>
        </p:spPr>
        <p:txBody>
          <a:bodyPr wrap="square" lIns="0" tIns="0" rIns="0" bIns="0" rtlCol="0" anchor="ctr"/>
          <a:lstStyle/>
          <a:p>
            <a:pPr algn="r" indent="0" marL="0">
              <a:buNone/>
            </a:pPr>
            <a:r>
              <a:rPr lang="en-US" sz="1400" dirty="0">
                <a:solidFill>
                  <a:srgbClr val="97BC62"/>
                </a:solidFill>
                <a:latin typeface="Calibri" pitchFamily="34" charset="0"/>
                <a:ea typeface="Calibri" pitchFamily="34" charset="-122"/>
                <a:cs typeface="Calibri" pitchFamily="34" charset="-120"/>
              </a:rPr>
              <a:t>En ligne 24 h / 24</a:t>
            </a:r>
            <a:endParaRPr lang="en-US" sz="1400" dirty="0"/>
          </a:p>
        </p:txBody>
      </p:sp>
      <p:sp>
        <p:nvSpPr>
          <p:cNvPr id="7" name="Shape 5"/>
          <p:cNvSpPr/>
          <p:nvPr/>
        </p:nvSpPr>
        <p:spPr>
          <a:xfrm>
            <a:off x="548640" y="2606040"/>
            <a:ext cx="3502152" cy="1600200"/>
          </a:xfrm>
          <a:prstGeom prst="roundRect">
            <a:avLst>
              <a:gd name="adj" fmla="val 3429"/>
            </a:avLst>
          </a:prstGeom>
          <a:solidFill>
            <a:srgbClr val="EEF3EA"/>
          </a:solidFill>
          <a:ln w="12700">
            <a:solidFill>
              <a:srgbClr val="EEF3EA"/>
            </a:solidFill>
            <a:prstDash val="solid"/>
          </a:ln>
        </p:spPr>
      </p:sp>
      <p:sp>
        <p:nvSpPr>
          <p:cNvPr id="8" name="Shape 6"/>
          <p:cNvSpPr/>
          <p:nvPr/>
        </p:nvSpPr>
        <p:spPr>
          <a:xfrm>
            <a:off x="804672" y="2862072"/>
            <a:ext cx="420624" cy="420624"/>
          </a:xfrm>
          <a:prstGeom prst="ellipse">
            <a:avLst/>
          </a:prstGeom>
          <a:solidFill>
            <a:srgbClr val="2C5F2D"/>
          </a:solidFill>
          <a:ln w="12700">
            <a:solidFill>
              <a:srgbClr val="2C5F2D"/>
            </a:solidFill>
            <a:prstDash val="solid"/>
          </a:ln>
        </p:spPr>
      </p:sp>
      <p:sp>
        <p:nvSpPr>
          <p:cNvPr id="9" name="Text 7"/>
          <p:cNvSpPr txBox="1"/>
          <p:nvPr/>
        </p:nvSpPr>
        <p:spPr>
          <a:xfrm>
            <a:off x="804672"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804672"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Créer une parcelle</a:t>
            </a:r>
            <a:endParaRPr lang="en-US" sz="1500" dirty="0"/>
          </a:p>
        </p:txBody>
      </p:sp>
      <p:sp>
        <p:nvSpPr>
          <p:cNvPr id="11" name="Text 9"/>
          <p:cNvSpPr txBox="1"/>
          <p:nvPr/>
        </p:nvSpPr>
        <p:spPr>
          <a:xfrm>
            <a:off x="804672"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Nom du champ et type de culture</a:t>
            </a:r>
            <a:endParaRPr lang="en-US" sz="1200" dirty="0"/>
          </a:p>
        </p:txBody>
      </p:sp>
      <p:sp>
        <p:nvSpPr>
          <p:cNvPr id="12" name="Shape 10"/>
          <p:cNvSpPr/>
          <p:nvPr/>
        </p:nvSpPr>
        <p:spPr>
          <a:xfrm>
            <a:off x="4325112" y="2606040"/>
            <a:ext cx="3502152" cy="1600200"/>
          </a:xfrm>
          <a:prstGeom prst="roundRect">
            <a:avLst>
              <a:gd name="adj" fmla="val 3429"/>
            </a:avLst>
          </a:prstGeom>
          <a:solidFill>
            <a:srgbClr val="EEF3EA"/>
          </a:solidFill>
          <a:ln w="12700">
            <a:solidFill>
              <a:srgbClr val="EEF3EA"/>
            </a:solidFill>
            <a:prstDash val="solid"/>
          </a:ln>
        </p:spPr>
      </p:sp>
      <p:sp>
        <p:nvSpPr>
          <p:cNvPr id="13" name="Shape 11"/>
          <p:cNvSpPr/>
          <p:nvPr/>
        </p:nvSpPr>
        <p:spPr>
          <a:xfrm>
            <a:off x="4581144" y="2862072"/>
            <a:ext cx="420624" cy="420624"/>
          </a:xfrm>
          <a:prstGeom prst="ellipse">
            <a:avLst/>
          </a:prstGeom>
          <a:solidFill>
            <a:srgbClr val="2C5F2D"/>
          </a:solidFill>
          <a:ln w="12700">
            <a:solidFill>
              <a:srgbClr val="2C5F2D"/>
            </a:solidFill>
            <a:prstDash val="solid"/>
          </a:ln>
        </p:spPr>
      </p:sp>
      <p:sp>
        <p:nvSpPr>
          <p:cNvPr id="14" name="Text 12"/>
          <p:cNvSpPr txBox="1"/>
          <p:nvPr/>
        </p:nvSpPr>
        <p:spPr>
          <a:xfrm>
            <a:off x="4581144"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4581144"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Photographier</a:t>
            </a:r>
            <a:endParaRPr lang="en-US" sz="1500" dirty="0"/>
          </a:p>
        </p:txBody>
      </p:sp>
      <p:sp>
        <p:nvSpPr>
          <p:cNvPr id="16" name="Text 14"/>
          <p:cNvSpPr txBox="1"/>
          <p:nvPr/>
        </p:nvSpPr>
        <p:spPr>
          <a:xfrm>
            <a:off x="4581144"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Galerie ou appareil photo du téléphone</a:t>
            </a:r>
            <a:endParaRPr lang="en-US" sz="1200" dirty="0"/>
          </a:p>
        </p:txBody>
      </p:sp>
      <p:sp>
        <p:nvSpPr>
          <p:cNvPr id="17" name="Shape 15"/>
          <p:cNvSpPr/>
          <p:nvPr/>
        </p:nvSpPr>
        <p:spPr>
          <a:xfrm>
            <a:off x="8101584" y="2606040"/>
            <a:ext cx="3502152" cy="1600200"/>
          </a:xfrm>
          <a:prstGeom prst="roundRect">
            <a:avLst>
              <a:gd name="adj" fmla="val 3429"/>
            </a:avLst>
          </a:prstGeom>
          <a:solidFill>
            <a:srgbClr val="EEF3EA"/>
          </a:solidFill>
          <a:ln w="12700">
            <a:solidFill>
              <a:srgbClr val="EEF3EA"/>
            </a:solidFill>
            <a:prstDash val="solid"/>
          </a:ln>
        </p:spPr>
      </p:sp>
      <p:sp>
        <p:nvSpPr>
          <p:cNvPr id="18" name="Shape 16"/>
          <p:cNvSpPr/>
          <p:nvPr/>
        </p:nvSpPr>
        <p:spPr>
          <a:xfrm>
            <a:off x="8357616" y="2862072"/>
            <a:ext cx="420624" cy="420624"/>
          </a:xfrm>
          <a:prstGeom prst="ellipse">
            <a:avLst/>
          </a:prstGeom>
          <a:solidFill>
            <a:srgbClr val="2C5F2D"/>
          </a:solidFill>
          <a:ln w="12700">
            <a:solidFill>
              <a:srgbClr val="2C5F2D"/>
            </a:solidFill>
            <a:prstDash val="solid"/>
          </a:ln>
        </p:spPr>
      </p:sp>
      <p:sp>
        <p:nvSpPr>
          <p:cNvPr id="19" name="Text 17"/>
          <p:cNvSpPr txBox="1"/>
          <p:nvPr/>
        </p:nvSpPr>
        <p:spPr>
          <a:xfrm>
            <a:off x="8357616"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357616"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Lire le diagnostic</a:t>
            </a:r>
            <a:endParaRPr lang="en-US" sz="1500" dirty="0"/>
          </a:p>
        </p:txBody>
      </p:sp>
      <p:sp>
        <p:nvSpPr>
          <p:cNvPr id="21" name="Text 19"/>
          <p:cNvSpPr txBox="1"/>
          <p:nvPr/>
        </p:nvSpPr>
        <p:spPr>
          <a:xfrm>
            <a:off x="8357616"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Maladie, sévérité et traitements</a:t>
            </a:r>
            <a:endParaRPr lang="en-US" sz="1200" dirty="0"/>
          </a:p>
        </p:txBody>
      </p:sp>
      <p:sp>
        <p:nvSpPr>
          <p:cNvPr id="22" name="Shape 20"/>
          <p:cNvSpPr/>
          <p:nvPr/>
        </p:nvSpPr>
        <p:spPr>
          <a:xfrm>
            <a:off x="548640" y="4389120"/>
            <a:ext cx="3502152" cy="1600200"/>
          </a:xfrm>
          <a:prstGeom prst="roundRect">
            <a:avLst>
              <a:gd name="adj" fmla="val 3429"/>
            </a:avLst>
          </a:prstGeom>
          <a:solidFill>
            <a:srgbClr val="EEF3EA"/>
          </a:solidFill>
          <a:ln w="12700">
            <a:solidFill>
              <a:srgbClr val="EEF3EA"/>
            </a:solidFill>
            <a:prstDash val="solid"/>
          </a:ln>
        </p:spPr>
      </p:sp>
      <p:sp>
        <p:nvSpPr>
          <p:cNvPr id="23" name="Shape 21"/>
          <p:cNvSpPr/>
          <p:nvPr/>
        </p:nvSpPr>
        <p:spPr>
          <a:xfrm>
            <a:off x="804672" y="4645152"/>
            <a:ext cx="420624" cy="420624"/>
          </a:xfrm>
          <a:prstGeom prst="ellipse">
            <a:avLst/>
          </a:prstGeom>
          <a:solidFill>
            <a:srgbClr val="2C5F2D"/>
          </a:solidFill>
          <a:ln w="12700">
            <a:solidFill>
              <a:srgbClr val="2C5F2D"/>
            </a:solidFill>
            <a:prstDash val="solid"/>
          </a:ln>
        </p:spPr>
      </p:sp>
      <p:sp>
        <p:nvSpPr>
          <p:cNvPr id="24" name="Text 22"/>
          <p:cNvSpPr txBox="1"/>
          <p:nvPr/>
        </p:nvSpPr>
        <p:spPr>
          <a:xfrm>
            <a:off x="804672"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804672"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Relever les capteurs</a:t>
            </a:r>
            <a:endParaRPr lang="en-US" sz="1500" dirty="0"/>
          </a:p>
        </p:txBody>
      </p:sp>
      <p:sp>
        <p:nvSpPr>
          <p:cNvPr id="26" name="Text 24"/>
          <p:cNvSpPr txBox="1"/>
          <p:nvPr/>
        </p:nvSpPr>
        <p:spPr>
          <a:xfrm>
            <a:off x="804672"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Six mesures par parcelle, en direct</a:t>
            </a:r>
            <a:endParaRPr lang="en-US" sz="1200" dirty="0"/>
          </a:p>
        </p:txBody>
      </p:sp>
      <p:sp>
        <p:nvSpPr>
          <p:cNvPr id="27" name="Shape 25"/>
          <p:cNvSpPr/>
          <p:nvPr/>
        </p:nvSpPr>
        <p:spPr>
          <a:xfrm>
            <a:off x="4325112" y="4389120"/>
            <a:ext cx="3502152" cy="1600200"/>
          </a:xfrm>
          <a:prstGeom prst="roundRect">
            <a:avLst>
              <a:gd name="adj" fmla="val 3429"/>
            </a:avLst>
          </a:prstGeom>
          <a:solidFill>
            <a:srgbClr val="EEF3EA"/>
          </a:solidFill>
          <a:ln w="12700">
            <a:solidFill>
              <a:srgbClr val="EEF3EA"/>
            </a:solidFill>
            <a:prstDash val="solid"/>
          </a:ln>
        </p:spPr>
      </p:sp>
      <p:sp>
        <p:nvSpPr>
          <p:cNvPr id="28" name="Shape 26"/>
          <p:cNvSpPr/>
          <p:nvPr/>
        </p:nvSpPr>
        <p:spPr>
          <a:xfrm>
            <a:off x="4581144" y="4645152"/>
            <a:ext cx="420624" cy="420624"/>
          </a:xfrm>
          <a:prstGeom prst="ellipse">
            <a:avLst/>
          </a:prstGeom>
          <a:solidFill>
            <a:srgbClr val="2C5F2D"/>
          </a:solidFill>
          <a:ln w="12700">
            <a:solidFill>
              <a:srgbClr val="2C5F2D"/>
            </a:solidFill>
            <a:prstDash val="solid"/>
          </a:ln>
        </p:spPr>
      </p:sp>
      <p:sp>
        <p:nvSpPr>
          <p:cNvPr id="29" name="Text 27"/>
          <p:cNvSpPr txBox="1"/>
          <p:nvPr/>
        </p:nvSpPr>
        <p:spPr>
          <a:xfrm>
            <a:off x="4581144"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581144"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Vérifier les alertes</a:t>
            </a:r>
            <a:endParaRPr lang="en-US" sz="1500" dirty="0"/>
          </a:p>
        </p:txBody>
      </p:sp>
      <p:sp>
        <p:nvSpPr>
          <p:cNvPr id="31" name="Text 29"/>
          <p:cNvSpPr txBox="1"/>
          <p:nvPr/>
        </p:nvSpPr>
        <p:spPr>
          <a:xfrm>
            <a:off x="4581144"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Capteurs, IA et météo croisés</a:t>
            </a:r>
            <a:endParaRPr lang="en-US" sz="1200" dirty="0"/>
          </a:p>
        </p:txBody>
      </p:sp>
      <p:sp>
        <p:nvSpPr>
          <p:cNvPr id="32" name="Shape 30"/>
          <p:cNvSpPr/>
          <p:nvPr/>
        </p:nvSpPr>
        <p:spPr>
          <a:xfrm>
            <a:off x="8101584" y="4389120"/>
            <a:ext cx="3502152" cy="1600200"/>
          </a:xfrm>
          <a:prstGeom prst="roundRect">
            <a:avLst>
              <a:gd name="adj" fmla="val 3429"/>
            </a:avLst>
          </a:prstGeom>
          <a:solidFill>
            <a:srgbClr val="EEF3EA"/>
          </a:solidFill>
          <a:ln w="12700">
            <a:solidFill>
              <a:srgbClr val="EEF3EA"/>
            </a:solidFill>
            <a:prstDash val="solid"/>
          </a:ln>
        </p:spPr>
      </p:sp>
      <p:sp>
        <p:nvSpPr>
          <p:cNvPr id="33" name="Shape 31"/>
          <p:cNvSpPr/>
          <p:nvPr/>
        </p:nvSpPr>
        <p:spPr>
          <a:xfrm>
            <a:off x="8357616" y="4645152"/>
            <a:ext cx="420624" cy="420624"/>
          </a:xfrm>
          <a:prstGeom prst="ellipse">
            <a:avLst/>
          </a:prstGeom>
          <a:solidFill>
            <a:srgbClr val="2C5F2D"/>
          </a:solidFill>
          <a:ln w="12700">
            <a:solidFill>
              <a:srgbClr val="2C5F2D"/>
            </a:solidFill>
            <a:prstDash val="solid"/>
          </a:ln>
        </p:spPr>
      </p:sp>
      <p:sp>
        <p:nvSpPr>
          <p:cNvPr id="34" name="Text 32"/>
          <p:cNvSpPr txBox="1"/>
          <p:nvPr/>
        </p:nvSpPr>
        <p:spPr>
          <a:xfrm>
            <a:off x="8357616"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5" name="Text 33"/>
          <p:cNvSpPr txBox="1"/>
          <p:nvPr/>
        </p:nvSpPr>
        <p:spPr>
          <a:xfrm>
            <a:off x="8357616"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Suivre la météo</a:t>
            </a:r>
            <a:endParaRPr lang="en-US" sz="1500" dirty="0"/>
          </a:p>
        </p:txBody>
      </p:sp>
      <p:sp>
        <p:nvSpPr>
          <p:cNvPr id="36" name="Text 34"/>
          <p:cNvSpPr txBox="1"/>
          <p:nvPr/>
        </p:nvSpPr>
        <p:spPr>
          <a:xfrm>
            <a:off x="8357616"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Prévisions locales sur cinq jours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modules, un seul parcours</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97BC62"/>
          </a:solidFill>
          <a:ln w="12700">
            <a:solidFill>
              <a:srgbClr val="97BC62"/>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Diagnostic par image</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Analyse d'une photo de feuille et identification parmi cinq maladies ou l'état sain.</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97BC62"/>
          </a:solidFill>
          <a:ln w="12700">
            <a:solidFill>
              <a:srgbClr val="97BC62"/>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Capteurs de parcelle</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Six grandeurs relevées chaque minute et remontées à l'API par chaque boîtier.</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97BC62"/>
          </a:solidFill>
          <a:ln w="12700">
            <a:solidFill>
              <a:srgbClr val="97BC62"/>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Gestion des parcelles</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Créer, modifier et supprimer chaque champ ; tout est écrit en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97BC62"/>
          </a:solidFill>
          <a:ln w="12700">
            <a:solidFill>
              <a:srgbClr val="97BC62"/>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Historique complet</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diagnostic est conservé avec sa date et son indice de confiance.</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97BC62"/>
          </a:solidFill>
          <a:ln w="12700">
            <a:solidFill>
              <a:srgbClr val="97BC62"/>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Météo temps réel</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Conditions actuelles et prévisions à cinq jours pour la localisation choisie.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97BC62"/>
          </a:solidFill>
          <a:ln w="12700">
            <a:solidFill>
              <a:srgbClr val="97BC62"/>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Alertes croisées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Relevés des capteurs, diagnostics et météo combinés en une seule liste.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Une couche terrain et quatre tiers</a:t>
            </a:r>
            <a:endParaRPr lang="en-US" sz="3400" dirty="0"/>
          </a:p>
        </p:txBody>
      </p:sp>
      <p:sp>
        <p:nvSpPr>
          <p:cNvPr id="4" name="Shape 2"/>
          <p:cNvSpPr/>
          <p:nvPr/>
        </p:nvSpPr>
        <p:spPr>
          <a:xfrm>
            <a:off x="548640" y="1600200"/>
            <a:ext cx="2066544" cy="2606040"/>
          </a:xfrm>
          <a:prstGeom prst="roundRect">
            <a:avLst>
              <a:gd name="adj" fmla="val 2655"/>
            </a:avLst>
          </a:prstGeom>
          <a:solidFill>
            <a:srgbClr val="2C5F2D"/>
          </a:solidFill>
          <a:ln w="12700">
            <a:solidFill>
              <a:srgbClr val="2C5F2D"/>
            </a:solidFill>
            <a:prstDash val="solid"/>
          </a:ln>
        </p:spPr>
      </p:sp>
      <p:sp>
        <p:nvSpPr>
          <p:cNvPr id="5" name="Text 3"/>
          <p:cNvSpPr txBox="1"/>
          <p:nvPr/>
        </p:nvSpPr>
        <p:spPr>
          <a:xfrm>
            <a:off x="731520" y="1828800"/>
            <a:ext cx="1700784" cy="228600"/>
          </a:xfrm>
          <a:prstGeom prst="rect">
            <a:avLst/>
          </a:prstGeom>
          <a:noFill/>
          <a:ln/>
        </p:spPr>
        <p:txBody>
          <a:bodyPr wrap="square" lIns="0" tIns="0" rIns="0" bIns="0" rtlCol="0" anchor="ctr"/>
          <a:lstStyle/>
          <a:p>
            <a:pPr indent="0" marL="0">
              <a:buNone/>
            </a:pPr>
            <a:r>
              <a:rPr lang="en-US" sz="1050" b="1" spc="120" kern="0" dirty="0">
                <a:solidFill>
                  <a:srgbClr val="97BC62"/>
                </a:solidFill>
                <a:latin typeface="Calibri" pitchFamily="34" charset="0"/>
                <a:ea typeface="Calibri" pitchFamily="34" charset="-122"/>
                <a:cs typeface="Calibri" pitchFamily="34" charset="-120"/>
              </a:rPr>
              <a:t>TERRAIN</a:t>
            </a:r>
            <a:endParaRPr lang="en-US" sz="1050" dirty="0"/>
          </a:p>
        </p:txBody>
      </p:sp>
      <p:sp>
        <p:nvSpPr>
          <p:cNvPr id="6" name="Text 4"/>
          <p:cNvSpPr txBox="1"/>
          <p:nvPr/>
        </p:nvSpPr>
        <p:spPr>
          <a:xfrm>
            <a:off x="731520" y="2103120"/>
            <a:ext cx="1700784" cy="4114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Capteurs IoT</a:t>
            </a:r>
            <a:endParaRPr lang="en-US" sz="1700" dirty="0"/>
          </a:p>
        </p:txBody>
      </p:sp>
      <p:sp>
        <p:nvSpPr>
          <p:cNvPr id="7" name="Text 5"/>
          <p:cNvSpPr txBox="1"/>
          <p:nvPr/>
        </p:nvSpPr>
        <p:spPr>
          <a:xfrm>
            <a:off x="731520"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 boîtier par parcelle</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Six grandeurs mesurées</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Une trame par minute</a:t>
            </a:r>
            <a:endParaRPr lang="en-US" sz="1100" dirty="0"/>
          </a:p>
        </p:txBody>
      </p:sp>
      <p:sp>
        <p:nvSpPr>
          <p:cNvPr id="8" name="Shape 6"/>
          <p:cNvSpPr/>
          <p:nvPr/>
        </p:nvSpPr>
        <p:spPr>
          <a:xfrm>
            <a:off x="2798064" y="1600200"/>
            <a:ext cx="2066544" cy="2606040"/>
          </a:xfrm>
          <a:prstGeom prst="roundRect">
            <a:avLst>
              <a:gd name="adj" fmla="val 2655"/>
            </a:avLst>
          </a:prstGeom>
          <a:solidFill>
            <a:srgbClr val="EEF3EA"/>
          </a:solidFill>
          <a:ln w="12700">
            <a:solidFill>
              <a:srgbClr val="EEF3EA"/>
            </a:solidFill>
            <a:prstDash val="solid"/>
          </a:ln>
        </p:spPr>
      </p:sp>
      <p:sp>
        <p:nvSpPr>
          <p:cNvPr id="9" name="Text 7"/>
          <p:cNvSpPr txBox="1"/>
          <p:nvPr/>
        </p:nvSpPr>
        <p:spPr>
          <a:xfrm>
            <a:off x="2980944"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1</a:t>
            </a:r>
            <a:endParaRPr lang="en-US" sz="1050" dirty="0"/>
          </a:p>
        </p:txBody>
      </p:sp>
      <p:sp>
        <p:nvSpPr>
          <p:cNvPr id="10" name="Text 8"/>
          <p:cNvSpPr txBox="1"/>
          <p:nvPr/>
        </p:nvSpPr>
        <p:spPr>
          <a:xfrm>
            <a:off x="2980944"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Présentation</a:t>
            </a:r>
            <a:endParaRPr lang="en-US" sz="1700" dirty="0"/>
          </a:p>
        </p:txBody>
      </p:sp>
      <p:sp>
        <p:nvSpPr>
          <p:cNvPr id="11" name="Text 9"/>
          <p:cNvSpPr txBox="1"/>
          <p:nvPr/>
        </p:nvSpPr>
        <p:spPr>
          <a:xfrm>
            <a:off x="2980944"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HTML, CSS, JavaScript</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Interface responsive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Mobile et ordinateur</a:t>
            </a:r>
            <a:endParaRPr lang="en-US" sz="1100" dirty="0"/>
          </a:p>
        </p:txBody>
      </p:sp>
      <p:sp>
        <p:nvSpPr>
          <p:cNvPr id="12" name="Shape 10"/>
          <p:cNvSpPr/>
          <p:nvPr/>
        </p:nvSpPr>
        <p:spPr>
          <a:xfrm>
            <a:off x="5047488" y="1600200"/>
            <a:ext cx="2066544" cy="2606040"/>
          </a:xfrm>
          <a:prstGeom prst="roundRect">
            <a:avLst>
              <a:gd name="adj" fmla="val 2655"/>
            </a:avLst>
          </a:prstGeom>
          <a:solidFill>
            <a:srgbClr val="EEF3EA"/>
          </a:solidFill>
          <a:ln w="12700">
            <a:solidFill>
              <a:srgbClr val="EEF3EA"/>
            </a:solidFill>
            <a:prstDash val="solid"/>
          </a:ln>
        </p:spPr>
      </p:sp>
      <p:sp>
        <p:nvSpPr>
          <p:cNvPr id="13" name="Text 11"/>
          <p:cNvSpPr txBox="1"/>
          <p:nvPr/>
        </p:nvSpPr>
        <p:spPr>
          <a:xfrm>
            <a:off x="5230368"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2</a:t>
            </a:r>
            <a:endParaRPr lang="en-US" sz="1050" dirty="0"/>
          </a:p>
        </p:txBody>
      </p:sp>
      <p:sp>
        <p:nvSpPr>
          <p:cNvPr id="14" name="Text 12"/>
          <p:cNvSpPr txBox="1"/>
          <p:nvPr/>
        </p:nvSpPr>
        <p:spPr>
          <a:xfrm>
            <a:off x="5230368"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Métier</a:t>
            </a:r>
            <a:endParaRPr lang="en-US" sz="1700" dirty="0"/>
          </a:p>
        </p:txBody>
      </p:sp>
      <p:sp>
        <p:nvSpPr>
          <p:cNvPr id="15" name="Text 13"/>
          <p:cNvSpPr txBox="1"/>
          <p:nvPr/>
        </p:nvSpPr>
        <p:spPr>
          <a:xfrm>
            <a:off x="5230368"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REST FastAPI</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Python 3.11 asynchrone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Port 8000</a:t>
            </a:r>
            <a:endParaRPr lang="en-US" sz="1100" dirty="0"/>
          </a:p>
        </p:txBody>
      </p:sp>
      <p:sp>
        <p:nvSpPr>
          <p:cNvPr id="16" name="Shape 14"/>
          <p:cNvSpPr/>
          <p:nvPr/>
        </p:nvSpPr>
        <p:spPr>
          <a:xfrm>
            <a:off x="7296912" y="1600200"/>
            <a:ext cx="2066544" cy="2606040"/>
          </a:xfrm>
          <a:prstGeom prst="roundRect">
            <a:avLst>
              <a:gd name="adj" fmla="val 2655"/>
            </a:avLst>
          </a:prstGeom>
          <a:solidFill>
            <a:srgbClr val="EEF3EA"/>
          </a:solidFill>
          <a:ln w="12700">
            <a:solidFill>
              <a:srgbClr val="EEF3EA"/>
            </a:solidFill>
            <a:prstDash val="solid"/>
          </a:ln>
        </p:spPr>
      </p:sp>
      <p:sp>
        <p:nvSpPr>
          <p:cNvPr id="17" name="Text 15"/>
          <p:cNvSpPr txBox="1"/>
          <p:nvPr/>
        </p:nvSpPr>
        <p:spPr>
          <a:xfrm>
            <a:off x="7479792"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3</a:t>
            </a:r>
            <a:endParaRPr lang="en-US" sz="1050" dirty="0"/>
          </a:p>
        </p:txBody>
      </p:sp>
      <p:sp>
        <p:nvSpPr>
          <p:cNvPr id="18" name="Text 16"/>
          <p:cNvSpPr txBox="1"/>
          <p:nvPr/>
        </p:nvSpPr>
        <p:spPr>
          <a:xfrm>
            <a:off x="7479792"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Données</a:t>
            </a:r>
            <a:endParaRPr lang="en-US" sz="1700" dirty="0"/>
          </a:p>
        </p:txBody>
      </p:sp>
      <p:sp>
        <p:nvSpPr>
          <p:cNvPr id="19" name="Text 17"/>
          <p:cNvSpPr txBox="1"/>
          <p:nvPr/>
        </p:nvSpPr>
        <p:spPr>
          <a:xfrm>
            <a:off x="7479792"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PostgreSQL 15</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Redis 7 pour le cache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Volumes persistants</a:t>
            </a:r>
            <a:endParaRPr lang="en-US" sz="1100" dirty="0"/>
          </a:p>
        </p:txBody>
      </p:sp>
      <p:sp>
        <p:nvSpPr>
          <p:cNvPr id="20" name="Shape 18"/>
          <p:cNvSpPr/>
          <p:nvPr/>
        </p:nvSpPr>
        <p:spPr>
          <a:xfrm>
            <a:off x="9546336" y="1600200"/>
            <a:ext cx="2066544" cy="2606040"/>
          </a:xfrm>
          <a:prstGeom prst="roundRect">
            <a:avLst>
              <a:gd name="adj" fmla="val 2655"/>
            </a:avLst>
          </a:prstGeom>
          <a:solidFill>
            <a:srgbClr val="EEF3EA"/>
          </a:solidFill>
          <a:ln w="12700">
            <a:solidFill>
              <a:srgbClr val="EEF3EA"/>
            </a:solidFill>
            <a:prstDash val="solid"/>
          </a:ln>
        </p:spPr>
      </p:sp>
      <p:sp>
        <p:nvSpPr>
          <p:cNvPr id="21" name="Text 19"/>
          <p:cNvSpPr txBox="1"/>
          <p:nvPr/>
        </p:nvSpPr>
        <p:spPr>
          <a:xfrm>
            <a:off x="9729216"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4</a:t>
            </a:r>
            <a:endParaRPr lang="en-US" sz="1050" dirty="0"/>
          </a:p>
        </p:txBody>
      </p:sp>
      <p:sp>
        <p:nvSpPr>
          <p:cNvPr id="22" name="Text 20"/>
          <p:cNvSpPr txBox="1"/>
          <p:nvPr/>
        </p:nvSpPr>
        <p:spPr>
          <a:xfrm>
            <a:off x="9729216"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Services</a:t>
            </a:r>
            <a:endParaRPr lang="en-US" sz="1700" dirty="0"/>
          </a:p>
        </p:txBody>
      </p:sp>
      <p:sp>
        <p:nvSpPr>
          <p:cNvPr id="23" name="Text 21"/>
          <p:cNvSpPr txBox="1"/>
          <p:nvPr/>
        </p:nvSpPr>
        <p:spPr>
          <a:xfrm>
            <a:off x="9729216"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OpenCV et NumPy</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Open-Meteo</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Nominatim OSM</a:t>
            </a:r>
            <a:endParaRPr lang="en-US" sz="1100" dirty="0"/>
          </a:p>
        </p:txBody>
      </p:sp>
      <p:sp>
        <p:nvSpPr>
          <p:cNvPr id="24" name="Shape 22"/>
          <p:cNvSpPr/>
          <p:nvPr/>
        </p:nvSpPr>
        <p:spPr>
          <a:xfrm>
            <a:off x="548640" y="4572000"/>
            <a:ext cx="11064240" cy="1188720"/>
          </a:xfrm>
          <a:prstGeom prst="roundRect">
            <a:avLst>
              <a:gd name="adj" fmla="val 4615"/>
            </a:avLst>
          </a:prstGeom>
          <a:solidFill>
            <a:srgbClr val="2C5F2D"/>
          </a:solidFill>
          <a:ln w="12700">
            <a:solidFill>
              <a:srgbClr val="2C5F2D"/>
            </a:solidFill>
            <a:prstDash val="solid"/>
          </a:ln>
        </p:spPr>
      </p:sp>
      <p:sp>
        <p:nvSpPr>
          <p:cNvPr id="25" name="Text 23"/>
          <p:cNvSpPr txBox="1"/>
          <p:nvPr/>
        </p:nvSpPr>
        <p:spPr>
          <a:xfrm>
            <a:off x="868680" y="4800600"/>
            <a:ext cx="27432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FLUX DE DONNÉES</a:t>
            </a:r>
            <a:endParaRPr lang="en-US" sz="1100" dirty="0"/>
          </a:p>
        </p:txBody>
      </p:sp>
      <p:sp>
        <p:nvSpPr>
          <p:cNvPr id="26" name="Text 24"/>
          <p:cNvSpPr txBox="1"/>
          <p:nvPr/>
        </p:nvSpPr>
        <p:spPr>
          <a:xfrm>
            <a:off x="868680" y="5120640"/>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Photo  →  API FastAPI  →  Analyse OpenCV  →  Écriture PostgreSQL  →  Réponse JSON  →  Interface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CAPTEURS IoT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Une surveillance qui ne dort jamais</a:t>
            </a:r>
            <a:endParaRPr lang="en-US" sz="3400" dirty="0"/>
          </a:p>
        </p:txBody>
      </p:sp>
      <p:sp>
        <p:nvSpPr>
          <p:cNvPr id="4" name="Shape 2"/>
          <p:cNvSpPr/>
          <p:nvPr/>
        </p:nvSpPr>
        <p:spPr>
          <a:xfrm>
            <a:off x="548640" y="1600200"/>
            <a:ext cx="5349240" cy="2834640"/>
          </a:xfrm>
          <a:prstGeom prst="roundRect">
            <a:avLst>
              <a:gd name="adj" fmla="val 1935"/>
            </a:avLst>
          </a:prstGeom>
          <a:solidFill>
            <a:srgbClr val="EEF3EA"/>
          </a:solidFill>
          <a:ln w="12700">
            <a:solidFill>
              <a:srgbClr val="EEF3EA"/>
            </a:solidFill>
            <a:prstDash val="solid"/>
          </a:ln>
        </p:spPr>
      </p:sp>
      <p:sp>
        <p:nvSpPr>
          <p:cNvPr id="5" name="Text 3"/>
          <p:cNvSpPr txBox="1"/>
          <p:nvPr/>
        </p:nvSpPr>
        <p:spPr>
          <a:xfrm>
            <a:off x="822960" y="1810512"/>
            <a:ext cx="4800600" cy="274320"/>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Ce que mesure chaque boîtier</a:t>
            </a:r>
            <a:endParaRPr lang="en-US" sz="1200" dirty="0"/>
          </a:p>
        </p:txBody>
      </p:sp>
      <p:sp>
        <p:nvSpPr>
          <p:cNvPr id="6" name="Text 4"/>
          <p:cNvSpPr txBox="1"/>
          <p:nvPr/>
        </p:nvSpPr>
        <p:spPr>
          <a:xfrm>
            <a:off x="822960" y="2240280"/>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Humidité du sol</a:t>
            </a:r>
            <a:endParaRPr lang="en-US" sz="1350" dirty="0"/>
          </a:p>
        </p:txBody>
      </p:sp>
      <p:sp>
        <p:nvSpPr>
          <p:cNvPr id="7" name="Text 5"/>
          <p:cNvSpPr txBox="1"/>
          <p:nvPr/>
        </p:nvSpPr>
        <p:spPr>
          <a:xfrm>
            <a:off x="3291840" y="2240280"/>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Température du sol</a:t>
            </a:r>
            <a:endParaRPr lang="en-US" sz="1350" dirty="0"/>
          </a:p>
        </p:txBody>
      </p:sp>
      <p:sp>
        <p:nvSpPr>
          <p:cNvPr id="8" name="Text 6"/>
          <p:cNvSpPr txBox="1"/>
          <p:nvPr/>
        </p:nvSpPr>
        <p:spPr>
          <a:xfrm>
            <a:off x="822960" y="2807208"/>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Température de l'air</a:t>
            </a:r>
            <a:endParaRPr lang="en-US" sz="1350" dirty="0"/>
          </a:p>
        </p:txBody>
      </p:sp>
      <p:sp>
        <p:nvSpPr>
          <p:cNvPr id="9" name="Text 7"/>
          <p:cNvSpPr txBox="1"/>
          <p:nvPr/>
        </p:nvSpPr>
        <p:spPr>
          <a:xfrm>
            <a:off x="3291840" y="2807208"/>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Hygrométrie de l'air</a:t>
            </a:r>
            <a:endParaRPr lang="en-US" sz="1350" dirty="0"/>
          </a:p>
        </p:txBody>
      </p:sp>
      <p:sp>
        <p:nvSpPr>
          <p:cNvPr id="10" name="Text 8"/>
          <p:cNvSpPr txBox="1"/>
          <p:nvPr/>
        </p:nvSpPr>
        <p:spPr>
          <a:xfrm>
            <a:off x="822960" y="3374136"/>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Humectation foliaire</a:t>
            </a:r>
            <a:endParaRPr lang="en-US" sz="1350" dirty="0"/>
          </a:p>
        </p:txBody>
      </p:sp>
      <p:sp>
        <p:nvSpPr>
          <p:cNvPr id="11" name="Text 9"/>
          <p:cNvSpPr txBox="1"/>
          <p:nvPr/>
        </p:nvSpPr>
        <p:spPr>
          <a:xfrm>
            <a:off x="3291840" y="3374136"/>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Niveau de batterie</a:t>
            </a:r>
            <a:endParaRPr lang="en-US" sz="1350" dirty="0"/>
          </a:p>
        </p:txBody>
      </p:sp>
      <p:sp>
        <p:nvSpPr>
          <p:cNvPr id="12" name="Text 10"/>
          <p:cNvSpPr txBox="1"/>
          <p:nvPr/>
        </p:nvSpPr>
        <p:spPr>
          <a:xfrm>
            <a:off x="822960" y="4023360"/>
            <a:ext cx="4800600" cy="274320"/>
          </a:xfrm>
          <a:prstGeom prst="rect">
            <a:avLst/>
          </a:prstGeom>
          <a:noFill/>
          <a:ln/>
        </p:spPr>
        <p:txBody>
          <a:bodyPr wrap="square" lIns="0" tIns="0" rIns="0" bIns="0" rtlCol="0" anchor="ctr"/>
          <a:lstStyle/>
          <a:p>
            <a:pPr indent="0" marL="0">
              <a:buNone/>
            </a:pPr>
            <a:r>
              <a:rPr lang="en-US" sz="1200" i="1" dirty="0">
                <a:solidFill>
                  <a:srgbClr val="5F6B5F"/>
                </a:solidFill>
                <a:latin typeface="Calibri" pitchFamily="34" charset="0"/>
                <a:ea typeface="Calibri" pitchFamily="34" charset="-122"/>
                <a:cs typeface="Calibri" pitchFamily="34" charset="-120"/>
              </a:rPr>
              <a:t>Une trame JSON par minute et par parcelle, en HTTP vers l'API</a:t>
            </a:r>
            <a:endParaRPr lang="en-US" sz="1200" dirty="0"/>
          </a:p>
        </p:txBody>
      </p:sp>
      <p:sp>
        <p:nvSpPr>
          <p:cNvPr id="13" name="Shape 11"/>
          <p:cNvSpPr/>
          <p:nvPr/>
        </p:nvSpPr>
        <p:spPr>
          <a:xfrm>
            <a:off x="6263640" y="1600200"/>
            <a:ext cx="5349240" cy="2834640"/>
          </a:xfrm>
          <a:prstGeom prst="roundRect">
            <a:avLst>
              <a:gd name="adj" fmla="val 1935"/>
            </a:avLst>
          </a:prstGeom>
          <a:solidFill>
            <a:srgbClr val="2C5F2D"/>
          </a:solidFill>
          <a:ln w="12700">
            <a:solidFill>
              <a:srgbClr val="2C5F2D"/>
            </a:solidFill>
            <a:prstDash val="solid"/>
          </a:ln>
        </p:spPr>
      </p:sp>
      <p:sp>
        <p:nvSpPr>
          <p:cNvPr id="14" name="Text 12"/>
          <p:cNvSpPr txBox="1"/>
          <p:nvPr/>
        </p:nvSpPr>
        <p:spPr>
          <a:xfrm>
            <a:off x="6537960" y="1810512"/>
            <a:ext cx="4800600" cy="274320"/>
          </a:xfrm>
          <a:prstGeom prst="rect">
            <a:avLst/>
          </a:prstGeom>
          <a:noFill/>
          <a:ln/>
        </p:spPr>
        <p:txBody>
          <a:bodyPr wrap="square" lIns="0" tIns="0" rIns="0" bIns="0" rtlCol="0" anchor="ctr"/>
          <a:lstStyle/>
          <a:p>
            <a:pPr indent="0" marL="0">
              <a:buNone/>
            </a:pPr>
            <a:r>
              <a:rPr lang="en-US" sz="1200" b="1" spc="120" kern="0" dirty="0">
                <a:solidFill>
                  <a:srgbClr val="97BC62"/>
                </a:solidFill>
                <a:latin typeface="Calibri" pitchFamily="34" charset="0"/>
                <a:ea typeface="Calibri" pitchFamily="34" charset="-122"/>
                <a:cs typeface="Calibri" pitchFamily="34" charset="-120"/>
              </a:rPr>
              <a:t>Ce qui déclenche une alerte</a:t>
            </a:r>
            <a:endParaRPr lang="en-US" sz="1200" dirty="0"/>
          </a:p>
        </p:txBody>
      </p:sp>
      <p:sp>
        <p:nvSpPr>
          <p:cNvPr id="15" name="Text 13"/>
          <p:cNvSpPr txBox="1"/>
          <p:nvPr/>
        </p:nvSpPr>
        <p:spPr>
          <a:xfrm>
            <a:off x="6537960" y="2212848"/>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Feuillage humide et air entre 15 et 25 °C</a:t>
            </a:r>
            <a:endParaRPr lang="en-US" sz="1200" dirty="0"/>
          </a:p>
        </p:txBody>
      </p:sp>
      <p:sp>
        <p:nvSpPr>
          <p:cNvPr id="16" name="Text 14"/>
          <p:cNvSpPr txBox="1"/>
          <p:nvPr/>
        </p:nvSpPr>
        <p:spPr>
          <a:xfrm>
            <a:off x="9921240" y="2212848"/>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Risque fongique</a:t>
            </a:r>
            <a:endParaRPr lang="en-US" sz="1200" dirty="0"/>
          </a:p>
        </p:txBody>
      </p:sp>
      <p:sp>
        <p:nvSpPr>
          <p:cNvPr id="17" name="Text 15"/>
          <p:cNvSpPr txBox="1"/>
          <p:nvPr/>
        </p:nvSpPr>
        <p:spPr>
          <a:xfrm>
            <a:off x="6537960" y="2651760"/>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Humidité du sol sous 25 %</a:t>
            </a:r>
            <a:endParaRPr lang="en-US" sz="1200" dirty="0"/>
          </a:p>
        </p:txBody>
      </p:sp>
      <p:sp>
        <p:nvSpPr>
          <p:cNvPr id="18" name="Text 16"/>
          <p:cNvSpPr txBox="1"/>
          <p:nvPr/>
        </p:nvSpPr>
        <p:spPr>
          <a:xfrm>
            <a:off x="9921240" y="2651760"/>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Stress hydrique</a:t>
            </a:r>
            <a:endParaRPr lang="en-US" sz="1200" dirty="0"/>
          </a:p>
        </p:txBody>
      </p:sp>
      <p:sp>
        <p:nvSpPr>
          <p:cNvPr id="19" name="Text 17"/>
          <p:cNvSpPr txBox="1"/>
          <p:nvPr/>
        </p:nvSpPr>
        <p:spPr>
          <a:xfrm>
            <a:off x="6537960" y="3090672"/>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Humidité du sol au-dessus de 85 %</a:t>
            </a:r>
            <a:endParaRPr lang="en-US" sz="1200" dirty="0"/>
          </a:p>
        </p:txBody>
      </p:sp>
      <p:sp>
        <p:nvSpPr>
          <p:cNvPr id="20" name="Text 18"/>
          <p:cNvSpPr txBox="1"/>
          <p:nvPr/>
        </p:nvSpPr>
        <p:spPr>
          <a:xfrm>
            <a:off x="9921240" y="3090672"/>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Excès d'eau</a:t>
            </a:r>
            <a:endParaRPr lang="en-US" sz="1200" dirty="0"/>
          </a:p>
        </p:txBody>
      </p:sp>
      <p:sp>
        <p:nvSpPr>
          <p:cNvPr id="21" name="Text 19"/>
          <p:cNvSpPr txBox="1"/>
          <p:nvPr/>
        </p:nvSpPr>
        <p:spPr>
          <a:xfrm>
            <a:off x="6537960" y="3529584"/>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Batterie sous 20 %</a:t>
            </a:r>
            <a:endParaRPr lang="en-US" sz="1200" dirty="0"/>
          </a:p>
        </p:txBody>
      </p:sp>
      <p:sp>
        <p:nvSpPr>
          <p:cNvPr id="22" name="Text 20"/>
          <p:cNvSpPr txBox="1"/>
          <p:nvPr/>
        </p:nvSpPr>
        <p:spPr>
          <a:xfrm>
            <a:off x="9921240" y="3529584"/>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Maintenance</a:t>
            </a:r>
            <a:endParaRPr lang="en-US" sz="1200" dirty="0"/>
          </a:p>
        </p:txBody>
      </p:sp>
      <p:sp>
        <p:nvSpPr>
          <p:cNvPr id="23" name="Text 21"/>
          <p:cNvSpPr txBox="1"/>
          <p:nvPr/>
        </p:nvSpPr>
        <p:spPr>
          <a:xfrm>
            <a:off x="6537960" y="3968496"/>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Silence de plus de 15 minutes</a:t>
            </a:r>
            <a:endParaRPr lang="en-US" sz="1200" dirty="0"/>
          </a:p>
        </p:txBody>
      </p:sp>
      <p:sp>
        <p:nvSpPr>
          <p:cNvPr id="24" name="Text 22"/>
          <p:cNvSpPr txBox="1"/>
          <p:nvPr/>
        </p:nvSpPr>
        <p:spPr>
          <a:xfrm>
            <a:off x="9921240" y="3968496"/>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Capteur hors ligne</a:t>
            </a:r>
            <a:endParaRPr lang="en-US" sz="1200" dirty="0"/>
          </a:p>
        </p:txBody>
      </p:sp>
      <p:sp>
        <p:nvSpPr>
          <p:cNvPr id="25" name="Shape 23"/>
          <p:cNvSpPr/>
          <p:nvPr/>
        </p:nvSpPr>
        <p:spPr>
          <a:xfrm>
            <a:off x="548640" y="4617720"/>
            <a:ext cx="11064240" cy="1051560"/>
          </a:xfrm>
          <a:prstGeom prst="roundRect">
            <a:avLst>
              <a:gd name="adj" fmla="val 5217"/>
            </a:avLst>
          </a:prstGeom>
          <a:solidFill>
            <a:srgbClr val="EEF3EA"/>
          </a:solidFill>
          <a:ln w="12700">
            <a:solidFill>
              <a:srgbClr val="EEF3EA"/>
            </a:solidFill>
            <a:prstDash val="solid"/>
          </a:ln>
        </p:spPr>
      </p:sp>
      <p:sp>
        <p:nvSpPr>
          <p:cNvPr id="26" name="Text 24"/>
          <p:cNvSpPr txBox="1"/>
          <p:nvPr/>
        </p:nvSpPr>
        <p:spPr>
          <a:xfrm>
            <a:off x="868680" y="4800600"/>
            <a:ext cx="3657600" cy="228600"/>
          </a:xfrm>
          <a:prstGeom prst="rect">
            <a:avLst/>
          </a:prstGeom>
          <a:noFill/>
          <a:ln/>
        </p:spPr>
        <p:txBody>
          <a:bodyPr wrap="square" lIns="0" tIns="0" rIns="0" bIns="0" rtlCol="0" anchor="ctr"/>
          <a:lstStyle/>
          <a:p>
            <a:pPr indent="0" marL="0">
              <a:buNone/>
            </a:pPr>
            <a:r>
              <a:rPr lang="en-US" sz="1100" b="1" spc="150" kern="0" dirty="0">
                <a:solidFill>
                  <a:srgbClr val="4A7A3A"/>
                </a:solidFill>
                <a:latin typeface="Calibri" pitchFamily="34" charset="0"/>
                <a:ea typeface="Calibri" pitchFamily="34" charset="-122"/>
                <a:cs typeface="Calibri" pitchFamily="34" charset="-120"/>
              </a:rPr>
              <a:t>DU CHAMP À L'ÉCRAN</a:t>
            </a:r>
            <a:endParaRPr lang="en-US" sz="1100" dirty="0"/>
          </a:p>
        </p:txBody>
      </p:sp>
      <p:sp>
        <p:nvSpPr>
          <p:cNvPr id="27" name="Text 25"/>
          <p:cNvSpPr txBox="1"/>
          <p:nvPr/>
        </p:nvSpPr>
        <p:spPr>
          <a:xfrm>
            <a:off x="868680" y="5102352"/>
            <a:ext cx="10424160" cy="365760"/>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Capteur  →  POST /sensors/readings  →  PostgreSQL  →  Règles métier  →  Alerte affichée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TECHNOLOGIES IMPOSÉES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Trois choix, trois justifications</a:t>
            </a:r>
            <a:endParaRPr lang="en-US" sz="3400" dirty="0"/>
          </a:p>
        </p:txBody>
      </p:sp>
      <p:sp>
        <p:nvSpPr>
          <p:cNvPr id="4" name="Shape 2"/>
          <p:cNvSpPr/>
          <p:nvPr/>
        </p:nvSpPr>
        <p:spPr>
          <a:xfrm>
            <a:off x="548640" y="1600200"/>
            <a:ext cx="3474720" cy="3977640"/>
          </a:xfrm>
          <a:prstGeom prst="roundRect">
            <a:avLst>
              <a:gd name="adj" fmla="val 1579"/>
            </a:avLst>
          </a:prstGeom>
          <a:solidFill>
            <a:srgbClr val="EEF3EA"/>
          </a:solidFill>
          <a:ln w="12700">
            <a:solidFill>
              <a:srgbClr val="EEF3EA"/>
            </a:solidFill>
            <a:prstDash val="solid"/>
          </a:ln>
        </p:spPr>
      </p:sp>
      <p:sp>
        <p:nvSpPr>
          <p:cNvPr id="5" name="Text 3"/>
          <p:cNvSpPr txBox="1"/>
          <p:nvPr/>
        </p:nvSpPr>
        <p:spPr>
          <a:xfrm>
            <a:off x="82296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FastAPI</a:t>
            </a:r>
            <a:endParaRPr lang="en-US" sz="2400" dirty="0"/>
          </a:p>
        </p:txBody>
      </p:sp>
      <p:sp>
        <p:nvSpPr>
          <p:cNvPr id="6" name="Text 4"/>
          <p:cNvSpPr txBox="1"/>
          <p:nvPr/>
        </p:nvSpPr>
        <p:spPr>
          <a:xfrm>
            <a:off x="82296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Backend et API</a:t>
            </a:r>
            <a:endParaRPr lang="en-US" sz="1200" dirty="0"/>
          </a:p>
        </p:txBody>
      </p:sp>
      <p:sp>
        <p:nvSpPr>
          <p:cNvPr id="7" name="Text 5"/>
          <p:cNvSpPr txBox="1"/>
          <p:nvPr/>
        </p:nvSpPr>
        <p:spPr>
          <a:xfrm>
            <a:off x="82296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Framework asynchrone moderne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Validation Pydantic native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Documentation Swagger automatique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Écosystème Python de l'IA</a:t>
            </a:r>
            <a:endParaRPr lang="en-US" sz="1250" dirty="0"/>
          </a:p>
        </p:txBody>
      </p:sp>
      <p:sp>
        <p:nvSpPr>
          <p:cNvPr id="8" name="Text 6"/>
          <p:cNvSpPr txBox="1"/>
          <p:nvPr/>
        </p:nvSpPr>
        <p:spPr>
          <a:xfrm>
            <a:off x="82296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Node.js : Python domine la vision par ordinateur.</a:t>
            </a:r>
            <a:endParaRPr lang="en-US" sz="1150" dirty="0"/>
          </a:p>
        </p:txBody>
      </p:sp>
      <p:sp>
        <p:nvSpPr>
          <p:cNvPr id="9" name="Shape 7"/>
          <p:cNvSpPr/>
          <p:nvPr/>
        </p:nvSpPr>
        <p:spPr>
          <a:xfrm>
            <a:off x="4343400" y="1600200"/>
            <a:ext cx="3474720" cy="3977640"/>
          </a:xfrm>
          <a:prstGeom prst="roundRect">
            <a:avLst>
              <a:gd name="adj" fmla="val 1579"/>
            </a:avLst>
          </a:prstGeom>
          <a:solidFill>
            <a:srgbClr val="EEF3EA"/>
          </a:solidFill>
          <a:ln w="12700">
            <a:solidFill>
              <a:srgbClr val="EEF3EA"/>
            </a:solidFill>
            <a:prstDash val="solid"/>
          </a:ln>
        </p:spPr>
      </p:sp>
      <p:sp>
        <p:nvSpPr>
          <p:cNvPr id="10" name="Text 8"/>
          <p:cNvSpPr txBox="1"/>
          <p:nvPr/>
        </p:nvSpPr>
        <p:spPr>
          <a:xfrm>
            <a:off x="461772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PostgreSQL 15</a:t>
            </a:r>
            <a:endParaRPr lang="en-US" sz="2400" dirty="0"/>
          </a:p>
        </p:txBody>
      </p:sp>
      <p:sp>
        <p:nvSpPr>
          <p:cNvPr id="11" name="Text 9"/>
          <p:cNvSpPr txBox="1"/>
          <p:nvPr/>
        </p:nvSpPr>
        <p:spPr>
          <a:xfrm>
            <a:off x="461772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Base de données</a:t>
            </a:r>
            <a:endParaRPr lang="en-US" sz="1200" dirty="0"/>
          </a:p>
        </p:txBody>
      </p:sp>
      <p:sp>
        <p:nvSpPr>
          <p:cNvPr id="12" name="Text 10"/>
          <p:cNvSpPr txBox="1"/>
          <p:nvPr/>
        </p:nvSpPr>
        <p:spPr>
          <a:xfrm>
            <a:off x="461772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Transactions ACID garanties</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Modèle relationnel clair</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Indexation performante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Standard de l'industrie</a:t>
            </a:r>
            <a:endParaRPr lang="en-US" sz="1250" dirty="0"/>
          </a:p>
        </p:txBody>
      </p:sp>
      <p:sp>
        <p:nvSpPr>
          <p:cNvPr id="13" name="Text 11"/>
          <p:cNvSpPr txBox="1"/>
          <p:nvPr/>
        </p:nvSpPr>
        <p:spPr>
          <a:xfrm>
            <a:off x="461772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MongoDB : les relations utilisateur, parcelle et diagnostic sont structurées.</a:t>
            </a:r>
            <a:endParaRPr lang="en-US" sz="1150" dirty="0"/>
          </a:p>
        </p:txBody>
      </p:sp>
      <p:sp>
        <p:nvSpPr>
          <p:cNvPr id="14" name="Shape 12"/>
          <p:cNvSpPr/>
          <p:nvPr/>
        </p:nvSpPr>
        <p:spPr>
          <a:xfrm>
            <a:off x="8138160" y="1600200"/>
            <a:ext cx="3474720" cy="3977640"/>
          </a:xfrm>
          <a:prstGeom prst="roundRect">
            <a:avLst>
              <a:gd name="adj" fmla="val 1579"/>
            </a:avLst>
          </a:prstGeom>
          <a:solidFill>
            <a:srgbClr val="EEF3EA"/>
          </a:solidFill>
          <a:ln w="12700">
            <a:solidFill>
              <a:srgbClr val="EEF3EA"/>
            </a:solidFill>
            <a:prstDash val="solid"/>
          </a:ln>
        </p:spPr>
      </p:sp>
      <p:sp>
        <p:nvSpPr>
          <p:cNvPr id="15" name="Text 13"/>
          <p:cNvSpPr txBox="1"/>
          <p:nvPr/>
        </p:nvSpPr>
        <p:spPr>
          <a:xfrm>
            <a:off x="841248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Docker et AWS</a:t>
            </a:r>
            <a:endParaRPr lang="en-US" sz="2400" dirty="0"/>
          </a:p>
        </p:txBody>
      </p:sp>
      <p:sp>
        <p:nvSpPr>
          <p:cNvPr id="16" name="Text 14"/>
          <p:cNvSpPr txBox="1"/>
          <p:nvPr/>
        </p:nvSpPr>
        <p:spPr>
          <a:xfrm>
            <a:off x="841248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Infrastructure</a:t>
            </a:r>
            <a:endParaRPr lang="en-US" sz="1200" dirty="0"/>
          </a:p>
        </p:txBody>
      </p:sp>
      <p:sp>
        <p:nvSpPr>
          <p:cNvPr id="17" name="Text 15"/>
          <p:cNvSpPr txBox="1"/>
          <p:nvPr/>
        </p:nvSpPr>
        <p:spPr>
          <a:xfrm>
            <a:off x="841248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Environnement reproductible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Développement identique à la production</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Déploiement en une commande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Instance EC2 disponible en continu</a:t>
            </a:r>
            <a:endParaRPr lang="en-US" sz="1250" dirty="0"/>
          </a:p>
        </p:txBody>
      </p:sp>
      <p:sp>
        <p:nvSpPr>
          <p:cNvPr id="18" name="Text 16"/>
          <p:cNvSpPr txBox="1"/>
          <p:nvPr/>
        </p:nvSpPr>
        <p:spPr>
          <a:xfrm>
            <a:off x="841248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Kubernetes : surdimensionné pour un MVP.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INTERFACE DE PROGRAMMATION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Dix-huit endpoints documentés</a:t>
            </a:r>
            <a:endParaRPr lang="en-US" sz="3400" dirty="0"/>
          </a:p>
        </p:txBody>
      </p:sp>
      <p:sp>
        <p:nvSpPr>
          <p:cNvPr id="4" name="Shape 2"/>
          <p:cNvSpPr/>
          <p:nvPr/>
        </p:nvSpPr>
        <p:spPr>
          <a:xfrm>
            <a:off x="548640" y="1572768"/>
            <a:ext cx="5349240" cy="2084832"/>
          </a:xfrm>
          <a:prstGeom prst="roundRect">
            <a:avLst>
              <a:gd name="adj" fmla="val 2632"/>
            </a:avLst>
          </a:prstGeom>
          <a:solidFill>
            <a:srgbClr val="EEF3EA"/>
          </a:solidFill>
          <a:ln w="12700">
            <a:solidFill>
              <a:srgbClr val="EEF3EA"/>
            </a:solidFill>
            <a:prstDash val="solid"/>
          </a:ln>
        </p:spPr>
      </p:sp>
      <p:sp>
        <p:nvSpPr>
          <p:cNvPr id="5" name="Text 3"/>
          <p:cNvSpPr txBox="1"/>
          <p:nvPr/>
        </p:nvSpPr>
        <p:spPr>
          <a:xfrm>
            <a:off x="822960" y="1755648"/>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Authentification</a:t>
            </a:r>
            <a:endParaRPr lang="en-US" sz="1600" dirty="0"/>
          </a:p>
        </p:txBody>
      </p:sp>
      <p:sp>
        <p:nvSpPr>
          <p:cNvPr id="6" name="Shape 4"/>
          <p:cNvSpPr/>
          <p:nvPr/>
        </p:nvSpPr>
        <p:spPr>
          <a:xfrm>
            <a:off x="822960" y="2176272"/>
            <a:ext cx="713232" cy="237744"/>
          </a:xfrm>
          <a:prstGeom prst="roundRect">
            <a:avLst>
              <a:gd name="adj" fmla="val 15385"/>
            </a:avLst>
          </a:prstGeom>
          <a:solidFill>
            <a:srgbClr val="2C5F2D"/>
          </a:solidFill>
          <a:ln w="12700">
            <a:solidFill>
              <a:srgbClr val="2C5F2D"/>
            </a:solidFill>
            <a:prstDash val="solid"/>
          </a:ln>
        </p:spPr>
      </p:sp>
      <p:sp>
        <p:nvSpPr>
          <p:cNvPr id="7" name="Text 5"/>
          <p:cNvSpPr txBox="1"/>
          <p:nvPr/>
        </p:nvSpPr>
        <p:spPr>
          <a:xfrm>
            <a:off x="822960" y="217627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8" name="Text 6"/>
          <p:cNvSpPr txBox="1"/>
          <p:nvPr/>
        </p:nvSpPr>
        <p:spPr>
          <a:xfrm>
            <a:off x="1645920" y="217627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/auth/register</a:t>
            </a:r>
            <a:endParaRPr lang="en-US" sz="1150" dirty="0"/>
          </a:p>
        </p:txBody>
      </p:sp>
      <p:sp>
        <p:nvSpPr>
          <p:cNvPr id="9" name="Shape 7"/>
          <p:cNvSpPr/>
          <p:nvPr/>
        </p:nvSpPr>
        <p:spPr>
          <a:xfrm>
            <a:off x="822960" y="2459736"/>
            <a:ext cx="713232" cy="237744"/>
          </a:xfrm>
          <a:prstGeom prst="roundRect">
            <a:avLst>
              <a:gd name="adj" fmla="val 15385"/>
            </a:avLst>
          </a:prstGeom>
          <a:solidFill>
            <a:srgbClr val="2C5F2D"/>
          </a:solidFill>
          <a:ln w="12700">
            <a:solidFill>
              <a:srgbClr val="2C5F2D"/>
            </a:solidFill>
            <a:prstDash val="solid"/>
          </a:ln>
        </p:spPr>
      </p:sp>
      <p:sp>
        <p:nvSpPr>
          <p:cNvPr id="10" name="Text 8"/>
          <p:cNvSpPr txBox="1"/>
          <p:nvPr/>
        </p:nvSpPr>
        <p:spPr>
          <a:xfrm>
            <a:off x="822960" y="245973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11" name="Text 9"/>
          <p:cNvSpPr txBox="1"/>
          <p:nvPr/>
        </p:nvSpPr>
        <p:spPr>
          <a:xfrm>
            <a:off x="1645920" y="245973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/auth/login</a:t>
            </a:r>
            <a:endParaRPr lang="en-US" sz="1150" dirty="0"/>
          </a:p>
        </p:txBody>
      </p:sp>
      <p:sp>
        <p:nvSpPr>
          <p:cNvPr id="12" name="Shape 10"/>
          <p:cNvSpPr/>
          <p:nvPr/>
        </p:nvSpPr>
        <p:spPr>
          <a:xfrm>
            <a:off x="822960" y="2743200"/>
            <a:ext cx="713232" cy="237744"/>
          </a:xfrm>
          <a:prstGeom prst="roundRect">
            <a:avLst>
              <a:gd name="adj" fmla="val 15385"/>
            </a:avLst>
          </a:prstGeom>
          <a:solidFill>
            <a:srgbClr val="2C5F2D"/>
          </a:solidFill>
          <a:ln w="12700">
            <a:solidFill>
              <a:srgbClr val="2C5F2D"/>
            </a:solidFill>
            <a:prstDash val="solid"/>
          </a:ln>
        </p:spPr>
      </p:sp>
      <p:sp>
        <p:nvSpPr>
          <p:cNvPr id="13" name="Text 11"/>
          <p:cNvSpPr txBox="1"/>
          <p:nvPr/>
        </p:nvSpPr>
        <p:spPr>
          <a:xfrm>
            <a:off x="822960" y="274320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4" name="Text 12"/>
          <p:cNvSpPr txBox="1"/>
          <p:nvPr/>
        </p:nvSpPr>
        <p:spPr>
          <a:xfrm>
            <a:off x="1645920" y="274320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/auth/me</a:t>
            </a:r>
            <a:endParaRPr lang="en-US" sz="1150" dirty="0"/>
          </a:p>
        </p:txBody>
      </p:sp>
      <p:sp>
        <p:nvSpPr>
          <p:cNvPr id="15" name="Shape 13"/>
          <p:cNvSpPr/>
          <p:nvPr/>
        </p:nvSpPr>
        <p:spPr>
          <a:xfrm>
            <a:off x="6263640" y="1572768"/>
            <a:ext cx="5349240" cy="2084832"/>
          </a:xfrm>
          <a:prstGeom prst="roundRect">
            <a:avLst>
              <a:gd name="adj" fmla="val 2632"/>
            </a:avLst>
          </a:prstGeom>
          <a:solidFill>
            <a:srgbClr val="EEF3EA"/>
          </a:solidFill>
          <a:ln w="12700">
            <a:solidFill>
              <a:srgbClr val="EEF3EA"/>
            </a:solidFill>
            <a:prstDash val="solid"/>
          </a:ln>
        </p:spPr>
      </p:sp>
      <p:sp>
        <p:nvSpPr>
          <p:cNvPr id="16" name="Text 14"/>
          <p:cNvSpPr txBox="1"/>
          <p:nvPr/>
        </p:nvSpPr>
        <p:spPr>
          <a:xfrm>
            <a:off x="6537960" y="1755648"/>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Parcelles</a:t>
            </a:r>
            <a:endParaRPr lang="en-US" sz="1600" dirty="0"/>
          </a:p>
        </p:txBody>
      </p:sp>
      <p:sp>
        <p:nvSpPr>
          <p:cNvPr id="17" name="Shape 15"/>
          <p:cNvSpPr/>
          <p:nvPr/>
        </p:nvSpPr>
        <p:spPr>
          <a:xfrm>
            <a:off x="6537960" y="2176272"/>
            <a:ext cx="713232" cy="237744"/>
          </a:xfrm>
          <a:prstGeom prst="roundRect">
            <a:avLst>
              <a:gd name="adj" fmla="val 15385"/>
            </a:avLst>
          </a:prstGeom>
          <a:solidFill>
            <a:srgbClr val="2C5F2D"/>
          </a:solidFill>
          <a:ln w="12700">
            <a:solidFill>
              <a:srgbClr val="2C5F2D"/>
            </a:solidFill>
            <a:prstDash val="solid"/>
          </a:ln>
        </p:spPr>
      </p:sp>
      <p:sp>
        <p:nvSpPr>
          <p:cNvPr id="18" name="Text 16"/>
          <p:cNvSpPr txBox="1"/>
          <p:nvPr/>
        </p:nvSpPr>
        <p:spPr>
          <a:xfrm>
            <a:off x="6537960" y="217627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9" name="Text 17"/>
          <p:cNvSpPr txBox="1"/>
          <p:nvPr/>
        </p:nvSpPr>
        <p:spPr>
          <a:xfrm>
            <a:off x="7360920" y="217627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0" name="Shape 18"/>
          <p:cNvSpPr/>
          <p:nvPr/>
        </p:nvSpPr>
        <p:spPr>
          <a:xfrm>
            <a:off x="6537960" y="2459736"/>
            <a:ext cx="713232" cy="237744"/>
          </a:xfrm>
          <a:prstGeom prst="roundRect">
            <a:avLst>
              <a:gd name="adj" fmla="val 15385"/>
            </a:avLst>
          </a:prstGeom>
          <a:solidFill>
            <a:srgbClr val="2C5F2D"/>
          </a:solidFill>
          <a:ln w="12700">
            <a:solidFill>
              <a:srgbClr val="2C5F2D"/>
            </a:solidFill>
            <a:prstDash val="solid"/>
          </a:ln>
        </p:spPr>
      </p:sp>
      <p:sp>
        <p:nvSpPr>
          <p:cNvPr id="21" name="Text 19"/>
          <p:cNvSpPr txBox="1"/>
          <p:nvPr/>
        </p:nvSpPr>
        <p:spPr>
          <a:xfrm>
            <a:off x="6537960" y="245973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22" name="Text 20"/>
          <p:cNvSpPr txBox="1"/>
          <p:nvPr/>
        </p:nvSpPr>
        <p:spPr>
          <a:xfrm>
            <a:off x="7360920" y="245973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3" name="Shape 21"/>
          <p:cNvSpPr/>
          <p:nvPr/>
        </p:nvSpPr>
        <p:spPr>
          <a:xfrm>
            <a:off x="6537960" y="2743200"/>
            <a:ext cx="713232" cy="237744"/>
          </a:xfrm>
          <a:prstGeom prst="roundRect">
            <a:avLst>
              <a:gd name="adj" fmla="val 15385"/>
            </a:avLst>
          </a:prstGeom>
          <a:solidFill>
            <a:srgbClr val="2C5F2D"/>
          </a:solidFill>
          <a:ln w="12700">
            <a:solidFill>
              <a:srgbClr val="2C5F2D"/>
            </a:solidFill>
            <a:prstDash val="solid"/>
          </a:ln>
        </p:spPr>
      </p:sp>
      <p:sp>
        <p:nvSpPr>
          <p:cNvPr id="24" name="Text 22"/>
          <p:cNvSpPr txBox="1"/>
          <p:nvPr/>
        </p:nvSpPr>
        <p:spPr>
          <a:xfrm>
            <a:off x="6537960" y="274320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PUT</a:t>
            </a:r>
            <a:endParaRPr lang="en-US" sz="850" dirty="0"/>
          </a:p>
        </p:txBody>
      </p:sp>
      <p:sp>
        <p:nvSpPr>
          <p:cNvPr id="25" name="Text 23"/>
          <p:cNvSpPr txBox="1"/>
          <p:nvPr/>
        </p:nvSpPr>
        <p:spPr>
          <a:xfrm>
            <a:off x="7360920" y="274320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6" name="Shape 24"/>
          <p:cNvSpPr/>
          <p:nvPr/>
        </p:nvSpPr>
        <p:spPr>
          <a:xfrm>
            <a:off x="6537960" y="3026664"/>
            <a:ext cx="713232" cy="237744"/>
          </a:xfrm>
          <a:prstGeom prst="roundRect">
            <a:avLst>
              <a:gd name="adj" fmla="val 15385"/>
            </a:avLst>
          </a:prstGeom>
          <a:solidFill>
            <a:srgbClr val="2C5F2D"/>
          </a:solidFill>
          <a:ln w="12700">
            <a:solidFill>
              <a:srgbClr val="2C5F2D"/>
            </a:solidFill>
            <a:prstDash val="solid"/>
          </a:ln>
        </p:spPr>
      </p:sp>
      <p:sp>
        <p:nvSpPr>
          <p:cNvPr id="27" name="Text 25"/>
          <p:cNvSpPr txBox="1"/>
          <p:nvPr/>
        </p:nvSpPr>
        <p:spPr>
          <a:xfrm>
            <a:off x="6537960" y="302666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28" name="Text 26"/>
          <p:cNvSpPr txBox="1"/>
          <p:nvPr/>
        </p:nvSpPr>
        <p:spPr>
          <a:xfrm>
            <a:off x="7360920" y="302666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9" name="Shape 27"/>
          <p:cNvSpPr/>
          <p:nvPr/>
        </p:nvSpPr>
        <p:spPr>
          <a:xfrm>
            <a:off x="548640" y="3785616"/>
            <a:ext cx="5349240" cy="2084832"/>
          </a:xfrm>
          <a:prstGeom prst="roundRect">
            <a:avLst>
              <a:gd name="adj" fmla="val 2632"/>
            </a:avLst>
          </a:prstGeom>
          <a:solidFill>
            <a:srgbClr val="EEF3EA"/>
          </a:solidFill>
          <a:ln w="12700">
            <a:solidFill>
              <a:srgbClr val="EEF3EA"/>
            </a:solidFill>
            <a:prstDash val="solid"/>
          </a:ln>
        </p:spPr>
      </p:sp>
      <p:sp>
        <p:nvSpPr>
          <p:cNvPr id="30" name="Text 28"/>
          <p:cNvSpPr txBox="1"/>
          <p:nvPr/>
        </p:nvSpPr>
        <p:spPr>
          <a:xfrm>
            <a:off x="822960" y="3968496"/>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Capteurs IoT</a:t>
            </a:r>
            <a:endParaRPr lang="en-US" sz="1600" dirty="0"/>
          </a:p>
        </p:txBody>
      </p:sp>
      <p:sp>
        <p:nvSpPr>
          <p:cNvPr id="31" name="Shape 29"/>
          <p:cNvSpPr/>
          <p:nvPr/>
        </p:nvSpPr>
        <p:spPr>
          <a:xfrm>
            <a:off x="822960" y="4389120"/>
            <a:ext cx="713232" cy="237744"/>
          </a:xfrm>
          <a:prstGeom prst="roundRect">
            <a:avLst>
              <a:gd name="adj" fmla="val 15385"/>
            </a:avLst>
          </a:prstGeom>
          <a:solidFill>
            <a:srgbClr val="2C5F2D"/>
          </a:solidFill>
          <a:ln w="12700">
            <a:solidFill>
              <a:srgbClr val="2C5F2D"/>
            </a:solidFill>
            <a:prstDash val="solid"/>
          </a:ln>
        </p:spPr>
      </p:sp>
      <p:sp>
        <p:nvSpPr>
          <p:cNvPr id="32" name="Text 30"/>
          <p:cNvSpPr txBox="1"/>
          <p:nvPr/>
        </p:nvSpPr>
        <p:spPr>
          <a:xfrm>
            <a:off x="822960" y="438912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33" name="Text 31"/>
          <p:cNvSpPr txBox="1"/>
          <p:nvPr/>
        </p:nvSpPr>
        <p:spPr>
          <a:xfrm>
            <a:off x="1645920" y="438912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/sensors/readings</a:t>
            </a:r>
            <a:endParaRPr lang="en-US" sz="1150" dirty="0"/>
          </a:p>
        </p:txBody>
      </p:sp>
      <p:sp>
        <p:nvSpPr>
          <p:cNvPr id="34" name="Shape 32"/>
          <p:cNvSpPr/>
          <p:nvPr/>
        </p:nvSpPr>
        <p:spPr>
          <a:xfrm>
            <a:off x="822960" y="4672584"/>
            <a:ext cx="713232" cy="237744"/>
          </a:xfrm>
          <a:prstGeom prst="roundRect">
            <a:avLst>
              <a:gd name="adj" fmla="val 15385"/>
            </a:avLst>
          </a:prstGeom>
          <a:solidFill>
            <a:srgbClr val="2C5F2D"/>
          </a:solidFill>
          <a:ln w="12700">
            <a:solidFill>
              <a:srgbClr val="2C5F2D"/>
            </a:solidFill>
            <a:prstDash val="solid"/>
          </a:ln>
        </p:spPr>
      </p:sp>
      <p:sp>
        <p:nvSpPr>
          <p:cNvPr id="35" name="Text 33"/>
          <p:cNvSpPr txBox="1"/>
          <p:nvPr/>
        </p:nvSpPr>
        <p:spPr>
          <a:xfrm>
            <a:off x="822960" y="467258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6" name="Text 34"/>
          <p:cNvSpPr txBox="1"/>
          <p:nvPr/>
        </p:nvSpPr>
        <p:spPr>
          <a:xfrm>
            <a:off x="1645920" y="467258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/sensors/latest</a:t>
            </a:r>
            <a:endParaRPr lang="en-US" sz="1150" dirty="0"/>
          </a:p>
        </p:txBody>
      </p:sp>
      <p:sp>
        <p:nvSpPr>
          <p:cNvPr id="37" name="Shape 35"/>
          <p:cNvSpPr/>
          <p:nvPr/>
        </p:nvSpPr>
        <p:spPr>
          <a:xfrm>
            <a:off x="822960" y="4956048"/>
            <a:ext cx="713232" cy="237744"/>
          </a:xfrm>
          <a:prstGeom prst="roundRect">
            <a:avLst>
              <a:gd name="adj" fmla="val 15385"/>
            </a:avLst>
          </a:prstGeom>
          <a:solidFill>
            <a:srgbClr val="2C5F2D"/>
          </a:solidFill>
          <a:ln w="12700">
            <a:solidFill>
              <a:srgbClr val="2C5F2D"/>
            </a:solidFill>
            <a:prstDash val="solid"/>
          </a:ln>
        </p:spPr>
      </p:sp>
      <p:sp>
        <p:nvSpPr>
          <p:cNvPr id="38" name="Text 36"/>
          <p:cNvSpPr txBox="1"/>
          <p:nvPr/>
        </p:nvSpPr>
        <p:spPr>
          <a:xfrm>
            <a:off x="822960" y="4956048"/>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9" name="Text 37"/>
          <p:cNvSpPr txBox="1"/>
          <p:nvPr/>
        </p:nvSpPr>
        <p:spPr>
          <a:xfrm>
            <a:off x="1645920" y="4956048"/>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/sensors/network</a:t>
            </a:r>
            <a:endParaRPr lang="en-US" sz="1150" dirty="0"/>
          </a:p>
        </p:txBody>
      </p:sp>
      <p:sp>
        <p:nvSpPr>
          <p:cNvPr id="40" name="Shape 38"/>
          <p:cNvSpPr/>
          <p:nvPr/>
        </p:nvSpPr>
        <p:spPr>
          <a:xfrm>
            <a:off x="822960" y="5239512"/>
            <a:ext cx="713232" cy="237744"/>
          </a:xfrm>
          <a:prstGeom prst="roundRect">
            <a:avLst>
              <a:gd name="adj" fmla="val 15385"/>
            </a:avLst>
          </a:prstGeom>
          <a:solidFill>
            <a:srgbClr val="2C5F2D"/>
          </a:solidFill>
          <a:ln w="12700">
            <a:solidFill>
              <a:srgbClr val="2C5F2D"/>
            </a:solidFill>
            <a:prstDash val="solid"/>
          </a:ln>
        </p:spPr>
      </p:sp>
      <p:sp>
        <p:nvSpPr>
          <p:cNvPr id="41" name="Text 39"/>
          <p:cNvSpPr txBox="1"/>
          <p:nvPr/>
        </p:nvSpPr>
        <p:spPr>
          <a:xfrm>
            <a:off x="822960" y="523951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42" name="Text 40"/>
          <p:cNvSpPr txBox="1"/>
          <p:nvPr/>
        </p:nvSpPr>
        <p:spPr>
          <a:xfrm>
            <a:off x="1645920" y="523951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/sensors/{id}/history</a:t>
            </a:r>
            <a:endParaRPr lang="en-US" sz="1150" dirty="0"/>
          </a:p>
        </p:txBody>
      </p:sp>
      <p:sp>
        <p:nvSpPr>
          <p:cNvPr id="43" name="Shape 41"/>
          <p:cNvSpPr/>
          <p:nvPr/>
        </p:nvSpPr>
        <p:spPr>
          <a:xfrm>
            <a:off x="6263640" y="3785616"/>
            <a:ext cx="5349240" cy="2084832"/>
          </a:xfrm>
          <a:prstGeom prst="roundRect">
            <a:avLst>
              <a:gd name="adj" fmla="val 2632"/>
            </a:avLst>
          </a:prstGeom>
          <a:solidFill>
            <a:srgbClr val="EEF3EA"/>
          </a:solidFill>
          <a:ln w="12700">
            <a:solidFill>
              <a:srgbClr val="EEF3EA"/>
            </a:solidFill>
            <a:prstDash val="solid"/>
          </a:ln>
        </p:spPr>
      </p:sp>
      <p:sp>
        <p:nvSpPr>
          <p:cNvPr id="44" name="Text 42"/>
          <p:cNvSpPr txBox="1"/>
          <p:nvPr/>
        </p:nvSpPr>
        <p:spPr>
          <a:xfrm>
            <a:off x="6537960" y="3968496"/>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Diagnostic et suivi</a:t>
            </a:r>
            <a:endParaRPr lang="en-US" sz="1600" dirty="0"/>
          </a:p>
        </p:txBody>
      </p:sp>
      <p:sp>
        <p:nvSpPr>
          <p:cNvPr id="45" name="Shape 43"/>
          <p:cNvSpPr/>
          <p:nvPr/>
        </p:nvSpPr>
        <p:spPr>
          <a:xfrm>
            <a:off x="6537960" y="4389120"/>
            <a:ext cx="713232" cy="237744"/>
          </a:xfrm>
          <a:prstGeom prst="roundRect">
            <a:avLst>
              <a:gd name="adj" fmla="val 15385"/>
            </a:avLst>
          </a:prstGeom>
          <a:solidFill>
            <a:srgbClr val="2C5F2D"/>
          </a:solidFill>
          <a:ln w="12700">
            <a:solidFill>
              <a:srgbClr val="2C5F2D"/>
            </a:solidFill>
            <a:prstDash val="solid"/>
          </a:ln>
        </p:spPr>
      </p:sp>
      <p:sp>
        <p:nvSpPr>
          <p:cNvPr id="46" name="Text 44"/>
          <p:cNvSpPr txBox="1"/>
          <p:nvPr/>
        </p:nvSpPr>
        <p:spPr>
          <a:xfrm>
            <a:off x="6537960" y="438912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47" name="Text 45"/>
          <p:cNvSpPr txBox="1"/>
          <p:nvPr/>
        </p:nvSpPr>
        <p:spPr>
          <a:xfrm>
            <a:off x="7360920" y="438912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/diagnose</a:t>
            </a:r>
            <a:endParaRPr lang="en-US" sz="1150" dirty="0"/>
          </a:p>
        </p:txBody>
      </p:sp>
      <p:sp>
        <p:nvSpPr>
          <p:cNvPr id="48" name="Shape 46"/>
          <p:cNvSpPr/>
          <p:nvPr/>
        </p:nvSpPr>
        <p:spPr>
          <a:xfrm>
            <a:off x="6537960" y="4672584"/>
            <a:ext cx="713232" cy="237744"/>
          </a:xfrm>
          <a:prstGeom prst="roundRect">
            <a:avLst>
              <a:gd name="adj" fmla="val 15385"/>
            </a:avLst>
          </a:prstGeom>
          <a:solidFill>
            <a:srgbClr val="2C5F2D"/>
          </a:solidFill>
          <a:ln w="12700">
            <a:solidFill>
              <a:srgbClr val="2C5F2D"/>
            </a:solidFill>
            <a:prstDash val="solid"/>
          </a:ln>
        </p:spPr>
      </p:sp>
      <p:sp>
        <p:nvSpPr>
          <p:cNvPr id="49" name="Text 47"/>
          <p:cNvSpPr txBox="1"/>
          <p:nvPr/>
        </p:nvSpPr>
        <p:spPr>
          <a:xfrm>
            <a:off x="6537960" y="467258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0" name="Text 48"/>
          <p:cNvSpPr txBox="1"/>
          <p:nvPr/>
        </p:nvSpPr>
        <p:spPr>
          <a:xfrm>
            <a:off x="7360920" y="467258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1" name="Shape 49"/>
          <p:cNvSpPr/>
          <p:nvPr/>
        </p:nvSpPr>
        <p:spPr>
          <a:xfrm>
            <a:off x="6537960" y="4956048"/>
            <a:ext cx="713232" cy="237744"/>
          </a:xfrm>
          <a:prstGeom prst="roundRect">
            <a:avLst>
              <a:gd name="adj" fmla="val 15385"/>
            </a:avLst>
          </a:prstGeom>
          <a:solidFill>
            <a:srgbClr val="2C5F2D"/>
          </a:solidFill>
          <a:ln w="12700">
            <a:solidFill>
              <a:srgbClr val="2C5F2D"/>
            </a:solidFill>
            <a:prstDash val="solid"/>
          </a:ln>
        </p:spPr>
      </p:sp>
      <p:sp>
        <p:nvSpPr>
          <p:cNvPr id="52" name="Text 50"/>
          <p:cNvSpPr txBox="1"/>
          <p:nvPr/>
        </p:nvSpPr>
        <p:spPr>
          <a:xfrm>
            <a:off x="6537960" y="4956048"/>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53" name="Text 51"/>
          <p:cNvSpPr txBox="1"/>
          <p:nvPr/>
        </p:nvSpPr>
        <p:spPr>
          <a:xfrm>
            <a:off x="7360920" y="4956048"/>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4" name="Shape 52"/>
          <p:cNvSpPr/>
          <p:nvPr/>
        </p:nvSpPr>
        <p:spPr>
          <a:xfrm>
            <a:off x="6537960" y="5239512"/>
            <a:ext cx="713232" cy="237744"/>
          </a:xfrm>
          <a:prstGeom prst="roundRect">
            <a:avLst>
              <a:gd name="adj" fmla="val 15385"/>
            </a:avLst>
          </a:prstGeom>
          <a:solidFill>
            <a:srgbClr val="2C5F2D"/>
          </a:solidFill>
          <a:ln w="12700">
            <a:solidFill>
              <a:srgbClr val="2C5F2D"/>
            </a:solidFill>
            <a:prstDash val="solid"/>
          </a:ln>
        </p:spPr>
      </p:sp>
      <p:sp>
        <p:nvSpPr>
          <p:cNvPr id="55" name="Text 53"/>
          <p:cNvSpPr txBox="1"/>
          <p:nvPr/>
        </p:nvSpPr>
        <p:spPr>
          <a:xfrm>
            <a:off x="6537960" y="523951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6" name="Text 54"/>
          <p:cNvSpPr txBox="1"/>
          <p:nvPr/>
        </p:nvSpPr>
        <p:spPr>
          <a:xfrm>
            <a:off x="7360920" y="523951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/alerts/{id}</a:t>
            </a:r>
            <a:endParaRPr lang="en-US" sz="1150" dirty="0"/>
          </a:p>
        </p:txBody>
      </p:sp>
      <p:sp>
        <p:nvSpPr>
          <p:cNvPr id="57" name="Shape 55"/>
          <p:cNvSpPr/>
          <p:nvPr/>
        </p:nvSpPr>
        <p:spPr>
          <a:xfrm>
            <a:off x="6537960" y="5522976"/>
            <a:ext cx="713232" cy="237744"/>
          </a:xfrm>
          <a:prstGeom prst="roundRect">
            <a:avLst>
              <a:gd name="adj" fmla="val 15385"/>
            </a:avLst>
          </a:prstGeom>
          <a:solidFill>
            <a:srgbClr val="2C5F2D"/>
          </a:solidFill>
          <a:ln w="12700">
            <a:solidFill>
              <a:srgbClr val="2C5F2D"/>
            </a:solidFill>
            <a:prstDash val="solid"/>
          </a:ln>
        </p:spPr>
      </p:sp>
      <p:sp>
        <p:nvSpPr>
          <p:cNvPr id="58" name="Text 56"/>
          <p:cNvSpPr txBox="1"/>
          <p:nvPr/>
        </p:nvSpPr>
        <p:spPr>
          <a:xfrm>
            <a:off x="6537960" y="552297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9" name="Text 57"/>
          <p:cNvSpPr txBox="1"/>
          <p:nvPr/>
        </p:nvSpPr>
        <p:spPr>
          <a:xfrm>
            <a:off x="7360920" y="552297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/weather</a:t>
            </a:r>
            <a:endParaRPr lang="en-US" sz="1150" dirty="0"/>
          </a:p>
        </p:txBody>
      </p:sp>
      <p:sp>
        <p:nvSpPr>
          <p:cNvPr id="60" name="Shape 58"/>
          <p:cNvSpPr/>
          <p:nvPr/>
        </p:nvSpPr>
        <p:spPr>
          <a:xfrm>
            <a:off x="548640" y="5943600"/>
            <a:ext cx="11064240" cy="502920"/>
          </a:xfrm>
          <a:prstGeom prst="roundRect">
            <a:avLst>
              <a:gd name="adj" fmla="val 10909"/>
            </a:avLst>
          </a:prstGeom>
          <a:solidFill>
            <a:srgbClr val="2C5F2D"/>
          </a:solidFill>
          <a:ln w="12700">
            <a:solidFill>
              <a:srgbClr val="2C5F2D"/>
            </a:solidFill>
            <a:prstDash val="solid"/>
          </a:ln>
        </p:spPr>
      </p:sp>
      <p:sp>
        <p:nvSpPr>
          <p:cNvPr id="61" name="Text 59"/>
          <p:cNvSpPr txBox="1"/>
          <p:nvPr/>
        </p:nvSpPr>
        <p:spPr>
          <a:xfrm>
            <a:off x="868680" y="5943600"/>
            <a:ext cx="1042416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Documentation interactive Swagger   ·   http://13.51.48.254:8000/docs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INTELLIGENCE ARTIFICIELLE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 cœur technique du projet</a:t>
            </a:r>
            <a:endParaRPr lang="en-US" sz="3400" dirty="0"/>
          </a:p>
        </p:txBody>
      </p:sp>
      <p:sp>
        <p:nvSpPr>
          <p:cNvPr id="4" name="Shape 2"/>
          <p:cNvSpPr/>
          <p:nvPr/>
        </p:nvSpPr>
        <p:spPr>
          <a:xfrm>
            <a:off x="548640" y="1572768"/>
            <a:ext cx="3474720" cy="1691640"/>
          </a:xfrm>
          <a:prstGeom prst="roundRect">
            <a:avLst>
              <a:gd name="adj" fmla="val 3243"/>
            </a:avLst>
          </a:prstGeom>
          <a:solidFill>
            <a:srgbClr val="26492A"/>
          </a:solidFill>
          <a:ln w="12700">
            <a:solidFill>
              <a:srgbClr val="26492A"/>
            </a:solidFill>
            <a:prstDash val="solid"/>
          </a:ln>
        </p:spPr>
      </p:sp>
      <p:sp>
        <p:nvSpPr>
          <p:cNvPr id="5" name="Text 3"/>
          <p:cNvSpPr txBox="1"/>
          <p:nvPr/>
        </p:nvSpPr>
        <p:spPr>
          <a:xfrm>
            <a:off x="82296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87 %</a:t>
            </a:r>
            <a:endParaRPr lang="en-US" sz="4800" dirty="0"/>
          </a:p>
        </p:txBody>
      </p:sp>
      <p:sp>
        <p:nvSpPr>
          <p:cNvPr id="6" name="Text 4"/>
          <p:cNvSpPr txBox="1"/>
          <p:nvPr/>
        </p:nvSpPr>
        <p:spPr>
          <a:xfrm>
            <a:off x="82296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 précision</a:t>
            </a:r>
            <a:endParaRPr lang="en-US" sz="1500" dirty="0"/>
          </a:p>
        </p:txBody>
      </p:sp>
      <p:sp>
        <p:nvSpPr>
          <p:cNvPr id="7" name="Text 5"/>
          <p:cNvSpPr txBox="1"/>
          <p:nvPr/>
        </p:nvSpPr>
        <p:spPr>
          <a:xfrm>
            <a:off x="82296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objectif : 85 %</a:t>
            </a:r>
            <a:endParaRPr lang="en-US" sz="1200" dirty="0"/>
          </a:p>
        </p:txBody>
      </p:sp>
      <p:sp>
        <p:nvSpPr>
          <p:cNvPr id="8" name="Shape 6"/>
          <p:cNvSpPr/>
          <p:nvPr/>
        </p:nvSpPr>
        <p:spPr>
          <a:xfrm>
            <a:off x="4343400" y="1572768"/>
            <a:ext cx="3474720" cy="1691640"/>
          </a:xfrm>
          <a:prstGeom prst="roundRect">
            <a:avLst>
              <a:gd name="adj" fmla="val 3243"/>
            </a:avLst>
          </a:prstGeom>
          <a:solidFill>
            <a:srgbClr val="26492A"/>
          </a:solidFill>
          <a:ln w="12700">
            <a:solidFill>
              <a:srgbClr val="26492A"/>
            </a:solidFill>
            <a:prstDash val="solid"/>
          </a:ln>
        </p:spPr>
      </p:sp>
      <p:sp>
        <p:nvSpPr>
          <p:cNvPr id="9" name="Text 7"/>
          <p:cNvSpPr txBox="1"/>
          <p:nvPr/>
        </p:nvSpPr>
        <p:spPr>
          <a:xfrm>
            <a:off x="461772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1,5 s</a:t>
            </a:r>
            <a:endParaRPr lang="en-US" sz="4800" dirty="0"/>
          </a:p>
        </p:txBody>
      </p:sp>
      <p:sp>
        <p:nvSpPr>
          <p:cNvPr id="10" name="Text 8"/>
          <p:cNvSpPr txBox="1"/>
          <p:nvPr/>
        </p:nvSpPr>
        <p:spPr>
          <a:xfrm>
            <a:off x="461772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par diagnostic</a:t>
            </a:r>
            <a:endParaRPr lang="en-US" sz="1500" dirty="0"/>
          </a:p>
        </p:txBody>
      </p:sp>
      <p:sp>
        <p:nvSpPr>
          <p:cNvPr id="11" name="Text 9"/>
          <p:cNvSpPr txBox="1"/>
          <p:nvPr/>
        </p:nvSpPr>
        <p:spPr>
          <a:xfrm>
            <a:off x="461772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objectif : moins de 2 s</a:t>
            </a:r>
            <a:endParaRPr lang="en-US" sz="1200" dirty="0"/>
          </a:p>
        </p:txBody>
      </p:sp>
      <p:sp>
        <p:nvSpPr>
          <p:cNvPr id="12" name="Shape 10"/>
          <p:cNvSpPr/>
          <p:nvPr/>
        </p:nvSpPr>
        <p:spPr>
          <a:xfrm>
            <a:off x="8138160" y="1572768"/>
            <a:ext cx="3474720" cy="1691640"/>
          </a:xfrm>
          <a:prstGeom prst="roundRect">
            <a:avLst>
              <a:gd name="adj" fmla="val 3243"/>
            </a:avLst>
          </a:prstGeom>
          <a:solidFill>
            <a:srgbClr val="26492A"/>
          </a:solidFill>
          <a:ln w="12700">
            <a:solidFill>
              <a:srgbClr val="26492A"/>
            </a:solidFill>
            <a:prstDash val="solid"/>
          </a:ln>
        </p:spPr>
      </p:sp>
      <p:sp>
        <p:nvSpPr>
          <p:cNvPr id="13" name="Text 11"/>
          <p:cNvSpPr txBox="1"/>
          <p:nvPr/>
        </p:nvSpPr>
        <p:spPr>
          <a:xfrm>
            <a:off x="841248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5</a:t>
            </a:r>
            <a:endParaRPr lang="en-US" sz="4800" dirty="0"/>
          </a:p>
        </p:txBody>
      </p:sp>
      <p:sp>
        <p:nvSpPr>
          <p:cNvPr id="14" name="Text 12"/>
          <p:cNvSpPr txBox="1"/>
          <p:nvPr/>
        </p:nvSpPr>
        <p:spPr>
          <a:xfrm>
            <a:off x="841248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maladies détectées</a:t>
            </a:r>
            <a:endParaRPr lang="en-US" sz="1500" dirty="0"/>
          </a:p>
        </p:txBody>
      </p:sp>
      <p:sp>
        <p:nvSpPr>
          <p:cNvPr id="15" name="Text 13"/>
          <p:cNvSpPr txBox="1"/>
          <p:nvPr/>
        </p:nvSpPr>
        <p:spPr>
          <a:xfrm>
            <a:off x="841248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plus l'état sain</a:t>
            </a:r>
            <a:endParaRPr lang="en-US" sz="1200" dirty="0"/>
          </a:p>
        </p:txBody>
      </p:sp>
      <p:sp>
        <p:nvSpPr>
          <p:cNvPr id="16" name="Text 14"/>
          <p:cNvSpPr txBox="1"/>
          <p:nvPr/>
        </p:nvSpPr>
        <p:spPr>
          <a:xfrm>
            <a:off x="548640" y="3657600"/>
            <a:ext cx="54864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CHAÎNE DE TRAITEMENT</a:t>
            </a:r>
            <a:endParaRPr lang="en-US" sz="1100" dirty="0"/>
          </a:p>
        </p:txBody>
      </p:sp>
      <p:sp>
        <p:nvSpPr>
          <p:cNvPr id="17" name="Shape 15"/>
          <p:cNvSpPr/>
          <p:nvPr/>
        </p:nvSpPr>
        <p:spPr>
          <a:xfrm>
            <a:off x="548640" y="3977640"/>
            <a:ext cx="2594610" cy="1554480"/>
          </a:xfrm>
          <a:prstGeom prst="roundRect">
            <a:avLst>
              <a:gd name="adj" fmla="val 3529"/>
            </a:avLst>
          </a:prstGeom>
          <a:solidFill>
            <a:srgbClr val="26492A"/>
          </a:solidFill>
          <a:ln w="12700">
            <a:solidFill>
              <a:srgbClr val="26492A"/>
            </a:solidFill>
            <a:prstDash val="solid"/>
          </a:ln>
        </p:spPr>
      </p:sp>
      <p:sp>
        <p:nvSpPr>
          <p:cNvPr id="18" name="Shape 16"/>
          <p:cNvSpPr/>
          <p:nvPr/>
        </p:nvSpPr>
        <p:spPr>
          <a:xfrm>
            <a:off x="777240" y="4178808"/>
            <a:ext cx="420624" cy="420624"/>
          </a:xfrm>
          <a:prstGeom prst="ellipse">
            <a:avLst/>
          </a:prstGeom>
          <a:solidFill>
            <a:srgbClr val="97BC62"/>
          </a:solidFill>
          <a:ln w="12700">
            <a:solidFill>
              <a:srgbClr val="97BC62"/>
            </a:solidFill>
            <a:prstDash val="solid"/>
          </a:ln>
        </p:spPr>
      </p:sp>
      <p:sp>
        <p:nvSpPr>
          <p:cNvPr id="19" name="Text 17"/>
          <p:cNvSpPr txBox="1"/>
          <p:nvPr/>
        </p:nvSpPr>
        <p:spPr>
          <a:xfrm>
            <a:off x="77724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1</a:t>
            </a:r>
            <a:endParaRPr lang="en-US" sz="1400" dirty="0"/>
          </a:p>
        </p:txBody>
      </p:sp>
      <p:sp>
        <p:nvSpPr>
          <p:cNvPr id="20" name="Text 18"/>
          <p:cNvSpPr txBox="1"/>
          <p:nvPr/>
        </p:nvSpPr>
        <p:spPr>
          <a:xfrm>
            <a:off x="129844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Réception</a:t>
            </a:r>
            <a:endParaRPr lang="en-US" sz="1400" dirty="0"/>
          </a:p>
        </p:txBody>
      </p:sp>
      <p:sp>
        <p:nvSpPr>
          <p:cNvPr id="21" name="Text 19"/>
          <p:cNvSpPr txBox="1"/>
          <p:nvPr/>
        </p:nvSpPr>
        <p:spPr>
          <a:xfrm>
            <a:off x="77724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Photo envoyée à l'API</a:t>
            </a:r>
            <a:endParaRPr lang="en-US" sz="1150" dirty="0"/>
          </a:p>
        </p:txBody>
      </p:sp>
      <p:sp>
        <p:nvSpPr>
          <p:cNvPr id="22" name="Shape 20"/>
          <p:cNvSpPr/>
          <p:nvPr/>
        </p:nvSpPr>
        <p:spPr>
          <a:xfrm>
            <a:off x="3371850" y="3977640"/>
            <a:ext cx="2594610" cy="1554480"/>
          </a:xfrm>
          <a:prstGeom prst="roundRect">
            <a:avLst>
              <a:gd name="adj" fmla="val 3529"/>
            </a:avLst>
          </a:prstGeom>
          <a:solidFill>
            <a:srgbClr val="26492A"/>
          </a:solidFill>
          <a:ln w="12700">
            <a:solidFill>
              <a:srgbClr val="26492A"/>
            </a:solidFill>
            <a:prstDash val="solid"/>
          </a:ln>
        </p:spPr>
      </p:sp>
      <p:sp>
        <p:nvSpPr>
          <p:cNvPr id="23" name="Shape 21"/>
          <p:cNvSpPr/>
          <p:nvPr/>
        </p:nvSpPr>
        <p:spPr>
          <a:xfrm>
            <a:off x="3600450" y="4178808"/>
            <a:ext cx="420624" cy="420624"/>
          </a:xfrm>
          <a:prstGeom prst="ellipse">
            <a:avLst/>
          </a:prstGeom>
          <a:solidFill>
            <a:srgbClr val="97BC62"/>
          </a:solidFill>
          <a:ln w="12700">
            <a:solidFill>
              <a:srgbClr val="97BC62"/>
            </a:solidFill>
            <a:prstDash val="solid"/>
          </a:ln>
        </p:spPr>
      </p:sp>
      <p:sp>
        <p:nvSpPr>
          <p:cNvPr id="24" name="Text 22"/>
          <p:cNvSpPr txBox="1"/>
          <p:nvPr/>
        </p:nvSpPr>
        <p:spPr>
          <a:xfrm>
            <a:off x="360045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2</a:t>
            </a:r>
            <a:endParaRPr lang="en-US" sz="1400" dirty="0"/>
          </a:p>
        </p:txBody>
      </p:sp>
      <p:sp>
        <p:nvSpPr>
          <p:cNvPr id="25" name="Text 23"/>
          <p:cNvSpPr txBox="1"/>
          <p:nvPr/>
        </p:nvSpPr>
        <p:spPr>
          <a:xfrm>
            <a:off x="412165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Analyse</a:t>
            </a:r>
            <a:endParaRPr lang="en-US" sz="1400" dirty="0"/>
          </a:p>
        </p:txBody>
      </p:sp>
      <p:sp>
        <p:nvSpPr>
          <p:cNvPr id="26" name="Text 24"/>
          <p:cNvSpPr txBox="1"/>
          <p:nvPr/>
        </p:nvSpPr>
        <p:spPr>
          <a:xfrm>
            <a:off x="360045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OpenCV lit couleur, saturation, contraste et texture</a:t>
            </a:r>
            <a:endParaRPr lang="en-US" sz="1150" dirty="0"/>
          </a:p>
        </p:txBody>
      </p:sp>
      <p:sp>
        <p:nvSpPr>
          <p:cNvPr id="27" name="Shape 25"/>
          <p:cNvSpPr/>
          <p:nvPr/>
        </p:nvSpPr>
        <p:spPr>
          <a:xfrm>
            <a:off x="6195060" y="3977640"/>
            <a:ext cx="2594610" cy="1554480"/>
          </a:xfrm>
          <a:prstGeom prst="roundRect">
            <a:avLst>
              <a:gd name="adj" fmla="val 3529"/>
            </a:avLst>
          </a:prstGeom>
          <a:solidFill>
            <a:srgbClr val="26492A"/>
          </a:solidFill>
          <a:ln w="12700">
            <a:solidFill>
              <a:srgbClr val="26492A"/>
            </a:solidFill>
            <a:prstDash val="solid"/>
          </a:ln>
        </p:spPr>
      </p:sp>
      <p:sp>
        <p:nvSpPr>
          <p:cNvPr id="28" name="Shape 26"/>
          <p:cNvSpPr/>
          <p:nvPr/>
        </p:nvSpPr>
        <p:spPr>
          <a:xfrm>
            <a:off x="6423660" y="4178808"/>
            <a:ext cx="420624" cy="420624"/>
          </a:xfrm>
          <a:prstGeom prst="ellipse">
            <a:avLst/>
          </a:prstGeom>
          <a:solidFill>
            <a:srgbClr val="97BC62"/>
          </a:solidFill>
          <a:ln w="12700">
            <a:solidFill>
              <a:srgbClr val="97BC62"/>
            </a:solidFill>
            <a:prstDash val="solid"/>
          </a:ln>
        </p:spPr>
      </p:sp>
      <p:sp>
        <p:nvSpPr>
          <p:cNvPr id="29" name="Text 27"/>
          <p:cNvSpPr txBox="1"/>
          <p:nvPr/>
        </p:nvSpPr>
        <p:spPr>
          <a:xfrm>
            <a:off x="642366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3</a:t>
            </a:r>
            <a:endParaRPr lang="en-US" sz="1400" dirty="0"/>
          </a:p>
        </p:txBody>
      </p:sp>
      <p:sp>
        <p:nvSpPr>
          <p:cNvPr id="30" name="Text 28"/>
          <p:cNvSpPr txBox="1"/>
          <p:nvPr/>
        </p:nvSpPr>
        <p:spPr>
          <a:xfrm>
            <a:off x="694486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Comparaison</a:t>
            </a:r>
            <a:endParaRPr lang="en-US" sz="1400" dirty="0"/>
          </a:p>
        </p:txBody>
      </p:sp>
      <p:sp>
        <p:nvSpPr>
          <p:cNvPr id="31" name="Text 29"/>
          <p:cNvSpPr txBox="1"/>
          <p:nvPr/>
        </p:nvSpPr>
        <p:spPr>
          <a:xfrm>
            <a:off x="642366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Confrontation aux signatures connues</a:t>
            </a:r>
            <a:endParaRPr lang="en-US" sz="1150" dirty="0"/>
          </a:p>
        </p:txBody>
      </p:sp>
      <p:sp>
        <p:nvSpPr>
          <p:cNvPr id="32" name="Shape 30"/>
          <p:cNvSpPr/>
          <p:nvPr/>
        </p:nvSpPr>
        <p:spPr>
          <a:xfrm>
            <a:off x="9018270" y="3977640"/>
            <a:ext cx="2594610" cy="1554480"/>
          </a:xfrm>
          <a:prstGeom prst="roundRect">
            <a:avLst>
              <a:gd name="adj" fmla="val 3529"/>
            </a:avLst>
          </a:prstGeom>
          <a:solidFill>
            <a:srgbClr val="26492A"/>
          </a:solidFill>
          <a:ln w="12700">
            <a:solidFill>
              <a:srgbClr val="26492A"/>
            </a:solidFill>
            <a:prstDash val="solid"/>
          </a:ln>
        </p:spPr>
      </p:sp>
      <p:sp>
        <p:nvSpPr>
          <p:cNvPr id="33" name="Shape 31"/>
          <p:cNvSpPr/>
          <p:nvPr/>
        </p:nvSpPr>
        <p:spPr>
          <a:xfrm>
            <a:off x="9246870" y="4178808"/>
            <a:ext cx="420624" cy="420624"/>
          </a:xfrm>
          <a:prstGeom prst="ellipse">
            <a:avLst/>
          </a:prstGeom>
          <a:solidFill>
            <a:srgbClr val="97BC62"/>
          </a:solidFill>
          <a:ln w="12700">
            <a:solidFill>
              <a:srgbClr val="97BC62"/>
            </a:solidFill>
            <a:prstDash val="solid"/>
          </a:ln>
        </p:spPr>
      </p:sp>
      <p:sp>
        <p:nvSpPr>
          <p:cNvPr id="34" name="Text 32"/>
          <p:cNvSpPr txBox="1"/>
          <p:nvPr/>
        </p:nvSpPr>
        <p:spPr>
          <a:xfrm>
            <a:off x="924687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4</a:t>
            </a:r>
            <a:endParaRPr lang="en-US" sz="1400" dirty="0"/>
          </a:p>
        </p:txBody>
      </p:sp>
      <p:sp>
        <p:nvSpPr>
          <p:cNvPr id="35" name="Text 33"/>
          <p:cNvSpPr txBox="1"/>
          <p:nvPr/>
        </p:nvSpPr>
        <p:spPr>
          <a:xfrm>
            <a:off x="976807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Résultat</a:t>
            </a:r>
            <a:endParaRPr lang="en-US" sz="1400" dirty="0"/>
          </a:p>
        </p:txBody>
      </p:sp>
      <p:sp>
        <p:nvSpPr>
          <p:cNvPr id="36" name="Text 34"/>
          <p:cNvSpPr txBox="1"/>
          <p:nvPr/>
        </p:nvSpPr>
        <p:spPr>
          <a:xfrm>
            <a:off x="924687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Maladie probable et indice de confiance</a:t>
            </a:r>
            <a:endParaRPr lang="en-US" sz="1150" dirty="0"/>
          </a:p>
        </p:txBody>
      </p:sp>
      <p:sp>
        <p:nvSpPr>
          <p:cNvPr id="37" name="Text 35"/>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350" dirty="0">
                <a:solidFill>
                  <a:srgbClr val="97BC62"/>
                </a:solidFill>
                <a:latin typeface="Calibri" pitchFamily="34" charset="0"/>
                <a:ea typeface="Calibri" pitchFamily="34" charset="-122"/>
                <a:cs typeface="Calibri" pitchFamily="34" charset="-120"/>
              </a:rPr>
              <a:t>Maladies couvertes  ·  Mildiou  ·  Oïdium  ·  Rouille  ·  Brûlure des feuilles  ·  Tache noire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couches de protection</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2C5F2D"/>
          </a:solidFill>
          <a:ln w="12700">
            <a:solidFill>
              <a:srgbClr val="2C5F2D"/>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Jetons JWT</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utilisateur reçoit un jeton signé valable trente jours, sans session côté serveur.</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2C5F2D"/>
          </a:solidFill>
          <a:ln w="12700">
            <a:solidFill>
              <a:srgbClr val="2C5F2D"/>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Hachage Bcrypt</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mots de passe sont hachés avec sel et restent irrécupérables même en cas de fuite.</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2C5F2D"/>
          </a:solidFill>
          <a:ln w="12700">
            <a:solidFill>
              <a:srgbClr val="2C5F2D"/>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Validation Pydantic</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Toute donnée entrante est typée et contrôlée avant d'atteindre la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2C5F2D"/>
          </a:solidFill>
          <a:ln w="12700">
            <a:solidFill>
              <a:srgbClr val="2C5F2D"/>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CORS configuré</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requêtes provenant d'autres origines sont explicitement contrôlées.</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2C5F2D"/>
          </a:solidFill>
          <a:ln w="12700">
            <a:solidFill>
              <a:srgbClr val="2C5F2D"/>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HTTPS prêt</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 passage en TLS via Let's Encrypt ne demande aucune modification du code.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2C5F2D"/>
          </a:solidFill>
          <a:ln w="12700">
            <a:solidFill>
              <a:srgbClr val="2C5F2D"/>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Isolation des données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compte n'accède qu'à ses propres parcelles et diagnostics.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DÉPLOIEMENT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En production sur AWS, pas sur un ordinateur portable</a:t>
            </a:r>
            <a:endParaRPr lang="en-US" sz="3400" dirty="0"/>
          </a:p>
        </p:txBody>
      </p:sp>
      <p:sp>
        <p:nvSpPr>
          <p:cNvPr id="4" name="Shape 2"/>
          <p:cNvSpPr/>
          <p:nvPr/>
        </p:nvSpPr>
        <p:spPr>
          <a:xfrm>
            <a:off x="548640" y="1600200"/>
            <a:ext cx="5349240" cy="4206240"/>
          </a:xfrm>
          <a:prstGeom prst="roundRect">
            <a:avLst>
              <a:gd name="adj" fmla="val 1304"/>
            </a:avLst>
          </a:prstGeom>
          <a:solidFill>
            <a:srgbClr val="EEF3EA"/>
          </a:solidFill>
          <a:ln w="12700">
            <a:solidFill>
              <a:srgbClr val="EEF3EA"/>
            </a:solidFill>
            <a:prstDash val="solid"/>
          </a:ln>
        </p:spPr>
      </p:sp>
      <p:sp>
        <p:nvSpPr>
          <p:cNvPr id="5" name="Text 3"/>
          <p:cNvSpPr txBox="1"/>
          <p:nvPr/>
        </p:nvSpPr>
        <p:spPr>
          <a:xfrm>
            <a:off x="822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4A7A3A"/>
                </a:solidFill>
                <a:latin typeface="Calibri" pitchFamily="34" charset="0"/>
                <a:ea typeface="Calibri" pitchFamily="34" charset="-122"/>
                <a:cs typeface="Calibri" pitchFamily="34" charset="-120"/>
              </a:rPr>
              <a:t>Instance</a:t>
            </a:r>
            <a:endParaRPr lang="en-US" sz="1200" dirty="0"/>
          </a:p>
        </p:txBody>
      </p:sp>
      <p:sp>
        <p:nvSpPr>
          <p:cNvPr id="6" name="Text 4"/>
          <p:cNvSpPr txBox="1"/>
          <p:nvPr/>
        </p:nvSpPr>
        <p:spPr>
          <a:xfrm>
            <a:off x="822960" y="2240280"/>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Type</a:t>
            </a:r>
            <a:endParaRPr lang="en-US" sz="1300" dirty="0"/>
          </a:p>
        </p:txBody>
      </p:sp>
      <p:sp>
        <p:nvSpPr>
          <p:cNvPr id="7" name="Text 5"/>
          <p:cNvSpPr txBox="1"/>
          <p:nvPr/>
        </p:nvSpPr>
        <p:spPr>
          <a:xfrm>
            <a:off x="3017520" y="2240280"/>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EC2 t2.micro</a:t>
            </a:r>
            <a:endParaRPr lang="en-US" sz="1400" dirty="0"/>
          </a:p>
        </p:txBody>
      </p:sp>
      <p:sp>
        <p:nvSpPr>
          <p:cNvPr id="8" name="Text 6"/>
          <p:cNvSpPr txBox="1"/>
          <p:nvPr/>
        </p:nvSpPr>
        <p:spPr>
          <a:xfrm>
            <a:off x="822960" y="2898648"/>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Système</a:t>
            </a:r>
            <a:endParaRPr lang="en-US" sz="1300" dirty="0"/>
          </a:p>
        </p:txBody>
      </p:sp>
      <p:sp>
        <p:nvSpPr>
          <p:cNvPr id="9" name="Text 7"/>
          <p:cNvSpPr txBox="1"/>
          <p:nvPr/>
        </p:nvSpPr>
        <p:spPr>
          <a:xfrm>
            <a:off x="3017520" y="2898648"/>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Ubuntu Server LTS</a:t>
            </a:r>
            <a:endParaRPr lang="en-US" sz="1400" dirty="0"/>
          </a:p>
        </p:txBody>
      </p:sp>
      <p:sp>
        <p:nvSpPr>
          <p:cNvPr id="10" name="Text 8"/>
          <p:cNvSpPr txBox="1"/>
          <p:nvPr/>
        </p:nvSpPr>
        <p:spPr>
          <a:xfrm>
            <a:off x="822960" y="3557016"/>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Adresse publique</a:t>
            </a:r>
            <a:endParaRPr lang="en-US" sz="1300" dirty="0"/>
          </a:p>
        </p:txBody>
      </p:sp>
      <p:sp>
        <p:nvSpPr>
          <p:cNvPr id="11" name="Text 9"/>
          <p:cNvSpPr txBox="1"/>
          <p:nvPr/>
        </p:nvSpPr>
        <p:spPr>
          <a:xfrm>
            <a:off x="3017520" y="3557016"/>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13.51.48.254</a:t>
            </a:r>
            <a:endParaRPr lang="en-US" sz="1400" dirty="0"/>
          </a:p>
        </p:txBody>
      </p:sp>
      <p:sp>
        <p:nvSpPr>
          <p:cNvPr id="12" name="Text 10"/>
          <p:cNvSpPr txBox="1"/>
          <p:nvPr/>
        </p:nvSpPr>
        <p:spPr>
          <a:xfrm>
            <a:off x="822960" y="4215384"/>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Disponibilité</a:t>
            </a:r>
            <a:endParaRPr lang="en-US" sz="1300" dirty="0"/>
          </a:p>
        </p:txBody>
      </p:sp>
      <p:sp>
        <p:nvSpPr>
          <p:cNvPr id="13" name="Text 11"/>
          <p:cNvSpPr txBox="1"/>
          <p:nvPr/>
        </p:nvSpPr>
        <p:spPr>
          <a:xfrm>
            <a:off x="3017520" y="4215384"/>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24 h / 24, 7 j / 7</a:t>
            </a:r>
            <a:endParaRPr lang="en-US" sz="1400" dirty="0"/>
          </a:p>
        </p:txBody>
      </p:sp>
      <p:sp>
        <p:nvSpPr>
          <p:cNvPr id="14" name="Text 12"/>
          <p:cNvSpPr txBox="1"/>
          <p:nvPr/>
        </p:nvSpPr>
        <p:spPr>
          <a:xfrm>
            <a:off x="822960" y="4873752"/>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Coût</a:t>
            </a:r>
            <a:endParaRPr lang="en-US" sz="1300" dirty="0"/>
          </a:p>
        </p:txBody>
      </p:sp>
      <p:sp>
        <p:nvSpPr>
          <p:cNvPr id="15" name="Text 13"/>
          <p:cNvSpPr txBox="1"/>
          <p:nvPr/>
        </p:nvSpPr>
        <p:spPr>
          <a:xfrm>
            <a:off x="3017520" y="4873752"/>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Gratuit pendant douze mois</a:t>
            </a:r>
            <a:endParaRPr lang="en-US" sz="1400" dirty="0"/>
          </a:p>
        </p:txBody>
      </p:sp>
      <p:sp>
        <p:nvSpPr>
          <p:cNvPr id="16" name="Shape 14"/>
          <p:cNvSpPr/>
          <p:nvPr/>
        </p:nvSpPr>
        <p:spPr>
          <a:xfrm>
            <a:off x="6263640" y="1600200"/>
            <a:ext cx="5349240" cy="4206240"/>
          </a:xfrm>
          <a:prstGeom prst="roundRect">
            <a:avLst>
              <a:gd name="adj" fmla="val 1304"/>
            </a:avLst>
          </a:prstGeom>
          <a:solidFill>
            <a:srgbClr val="2C5F2D"/>
          </a:solidFill>
          <a:ln w="12700">
            <a:solidFill>
              <a:srgbClr val="2C5F2D"/>
            </a:solidFill>
            <a:prstDash val="solid"/>
          </a:ln>
        </p:spPr>
      </p:sp>
      <p:sp>
        <p:nvSpPr>
          <p:cNvPr id="17" name="Text 15"/>
          <p:cNvSpPr txBox="1"/>
          <p:nvPr/>
        </p:nvSpPr>
        <p:spPr>
          <a:xfrm>
            <a:off x="6537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97BC62"/>
                </a:solidFill>
                <a:latin typeface="Calibri" pitchFamily="34" charset="0"/>
                <a:ea typeface="Calibri" pitchFamily="34" charset="-122"/>
                <a:cs typeface="Calibri" pitchFamily="34" charset="-120"/>
              </a:rPr>
              <a:t>Conteneurs Docker</a:t>
            </a:r>
            <a:endParaRPr lang="en-US" sz="1200" dirty="0"/>
          </a:p>
        </p:txBody>
      </p:sp>
      <p:sp>
        <p:nvSpPr>
          <p:cNvPr id="18" name="Shape 16"/>
          <p:cNvSpPr/>
          <p:nvPr/>
        </p:nvSpPr>
        <p:spPr>
          <a:xfrm>
            <a:off x="6537960" y="2286000"/>
            <a:ext cx="4800600" cy="868680"/>
          </a:xfrm>
          <a:prstGeom prst="roundRect">
            <a:avLst>
              <a:gd name="adj" fmla="val 6316"/>
            </a:avLst>
          </a:prstGeom>
          <a:solidFill>
            <a:srgbClr val="26492A"/>
          </a:solidFill>
          <a:ln w="12700">
            <a:solidFill>
              <a:srgbClr val="26492A"/>
            </a:solidFill>
            <a:prstDash val="solid"/>
          </a:ln>
        </p:spPr>
      </p:sp>
      <p:sp>
        <p:nvSpPr>
          <p:cNvPr id="19" name="Text 17"/>
          <p:cNvSpPr txBox="1"/>
          <p:nvPr/>
        </p:nvSpPr>
        <p:spPr>
          <a:xfrm>
            <a:off x="6812280" y="2404872"/>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FastAPI</a:t>
            </a:r>
            <a:endParaRPr lang="en-US" sz="1500" dirty="0"/>
          </a:p>
        </p:txBody>
      </p:sp>
      <p:sp>
        <p:nvSpPr>
          <p:cNvPr id="20" name="Text 18"/>
          <p:cNvSpPr txBox="1"/>
          <p:nvPr/>
        </p:nvSpPr>
        <p:spPr>
          <a:xfrm>
            <a:off x="6812280" y="2724912"/>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API et interface web</a:t>
            </a:r>
            <a:endParaRPr lang="en-US" sz="1150" dirty="0"/>
          </a:p>
        </p:txBody>
      </p:sp>
      <p:sp>
        <p:nvSpPr>
          <p:cNvPr id="21" name="Text 19"/>
          <p:cNvSpPr txBox="1"/>
          <p:nvPr/>
        </p:nvSpPr>
        <p:spPr>
          <a:xfrm>
            <a:off x="9601200" y="2404872"/>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8000</a:t>
            </a:r>
            <a:endParaRPr lang="en-US" sz="1200" dirty="0"/>
          </a:p>
        </p:txBody>
      </p:sp>
      <p:sp>
        <p:nvSpPr>
          <p:cNvPr id="22" name="Shape 20"/>
          <p:cNvSpPr/>
          <p:nvPr/>
        </p:nvSpPr>
        <p:spPr>
          <a:xfrm>
            <a:off x="6537960" y="3310128"/>
            <a:ext cx="4800600" cy="868680"/>
          </a:xfrm>
          <a:prstGeom prst="roundRect">
            <a:avLst>
              <a:gd name="adj" fmla="val 6316"/>
            </a:avLst>
          </a:prstGeom>
          <a:solidFill>
            <a:srgbClr val="26492A"/>
          </a:solidFill>
          <a:ln w="12700">
            <a:solidFill>
              <a:srgbClr val="26492A"/>
            </a:solidFill>
            <a:prstDash val="solid"/>
          </a:ln>
        </p:spPr>
      </p:sp>
      <p:sp>
        <p:nvSpPr>
          <p:cNvPr id="23" name="Text 21"/>
          <p:cNvSpPr txBox="1"/>
          <p:nvPr/>
        </p:nvSpPr>
        <p:spPr>
          <a:xfrm>
            <a:off x="6812280" y="3429000"/>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PostgreSQL 15</a:t>
            </a:r>
            <a:endParaRPr lang="en-US" sz="1500" dirty="0"/>
          </a:p>
        </p:txBody>
      </p:sp>
      <p:sp>
        <p:nvSpPr>
          <p:cNvPr id="24" name="Text 22"/>
          <p:cNvSpPr txBox="1"/>
          <p:nvPr/>
        </p:nvSpPr>
        <p:spPr>
          <a:xfrm>
            <a:off x="6812280" y="3749040"/>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Données persistantes</a:t>
            </a:r>
            <a:endParaRPr lang="en-US" sz="1150" dirty="0"/>
          </a:p>
        </p:txBody>
      </p:sp>
      <p:sp>
        <p:nvSpPr>
          <p:cNvPr id="25" name="Text 23"/>
          <p:cNvSpPr txBox="1"/>
          <p:nvPr/>
        </p:nvSpPr>
        <p:spPr>
          <a:xfrm>
            <a:off x="9601200" y="3429000"/>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5432</a:t>
            </a:r>
            <a:endParaRPr lang="en-US" sz="1200" dirty="0"/>
          </a:p>
        </p:txBody>
      </p:sp>
      <p:sp>
        <p:nvSpPr>
          <p:cNvPr id="26" name="Shape 24"/>
          <p:cNvSpPr/>
          <p:nvPr/>
        </p:nvSpPr>
        <p:spPr>
          <a:xfrm>
            <a:off x="6537960" y="4334256"/>
            <a:ext cx="4800600" cy="868680"/>
          </a:xfrm>
          <a:prstGeom prst="roundRect">
            <a:avLst>
              <a:gd name="adj" fmla="val 6316"/>
            </a:avLst>
          </a:prstGeom>
          <a:solidFill>
            <a:srgbClr val="26492A"/>
          </a:solidFill>
          <a:ln w="12700">
            <a:solidFill>
              <a:srgbClr val="26492A"/>
            </a:solidFill>
            <a:prstDash val="solid"/>
          </a:ln>
        </p:spPr>
      </p:sp>
      <p:sp>
        <p:nvSpPr>
          <p:cNvPr id="27" name="Text 25"/>
          <p:cNvSpPr txBox="1"/>
          <p:nvPr/>
        </p:nvSpPr>
        <p:spPr>
          <a:xfrm>
            <a:off x="6812280" y="4453128"/>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Redis 7</a:t>
            </a:r>
            <a:endParaRPr lang="en-US" sz="1500" dirty="0"/>
          </a:p>
        </p:txBody>
      </p:sp>
      <p:sp>
        <p:nvSpPr>
          <p:cNvPr id="28" name="Text 26"/>
          <p:cNvSpPr txBox="1"/>
          <p:nvPr/>
        </p:nvSpPr>
        <p:spPr>
          <a:xfrm>
            <a:off x="6812280" y="4773168"/>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Cache et sessions</a:t>
            </a:r>
            <a:endParaRPr lang="en-US" sz="1150" dirty="0"/>
          </a:p>
        </p:txBody>
      </p:sp>
      <p:sp>
        <p:nvSpPr>
          <p:cNvPr id="29" name="Text 27"/>
          <p:cNvSpPr txBox="1"/>
          <p:nvPr/>
        </p:nvSpPr>
        <p:spPr>
          <a:xfrm>
            <a:off x="9601200" y="4453128"/>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6379</a:t>
            </a:r>
            <a:endParaRPr lang="en-US" sz="1200" dirty="0"/>
          </a:p>
        </p:txBody>
      </p:sp>
      <p:sp>
        <p:nvSpPr>
          <p:cNvPr id="30" name="Text 28"/>
          <p:cNvSpPr txBox="1"/>
          <p:nvPr/>
        </p:nvSpPr>
        <p:spPr>
          <a:xfrm>
            <a:off x="6537960" y="5413248"/>
            <a:ext cx="4800600" cy="320040"/>
          </a:xfrm>
          <a:prstGeom prst="rect">
            <a:avLst/>
          </a:prstGeom>
          <a:noFill/>
          <a:ln/>
        </p:spPr>
        <p:txBody>
          <a:bodyPr wrap="square" lIns="0" tIns="0" rIns="0" bIns="0" rtlCol="0" anchor="ctr"/>
          <a:lstStyle/>
          <a:p>
            <a:pPr indent="0" marL="0">
              <a:buNone/>
            </a:pPr>
            <a:r>
              <a:rPr lang="en-US" sz="1200" i="1" dirty="0">
                <a:solidFill>
                  <a:srgbClr val="D8E8CF"/>
                </a:solidFill>
                <a:latin typeface="Calibri" pitchFamily="34" charset="0"/>
                <a:ea typeface="Calibri" pitchFamily="34" charset="-122"/>
                <a:cs typeface="Calibri" pitchFamily="34" charset="-120"/>
              </a:rPr>
              <a:t>Volumes persistants : les données survivent à tout redémarrage des conteneurs.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RÉSULTATS MESURÉS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Chaque cible du cahier des charges est dépassée</a:t>
            </a:r>
            <a:endParaRPr lang="en-US" sz="3400" dirty="0"/>
          </a:p>
        </p:txBody>
      </p:sp>
      <p:sp>
        <p:nvSpPr>
          <p:cNvPr id="4" name="Shape 2"/>
          <p:cNvSpPr/>
          <p:nvPr/>
        </p:nvSpPr>
        <p:spPr>
          <a:xfrm>
            <a:off x="548640" y="1572768"/>
            <a:ext cx="2594610" cy="1554480"/>
          </a:xfrm>
          <a:prstGeom prst="roundRect">
            <a:avLst>
              <a:gd name="adj" fmla="val 3529"/>
            </a:avLst>
          </a:prstGeom>
          <a:solidFill>
            <a:srgbClr val="EEF3EA"/>
          </a:solidFill>
          <a:ln w="12700">
            <a:solidFill>
              <a:srgbClr val="EEF3EA"/>
            </a:solidFill>
            <a:prstDash val="solid"/>
          </a:ln>
        </p:spPr>
      </p:sp>
      <p:sp>
        <p:nvSpPr>
          <p:cNvPr id="5" name="Text 3"/>
          <p:cNvSpPr txBox="1"/>
          <p:nvPr/>
        </p:nvSpPr>
        <p:spPr>
          <a:xfrm>
            <a:off x="77724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18</a:t>
            </a:r>
            <a:endParaRPr lang="en-US" sz="4000" dirty="0"/>
          </a:p>
        </p:txBody>
      </p:sp>
      <p:sp>
        <p:nvSpPr>
          <p:cNvPr id="6" name="Text 4"/>
          <p:cNvSpPr txBox="1"/>
          <p:nvPr/>
        </p:nvSpPr>
        <p:spPr>
          <a:xfrm>
            <a:off x="77724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endpoints livrés</a:t>
            </a:r>
            <a:endParaRPr lang="en-US" sz="1350" dirty="0"/>
          </a:p>
        </p:txBody>
      </p:sp>
      <p:sp>
        <p:nvSpPr>
          <p:cNvPr id="7" name="Text 5"/>
          <p:cNvSpPr txBox="1"/>
          <p:nvPr/>
        </p:nvSpPr>
        <p:spPr>
          <a:xfrm>
            <a:off x="77724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cible : 5</a:t>
            </a:r>
            <a:endParaRPr lang="en-US" sz="1150" dirty="0"/>
          </a:p>
        </p:txBody>
      </p:sp>
      <p:sp>
        <p:nvSpPr>
          <p:cNvPr id="8" name="Shape 6"/>
          <p:cNvSpPr/>
          <p:nvPr/>
        </p:nvSpPr>
        <p:spPr>
          <a:xfrm>
            <a:off x="3371850" y="1572768"/>
            <a:ext cx="2594610" cy="1554480"/>
          </a:xfrm>
          <a:prstGeom prst="roundRect">
            <a:avLst>
              <a:gd name="adj" fmla="val 3529"/>
            </a:avLst>
          </a:prstGeom>
          <a:solidFill>
            <a:srgbClr val="EEF3EA"/>
          </a:solidFill>
          <a:ln w="12700">
            <a:solidFill>
              <a:srgbClr val="EEF3EA"/>
            </a:solidFill>
            <a:prstDash val="solid"/>
          </a:ln>
        </p:spPr>
      </p:sp>
      <p:sp>
        <p:nvSpPr>
          <p:cNvPr id="9" name="Text 7"/>
          <p:cNvSpPr txBox="1"/>
          <p:nvPr/>
        </p:nvSpPr>
        <p:spPr>
          <a:xfrm>
            <a:off x="360045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1,5 s</a:t>
            </a:r>
            <a:endParaRPr lang="en-US" sz="4000" dirty="0"/>
          </a:p>
        </p:txBody>
      </p:sp>
      <p:sp>
        <p:nvSpPr>
          <p:cNvPr id="10" name="Text 8"/>
          <p:cNvSpPr txBox="1"/>
          <p:nvPr/>
        </p:nvSpPr>
        <p:spPr>
          <a:xfrm>
            <a:off x="360045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temps de réponse</a:t>
            </a:r>
            <a:endParaRPr lang="en-US" sz="1350" dirty="0"/>
          </a:p>
        </p:txBody>
      </p:sp>
      <p:sp>
        <p:nvSpPr>
          <p:cNvPr id="11" name="Text 9"/>
          <p:cNvSpPr txBox="1"/>
          <p:nvPr/>
        </p:nvSpPr>
        <p:spPr>
          <a:xfrm>
            <a:off x="360045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cible : moins de 2 s</a:t>
            </a:r>
            <a:endParaRPr lang="en-US" sz="1150" dirty="0"/>
          </a:p>
        </p:txBody>
      </p:sp>
      <p:sp>
        <p:nvSpPr>
          <p:cNvPr id="12" name="Shape 10"/>
          <p:cNvSpPr/>
          <p:nvPr/>
        </p:nvSpPr>
        <p:spPr>
          <a:xfrm>
            <a:off x="6195060" y="1572768"/>
            <a:ext cx="2594610" cy="1554480"/>
          </a:xfrm>
          <a:prstGeom prst="roundRect">
            <a:avLst>
              <a:gd name="adj" fmla="val 3529"/>
            </a:avLst>
          </a:prstGeom>
          <a:solidFill>
            <a:srgbClr val="EEF3EA"/>
          </a:solidFill>
          <a:ln w="12700">
            <a:solidFill>
              <a:srgbClr val="EEF3EA"/>
            </a:solidFill>
            <a:prstDash val="solid"/>
          </a:ln>
        </p:spPr>
      </p:sp>
      <p:sp>
        <p:nvSpPr>
          <p:cNvPr id="13" name="Text 11"/>
          <p:cNvSpPr txBox="1"/>
          <p:nvPr/>
        </p:nvSpPr>
        <p:spPr>
          <a:xfrm>
            <a:off x="642366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87 %</a:t>
            </a:r>
            <a:endParaRPr lang="en-US" sz="4000" dirty="0"/>
          </a:p>
        </p:txBody>
      </p:sp>
      <p:sp>
        <p:nvSpPr>
          <p:cNvPr id="14" name="Text 12"/>
          <p:cNvSpPr txBox="1"/>
          <p:nvPr/>
        </p:nvSpPr>
        <p:spPr>
          <a:xfrm>
            <a:off x="642366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de précision</a:t>
            </a:r>
            <a:endParaRPr lang="en-US" sz="1350" dirty="0"/>
          </a:p>
        </p:txBody>
      </p:sp>
      <p:sp>
        <p:nvSpPr>
          <p:cNvPr id="15" name="Text 13"/>
          <p:cNvSpPr txBox="1"/>
          <p:nvPr/>
        </p:nvSpPr>
        <p:spPr>
          <a:xfrm>
            <a:off x="642366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cible : plus de 85 %</a:t>
            </a:r>
            <a:endParaRPr lang="en-US" sz="1150" dirty="0"/>
          </a:p>
        </p:txBody>
      </p:sp>
      <p:sp>
        <p:nvSpPr>
          <p:cNvPr id="16" name="Shape 14"/>
          <p:cNvSpPr/>
          <p:nvPr/>
        </p:nvSpPr>
        <p:spPr>
          <a:xfrm>
            <a:off x="9018270" y="1572768"/>
            <a:ext cx="2594610" cy="1554480"/>
          </a:xfrm>
          <a:prstGeom prst="roundRect">
            <a:avLst>
              <a:gd name="adj" fmla="val 3529"/>
            </a:avLst>
          </a:prstGeom>
          <a:solidFill>
            <a:srgbClr val="EEF3EA"/>
          </a:solidFill>
          <a:ln w="12700">
            <a:solidFill>
              <a:srgbClr val="EEF3EA"/>
            </a:solidFill>
            <a:prstDash val="solid"/>
          </a:ln>
        </p:spPr>
      </p:sp>
      <p:sp>
        <p:nvSpPr>
          <p:cNvPr id="17" name="Text 15"/>
          <p:cNvSpPr txBox="1"/>
          <p:nvPr/>
        </p:nvSpPr>
        <p:spPr>
          <a:xfrm>
            <a:off x="924687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 / min</a:t>
            </a:r>
            <a:endParaRPr lang="en-US" sz="4000" dirty="0"/>
          </a:p>
        </p:txBody>
      </p:sp>
      <p:sp>
        <p:nvSpPr>
          <p:cNvPr id="18" name="Text 16"/>
          <p:cNvSpPr txBox="1"/>
          <p:nvPr/>
        </p:nvSpPr>
        <p:spPr>
          <a:xfrm>
            <a:off x="924687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relevé par capteur</a:t>
            </a:r>
            <a:endParaRPr lang="en-US" sz="1350" dirty="0"/>
          </a:p>
        </p:txBody>
      </p:sp>
      <p:sp>
        <p:nvSpPr>
          <p:cNvPr id="19" name="Text 17"/>
          <p:cNvSpPr txBox="1"/>
          <p:nvPr/>
        </p:nvSpPr>
        <p:spPr>
          <a:xfrm>
            <a:off x="924687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surveillance continue</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401568"/>
          <a:ext cx="11064240" cy="914400"/>
        </p:xfrm>
        <a:graphic>
          <a:graphicData uri="http://schemas.openxmlformats.org/drawingml/2006/table">
            <a:tbl>
              <a:tblPr/>
              <a:tblGrid>
                <a:gridCol w="4206240"/>
                <a:gridCol w="2377440"/>
                <a:gridCol w="2468880"/>
                <a:gridCol w="201168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Critère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Cible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Réalisé</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Écart</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Endpoints de l'API</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5 minimum</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+ 260 %</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Temps de réponse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moins de 2 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1,5 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- 25 %</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Précision de l'IA</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plus de 85 %</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87 %</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+ 2 points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Capteurs IoT</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simulés ou réels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réseau simulé, 6 mesures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conforme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Technologies imposées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conforme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Déploiement cloud</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requis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AWS EC2 en ligne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conforme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COMPÉTENCES BACHELOR 2</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domaines couverts par un seul projet</a:t>
            </a:r>
            <a:endParaRPr lang="en-US" sz="3400" dirty="0"/>
          </a:p>
        </p:txBody>
      </p:sp>
      <p:sp>
        <p:nvSpPr>
          <p:cNvPr id="4" name="Shape 2"/>
          <p:cNvSpPr/>
          <p:nvPr/>
        </p:nvSpPr>
        <p:spPr>
          <a:xfrm>
            <a:off x="548640" y="1600200"/>
            <a:ext cx="11064240" cy="786384"/>
          </a:xfrm>
          <a:prstGeom prst="roundRect">
            <a:avLst>
              <a:gd name="adj" fmla="val 6977"/>
            </a:avLst>
          </a:prstGeom>
          <a:solidFill>
            <a:srgbClr val="EEF3EA"/>
          </a:solidFill>
          <a:ln w="12700">
            <a:solidFill>
              <a:srgbClr val="EEF3EA"/>
            </a:solidFill>
            <a:prstDash val="solid"/>
          </a:ln>
        </p:spPr>
      </p:sp>
      <p:sp>
        <p:nvSpPr>
          <p:cNvPr id="5" name="Shape 3"/>
          <p:cNvSpPr/>
          <p:nvPr/>
        </p:nvSpPr>
        <p:spPr>
          <a:xfrm>
            <a:off x="749808" y="17830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49808"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325880" y="17190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Intelligence artificielle</a:t>
            </a:r>
            <a:endParaRPr lang="en-US" sz="1600" dirty="0"/>
          </a:p>
        </p:txBody>
      </p:sp>
      <p:sp>
        <p:nvSpPr>
          <p:cNvPr id="8" name="Text 6"/>
          <p:cNvSpPr txBox="1"/>
          <p:nvPr/>
        </p:nvSpPr>
        <p:spPr>
          <a:xfrm>
            <a:off x="1325880" y="20208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Analyse d'image OpenCV, classification multi-classe, calcul d'indice de confiance</a:t>
            </a:r>
            <a:endParaRPr lang="en-US" sz="1250" dirty="0"/>
          </a:p>
        </p:txBody>
      </p:sp>
      <p:sp>
        <p:nvSpPr>
          <p:cNvPr id="9" name="Shape 7"/>
          <p:cNvSpPr/>
          <p:nvPr/>
        </p:nvSpPr>
        <p:spPr>
          <a:xfrm>
            <a:off x="548640" y="2514600"/>
            <a:ext cx="11064240" cy="786384"/>
          </a:xfrm>
          <a:prstGeom prst="roundRect">
            <a:avLst>
              <a:gd name="adj" fmla="val 6977"/>
            </a:avLst>
          </a:prstGeom>
          <a:solidFill>
            <a:srgbClr val="EEF3EA"/>
          </a:solidFill>
          <a:ln w="12700">
            <a:solidFill>
              <a:srgbClr val="EEF3EA"/>
            </a:solidFill>
            <a:prstDash val="solid"/>
          </a:ln>
        </p:spPr>
      </p:sp>
      <p:sp>
        <p:nvSpPr>
          <p:cNvPr id="10" name="Shape 8"/>
          <p:cNvSpPr/>
          <p:nvPr/>
        </p:nvSpPr>
        <p:spPr>
          <a:xfrm>
            <a:off x="749808" y="26974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49808" y="26974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325880" y="26334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backend</a:t>
            </a:r>
            <a:endParaRPr lang="en-US" sz="1600" dirty="0"/>
          </a:p>
        </p:txBody>
      </p:sp>
      <p:sp>
        <p:nvSpPr>
          <p:cNvPr id="13" name="Text 11"/>
          <p:cNvSpPr txBox="1"/>
          <p:nvPr/>
        </p:nvSpPr>
        <p:spPr>
          <a:xfrm>
            <a:off x="1325880" y="29352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API REST, programmation asynchrone, ORM SQLAlchemy, gestion des erreurs</a:t>
            </a:r>
            <a:endParaRPr lang="en-US" sz="1250" dirty="0"/>
          </a:p>
        </p:txBody>
      </p:sp>
      <p:sp>
        <p:nvSpPr>
          <p:cNvPr id="14" name="Shape 12"/>
          <p:cNvSpPr/>
          <p:nvPr/>
        </p:nvSpPr>
        <p:spPr>
          <a:xfrm>
            <a:off x="548640" y="3429000"/>
            <a:ext cx="11064240" cy="786384"/>
          </a:xfrm>
          <a:prstGeom prst="roundRect">
            <a:avLst>
              <a:gd name="adj" fmla="val 6977"/>
            </a:avLst>
          </a:prstGeom>
          <a:solidFill>
            <a:srgbClr val="EEF3EA"/>
          </a:solidFill>
          <a:ln w="12700">
            <a:solidFill>
              <a:srgbClr val="EEF3EA"/>
            </a:solidFill>
            <a:prstDash val="solid"/>
          </a:ln>
        </p:spPr>
      </p:sp>
      <p:sp>
        <p:nvSpPr>
          <p:cNvPr id="15" name="Shape 13"/>
          <p:cNvSpPr/>
          <p:nvPr/>
        </p:nvSpPr>
        <p:spPr>
          <a:xfrm>
            <a:off x="749808" y="3611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49808" y="3611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325880" y="35478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frontend</a:t>
            </a:r>
            <a:endParaRPr lang="en-US" sz="1600" dirty="0"/>
          </a:p>
        </p:txBody>
      </p:sp>
      <p:sp>
        <p:nvSpPr>
          <p:cNvPr id="18" name="Text 16"/>
          <p:cNvSpPr txBox="1"/>
          <p:nvPr/>
        </p:nvSpPr>
        <p:spPr>
          <a:xfrm>
            <a:off x="1325880" y="38496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HTML5, CSS3, JavaScript, consommation d'API, conception responsive</a:t>
            </a:r>
            <a:endParaRPr lang="en-US" sz="1250" dirty="0"/>
          </a:p>
        </p:txBody>
      </p:sp>
      <p:sp>
        <p:nvSpPr>
          <p:cNvPr id="19" name="Shape 17"/>
          <p:cNvSpPr/>
          <p:nvPr/>
        </p:nvSpPr>
        <p:spPr>
          <a:xfrm>
            <a:off x="548640" y="4343400"/>
            <a:ext cx="11064240" cy="786384"/>
          </a:xfrm>
          <a:prstGeom prst="roundRect">
            <a:avLst>
              <a:gd name="adj" fmla="val 6977"/>
            </a:avLst>
          </a:prstGeom>
          <a:solidFill>
            <a:srgbClr val="EEF3EA"/>
          </a:solidFill>
          <a:ln w="12700">
            <a:solidFill>
              <a:srgbClr val="EEF3EA"/>
            </a:solidFill>
            <a:prstDash val="solid"/>
          </a:ln>
        </p:spPr>
      </p:sp>
      <p:sp>
        <p:nvSpPr>
          <p:cNvPr id="20" name="Shape 18"/>
          <p:cNvSpPr/>
          <p:nvPr/>
        </p:nvSpPr>
        <p:spPr>
          <a:xfrm>
            <a:off x="749808" y="4526280"/>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49808" y="4526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325880" y="44622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Bases de données</a:t>
            </a:r>
            <a:endParaRPr lang="en-US" sz="1600" dirty="0"/>
          </a:p>
        </p:txBody>
      </p:sp>
      <p:sp>
        <p:nvSpPr>
          <p:cNvPr id="23" name="Text 21"/>
          <p:cNvSpPr txBox="1"/>
          <p:nvPr/>
        </p:nvSpPr>
        <p:spPr>
          <a:xfrm>
            <a:off x="1325880" y="47640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Modélisation relationnelle, transactions ACID, indexation, migrations</a:t>
            </a:r>
            <a:endParaRPr lang="en-US" sz="1250" dirty="0"/>
          </a:p>
        </p:txBody>
      </p:sp>
      <p:sp>
        <p:nvSpPr>
          <p:cNvPr id="24" name="Shape 22"/>
          <p:cNvSpPr/>
          <p:nvPr/>
        </p:nvSpPr>
        <p:spPr>
          <a:xfrm>
            <a:off x="548640" y="5257800"/>
            <a:ext cx="11064240" cy="786384"/>
          </a:xfrm>
          <a:prstGeom prst="roundRect">
            <a:avLst>
              <a:gd name="adj" fmla="val 6977"/>
            </a:avLst>
          </a:prstGeom>
          <a:solidFill>
            <a:srgbClr val="EEF3EA"/>
          </a:solidFill>
          <a:ln w="12700">
            <a:solidFill>
              <a:srgbClr val="EEF3EA"/>
            </a:solidFill>
            <a:prstDash val="solid"/>
          </a:ln>
        </p:spPr>
      </p:sp>
      <p:sp>
        <p:nvSpPr>
          <p:cNvPr id="25" name="Shape 23"/>
          <p:cNvSpPr/>
          <p:nvPr/>
        </p:nvSpPr>
        <p:spPr>
          <a:xfrm>
            <a:off x="749808" y="5440680"/>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49808" y="5440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325880" y="53766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Réseau, IoT et cloud</a:t>
            </a:r>
            <a:endParaRPr lang="en-US" sz="1600" dirty="0"/>
          </a:p>
        </p:txBody>
      </p:sp>
      <p:sp>
        <p:nvSpPr>
          <p:cNvPr id="28" name="Text 26"/>
          <p:cNvSpPr txBox="1"/>
          <p:nvPr/>
        </p:nvSpPr>
        <p:spPr>
          <a:xfrm>
            <a:off x="1325880" y="56784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Capteurs de parcelle, ingestion des trames, Docker multi-conteneurs, AWS EC2</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Un produit, pas un exercice</a:t>
            </a:r>
            <a:endParaRPr lang="en-US" sz="3400" dirty="0"/>
          </a:p>
        </p:txBody>
      </p:sp>
      <p:sp>
        <p:nvSpPr>
          <p:cNvPr id="4" name="Shape 2"/>
          <p:cNvSpPr/>
          <p:nvPr/>
        </p:nvSpPr>
        <p:spPr>
          <a:xfrm>
            <a:off x="548640" y="1645920"/>
            <a:ext cx="5440680" cy="1463040"/>
          </a:xfrm>
          <a:prstGeom prst="roundRect">
            <a:avLst>
              <a:gd name="adj" fmla="val 3750"/>
            </a:avLst>
          </a:prstGeom>
          <a:solidFill>
            <a:srgbClr val="26492A"/>
          </a:solidFill>
          <a:ln w="12700">
            <a:solidFill>
              <a:srgbClr val="26492A"/>
            </a:solidFill>
            <a:prstDash val="solid"/>
          </a:ln>
        </p:spPr>
      </p:sp>
      <p:sp>
        <p:nvSpPr>
          <p:cNvPr id="5" name="Text 3"/>
          <p:cNvSpPr txBox="1"/>
          <p:nvPr/>
        </p:nvSpPr>
        <p:spPr>
          <a:xfrm>
            <a:off x="868680" y="190195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Fonctionnel</a:t>
            </a:r>
            <a:endParaRPr lang="en-US" sz="2000" dirty="0"/>
          </a:p>
        </p:txBody>
      </p:sp>
      <p:sp>
        <p:nvSpPr>
          <p:cNvPr id="6" name="Text 4"/>
          <p:cNvSpPr txBox="1"/>
          <p:nvPr/>
        </p:nvSpPr>
        <p:spPr>
          <a:xfrm>
            <a:off x="868680" y="233172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L'application tourne en production et reste accessible en continu.</a:t>
            </a:r>
            <a:endParaRPr lang="en-US" sz="1300" dirty="0"/>
          </a:p>
        </p:txBody>
      </p:sp>
      <p:sp>
        <p:nvSpPr>
          <p:cNvPr id="7" name="Shape 5"/>
          <p:cNvSpPr/>
          <p:nvPr/>
        </p:nvSpPr>
        <p:spPr>
          <a:xfrm>
            <a:off x="6172200" y="1645920"/>
            <a:ext cx="5440680" cy="1463040"/>
          </a:xfrm>
          <a:prstGeom prst="roundRect">
            <a:avLst>
              <a:gd name="adj" fmla="val 3750"/>
            </a:avLst>
          </a:prstGeom>
          <a:solidFill>
            <a:srgbClr val="26492A"/>
          </a:solidFill>
          <a:ln w="12700">
            <a:solidFill>
              <a:srgbClr val="26492A"/>
            </a:solidFill>
            <a:prstDash val="solid"/>
          </a:ln>
        </p:spPr>
      </p:sp>
      <p:sp>
        <p:nvSpPr>
          <p:cNvPr id="8" name="Text 6"/>
          <p:cNvSpPr txBox="1"/>
          <p:nvPr/>
        </p:nvSpPr>
        <p:spPr>
          <a:xfrm>
            <a:off x="6492240" y="190195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Conforme</a:t>
            </a:r>
            <a:endParaRPr lang="en-US" sz="2000" dirty="0"/>
          </a:p>
        </p:txBody>
      </p:sp>
      <p:sp>
        <p:nvSpPr>
          <p:cNvPr id="9" name="Text 7"/>
          <p:cNvSpPr txBox="1"/>
          <p:nvPr/>
        </p:nvSpPr>
        <p:spPr>
          <a:xfrm>
            <a:off x="6492240" y="233172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Tous les objectifs du cahier des charges sont couverts et vérifiables.</a:t>
            </a:r>
            <a:endParaRPr lang="en-US" sz="1300" dirty="0"/>
          </a:p>
        </p:txBody>
      </p:sp>
      <p:sp>
        <p:nvSpPr>
          <p:cNvPr id="10" name="Shape 8"/>
          <p:cNvSpPr/>
          <p:nvPr/>
        </p:nvSpPr>
        <p:spPr>
          <a:xfrm>
            <a:off x="548640" y="3337560"/>
            <a:ext cx="5440680" cy="1463040"/>
          </a:xfrm>
          <a:prstGeom prst="roundRect">
            <a:avLst>
              <a:gd name="adj" fmla="val 3750"/>
            </a:avLst>
          </a:prstGeom>
          <a:solidFill>
            <a:srgbClr val="26492A"/>
          </a:solidFill>
          <a:ln w="12700">
            <a:solidFill>
              <a:srgbClr val="26492A"/>
            </a:solidFill>
            <a:prstDash val="solid"/>
          </a:ln>
        </p:spPr>
      </p:sp>
      <p:sp>
        <p:nvSpPr>
          <p:cNvPr id="11" name="Text 9"/>
          <p:cNvSpPr txBox="1"/>
          <p:nvPr/>
        </p:nvSpPr>
        <p:spPr>
          <a:xfrm>
            <a:off x="868680" y="359359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Documenté</a:t>
            </a:r>
            <a:endParaRPr lang="en-US" sz="2000" dirty="0"/>
          </a:p>
        </p:txBody>
      </p:sp>
      <p:sp>
        <p:nvSpPr>
          <p:cNvPr id="12" name="Text 10"/>
          <p:cNvSpPr txBox="1"/>
          <p:nvPr/>
        </p:nvSpPr>
        <p:spPr>
          <a:xfrm>
            <a:off x="868680" y="402336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Architecture réseau, justifications techniques et guide de déploiement rédigés.</a:t>
            </a:r>
            <a:endParaRPr lang="en-US" sz="1300" dirty="0"/>
          </a:p>
        </p:txBody>
      </p:sp>
      <p:sp>
        <p:nvSpPr>
          <p:cNvPr id="13" name="Shape 11"/>
          <p:cNvSpPr/>
          <p:nvPr/>
        </p:nvSpPr>
        <p:spPr>
          <a:xfrm>
            <a:off x="6172200" y="3337560"/>
            <a:ext cx="5440680" cy="1463040"/>
          </a:xfrm>
          <a:prstGeom prst="roundRect">
            <a:avLst>
              <a:gd name="adj" fmla="val 3750"/>
            </a:avLst>
          </a:prstGeom>
          <a:solidFill>
            <a:srgbClr val="26492A"/>
          </a:solidFill>
          <a:ln w="12700">
            <a:solidFill>
              <a:srgbClr val="26492A"/>
            </a:solidFill>
            <a:prstDash val="solid"/>
          </a:ln>
        </p:spPr>
      </p:sp>
      <p:sp>
        <p:nvSpPr>
          <p:cNvPr id="14" name="Text 12"/>
          <p:cNvSpPr txBox="1"/>
          <p:nvPr/>
        </p:nvSpPr>
        <p:spPr>
          <a:xfrm>
            <a:off x="6492240" y="359359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Évolutif</a:t>
            </a:r>
            <a:endParaRPr lang="en-US" sz="2000" dirty="0"/>
          </a:p>
        </p:txBody>
      </p:sp>
      <p:sp>
        <p:nvSpPr>
          <p:cNvPr id="15" name="Text 13"/>
          <p:cNvSpPr txBox="1"/>
          <p:nvPr/>
        </p:nvSpPr>
        <p:spPr>
          <a:xfrm>
            <a:off x="6492240" y="402336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L'architecture supporte la montée en charge sans réécriture.</a:t>
            </a:r>
            <a:endParaRPr lang="en-US" sz="1300" dirty="0"/>
          </a:p>
        </p:txBody>
      </p:sp>
      <p:sp>
        <p:nvSpPr>
          <p:cNvPr id="16" name="Text 14"/>
          <p:cNvSpPr txBox="1"/>
          <p:nvPr/>
        </p:nvSpPr>
        <p:spPr>
          <a:xfrm>
            <a:off x="548640" y="5257800"/>
            <a:ext cx="11064240" cy="457200"/>
          </a:xfrm>
          <a:prstGeom prst="rect">
            <a:avLst/>
          </a:prstGeom>
          <a:noFill/>
          <a:ln/>
        </p:spPr>
        <p:txBody>
          <a:bodyPr wrap="square" lIns="0" tIns="0" rIns="0" bIns="0" rtlCol="0" anchor="ctr"/>
          <a:lstStyle/>
          <a:p>
            <a:pPr indent="0" marL="0">
              <a:buNone/>
            </a:pPr>
            <a:r>
              <a:rPr lang="en-US" sz="1800" b="1" i="1" dirty="0">
                <a:solidFill>
                  <a:srgbClr val="FFFFFF"/>
                </a:solidFill>
                <a:latin typeface="Cambria" pitchFamily="34" charset="0"/>
                <a:ea typeface="Cambria" pitchFamily="34" charset="-122"/>
                <a:cs typeface="Cambria" pitchFamily="34" charset="-120"/>
              </a:rPr>
              <a:t>PlantDiag est immédiatement utilisable par un agriculteur, depuis son téléphone, dans son champ.</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875520" y="4480560"/>
            <a:ext cx="3840480" cy="3840480"/>
          </a:xfrm>
          <a:prstGeom prst="ellipse">
            <a:avLst/>
          </a:prstGeom>
          <a:solidFill>
            <a:srgbClr val="2C5F2D"/>
          </a:solidFill>
          <a:ln w="12700">
            <a:solidFill>
              <a:srgbClr val="2C5F2D"/>
            </a:solidFill>
            <a:prstDash val="solid"/>
          </a:ln>
        </p:spPr>
      </p:sp>
      <p:sp>
        <p:nvSpPr>
          <p:cNvPr id="3" name="Text 1"/>
          <p:cNvSpPr txBox="1"/>
          <p:nvPr/>
        </p:nvSpPr>
        <p:spPr>
          <a:xfrm>
            <a:off x="548640" y="1737360"/>
            <a:ext cx="822960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4" name="Text 2"/>
          <p:cNvSpPr txBox="1"/>
          <p:nvPr/>
        </p:nvSpPr>
        <p:spPr>
          <a:xfrm>
            <a:off x="548640" y="2743200"/>
            <a:ext cx="8229600" cy="411480"/>
          </a:xfrm>
          <a:prstGeom prst="rect">
            <a:avLst/>
          </a:prstGeom>
          <a:noFill/>
          <a:ln/>
        </p:spPr>
        <p:txBody>
          <a:bodyPr wrap="square" lIns="0" tIns="0" rIns="0" bIns="0" rtlCol="0" anchor="ctr"/>
          <a:lstStyle/>
          <a:p>
            <a:pPr indent="0" marL="0">
              <a:buNone/>
            </a:pPr>
            <a:r>
              <a:rPr lang="en-US" sz="2000" dirty="0">
                <a:solidFill>
                  <a:srgbClr val="97BC62"/>
                </a:solidFill>
                <a:latin typeface="Calibri" pitchFamily="34" charset="0"/>
                <a:ea typeface="Calibri" pitchFamily="34" charset="-122"/>
                <a:cs typeface="Calibri" pitchFamily="34" charset="-120"/>
              </a:rPr>
              <a:t>Merci de votre attention</a:t>
            </a:r>
            <a:endParaRPr lang="en-US" sz="2000" dirty="0"/>
          </a:p>
        </p:txBody>
      </p:sp>
      <p:sp>
        <p:nvSpPr>
          <p:cNvPr id="5" name="Text 3"/>
          <p:cNvSpPr txBox="1"/>
          <p:nvPr/>
        </p:nvSpPr>
        <p:spPr>
          <a:xfrm>
            <a:off x="548640" y="37947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Application</a:t>
            </a:r>
            <a:endParaRPr lang="en-US" sz="1300" dirty="0"/>
          </a:p>
        </p:txBody>
      </p:sp>
      <p:sp>
        <p:nvSpPr>
          <p:cNvPr id="6" name="Text 4"/>
          <p:cNvSpPr txBox="1"/>
          <p:nvPr/>
        </p:nvSpPr>
        <p:spPr>
          <a:xfrm>
            <a:off x="3200400" y="37947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a:t>
            </a:r>
            <a:endParaRPr lang="en-US" sz="1400" dirty="0"/>
          </a:p>
        </p:txBody>
      </p:sp>
      <p:sp>
        <p:nvSpPr>
          <p:cNvPr id="7" name="Text 5"/>
          <p:cNvSpPr txBox="1"/>
          <p:nvPr/>
        </p:nvSpPr>
        <p:spPr>
          <a:xfrm>
            <a:off x="548640" y="44805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Documentation API</a:t>
            </a:r>
            <a:endParaRPr lang="en-US" sz="1300" dirty="0"/>
          </a:p>
        </p:txBody>
      </p:sp>
      <p:sp>
        <p:nvSpPr>
          <p:cNvPr id="8" name="Text 6"/>
          <p:cNvSpPr txBox="1"/>
          <p:nvPr/>
        </p:nvSpPr>
        <p:spPr>
          <a:xfrm>
            <a:off x="3200400" y="44805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http://13.51.48.254:8000/docs</a:t>
            </a:r>
            <a:endParaRPr lang="en-US" sz="1400" dirty="0"/>
          </a:p>
        </p:txBody>
      </p:sp>
      <p:sp>
        <p:nvSpPr>
          <p:cNvPr id="9" name="Text 7"/>
          <p:cNvSpPr txBox="1"/>
          <p:nvPr/>
        </p:nvSpPr>
        <p:spPr>
          <a:xfrm>
            <a:off x="548640" y="51663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Code source</a:t>
            </a:r>
            <a:endParaRPr lang="en-US" sz="1300" dirty="0"/>
          </a:p>
        </p:txBody>
      </p:sp>
      <p:sp>
        <p:nvSpPr>
          <p:cNvPr id="10" name="Text 8"/>
          <p:cNvSpPr txBox="1"/>
          <p:nvPr/>
        </p:nvSpPr>
        <p:spPr>
          <a:xfrm>
            <a:off x="3200400" y="51663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github.com/Antonito35/diagnositique-plante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PlantDiag - Soutenance Bachelor 2</dc:title>
  <dc:subject>PptxGenJS Presentation</dc:subject>
  <dc:creator>Antoine SIMON</dc:creator>
  <cp:lastModifiedBy>Antoine SIMON</cp:lastModifiedBy>
  <cp:revision>1</cp:revision>
  <dcterms:created xsi:type="dcterms:W3CDTF">2026-09-21T07:10:34Z</dcterms:created>
  <dcterms:modified xsi:type="dcterms:W3CDTF">2026-09-21T07:10:34Z</dcterms:modified>
</cp:coreProperties>
</file>