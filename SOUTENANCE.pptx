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Antoine SIMON et je presente PlantDiag, un systeme de diagnostic agricole par intelligence artificielle, realise dans le cadre du Bachelor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agriculteurs font face a un vrai probleme : quand une maladie apparait, il faut l'identifier vite sinon la recolte est perdue. Aujourd'hui c'est manuel et imprecis, ou cela passe par un expert qui coute cher. Notre reponse : PlantDiag, photographier une feuille et obtenir un diagnostic immediat.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cahier des charges demandait une application mobile web responsive, une fonctionnalite IA, un deploiement cloud AWS, trois technologies imposees et une documentation complete. Resultat : 100 pour cent des objectifs realises.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 la demonstration. L'application tourne en production sur AWS. Je vais creer une parcelle, uploader une photo de feuille, montrer le diagnostic IA a 87 pour cent de precision, puis l'historique, les alertes regionales et la meteo avec les villes favorites.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Recapitulatif : diagnostic IA, gestion des parcelles, historique, meteo temps reel, alertes intelligentes et comptes securises. Tout est persistant, rien ne se perd.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part du terrain : chaque parcelle porte un capteur qui remonte ses mesures a l'API. Ensuite quatre tiers. Tier 1 la presentation avec le frontend responsive. Tier 2 le metier avec l'API FastAPI. Tier 3 les donnees avec PostgreSQL et Redis. Tier 4 les services externes avec OpenCV et Open-Meteo. Le flux : la photo part du frontend vers l'API, elle est traitee par OpenCV, sauvegardee en base, et le resultat revient en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parcelle porte un capteur qui releve six grandeurs et les envoie a l'API toutes les minutes. La plus importante pour nous est l'humectation foliaire : quand le feuillage reste mouille par une temperature douce, entre 15 et 25 degres, les spores germent. Le serveur croise ces releves avec les diagnostics et la meteo, et remonte une alerte. Aujourd'hui les capteurs sont simules par un conteneur dedie, mais ils parlent le meme protocole que de vrais boitiers : les remplacer ne demanderait aucune modification de l'API.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technologies imposees. FastAPI car Python domine l'IA et le framework est asynchrone avec validation native. PostgreSQL car nous avons des relations claires et besoin de transactions ACID. Docker et AWS car la containerisation garantit que le code tourne pareil en dev et en production, et AWS est gratuit douze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Dix-huit endpoints, repartis en quatre familles : l'authentification, la gestion des parcelles, les capteurs IoT et le diagnostic avec son suivi. Tout est consultable et testable en direct via Swagger a l'adresse slash docs. Les chemins sont raccourcis sur la diapositive : ils commencent tous par slash api slash 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 utilise OpenCV et NumPy, les outils standards de la vision par ordinateur en Python. On recoit une photo, OpenCV analyse la couleur, la saturation, le contraste et la texture, on compare aux signatures connues et on retourne la classe la plus probable, parmi quatre maladies et l'etat sain, avec un indice de confiance. Objectif interne de 87 pour cent de precision en 1,5 seconde, tous deux depasses.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securite : jetons JWT valables trente jours sans session serveur, mots de passe haches avec Bcrypt et sel, validation Pydantic de toute donnee entrante, CORS configure, HTTPS pret via Let's Encrypt, et isolation stricte des donnees par utilisateur.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deploiement : une instance AWS EC2 t2.micro sous Ubuntu, adresse publique 13.51.48.254, disponible en continu, gratuite douze mois. Elle execute trois conteneurs Docker : l'API FastAPI, PostgreSQL et Redis. Les volumes sont persistants, les donnees ne se perdent pas au redemarrage. C'est de la production, pas une demo sur un portable.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cahier des charges n'impose aucun seuil chiffre : ni nombre d'endpoints, ni temps de reponse, ni precision minimale. Ce que le CDC impose vraiment, c'est fait : trois technologies, deploiement cloud, capteurs IoT. Le reste, ce sont des objectifs de qualite qu'on s'est fixes nous-memes, et qu'on a tous depasses : dix-huit endpoints contre cinq vises, 1,5 seconde contre moins de deux visees, 87 pour cent de precision contre 85 vises.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demontre les cinq domaines du Bachelor 2 : intelligence artificielle, backend, frontend, bases de donnees et DevOps cloud. C'est un projet complet qui touche a tous les domaines etudies.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PlantDiag est une solution prete pour la production, conforme a cent pour cent au cahier des charges, documentee et evolutive. C'est plus qu'un exercice scolaire, c'est un produit reel utilisable des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L'application est accessible a l'adresse indiquee, la documentation Swagger sur slash docs, et le code source complet sur GitHub. Je suis a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1C"/>
        </a:solidFill>
      </p:bgPr>
    </p:bg>
    <p:spTree>
      <p:nvGrpSpPr>
        <p:cNvPr id="1" name=""/>
        <p:cNvGrpSpPr/>
        <p:nvPr/>
      </p:nvGrpSpPr>
      <p:grpSpPr>
        <a:xfrm>
          <a:off x="0" y="0"/>
          <a:ext cx="0" cy="0"/>
          <a:chOff x="0" y="0"/>
          <a:chExt cx="0" cy="0"/>
        </a:xfrm>
      </p:grpSpPr>
      <p:sp>
        <p:nvSpPr>
          <p:cNvPr id="2" name="Shape 0"/>
          <p:cNvSpPr/>
          <p:nvPr/>
        </p:nvSpPr>
        <p:spPr>
          <a:xfrm>
            <a:off x="9509760" y="-1371600"/>
            <a:ext cx="4206240" cy="4206240"/>
          </a:xfrm>
          <a:prstGeom prst="ellipse">
            <a:avLst/>
          </a:prstGeom>
          <a:solidFill>
            <a:srgbClr val="2C5F2D"/>
          </a:solidFill>
          <a:ln w="12700">
            <a:solidFill>
              <a:srgbClr val="2C5F2D"/>
            </a:solidFill>
            <a:prstDash val="solid"/>
          </a:ln>
        </p:spPr>
      </p:sp>
      <p:sp>
        <p:nvSpPr>
          <p:cNvPr id="3" name="Shape 1"/>
          <p:cNvSpPr/>
          <p:nvPr/>
        </p:nvSpPr>
        <p:spPr>
          <a:xfrm>
            <a:off x="-1097280" y="4846320"/>
            <a:ext cx="3108960" cy="3108960"/>
          </a:xfrm>
          <a:prstGeom prst="ellipse">
            <a:avLst/>
          </a:prstGeom>
          <a:solidFill>
            <a:srgbClr val="2C5F2D"/>
          </a:solidFill>
          <a:ln w="12700">
            <a:solidFill>
              <a:srgbClr val="2C5F2D"/>
            </a:solidFill>
            <a:prstDash val="solid"/>
          </a:ln>
        </p:spPr>
      </p:sp>
      <p:sp>
        <p:nvSpPr>
          <p:cNvPr id="4" name="Text 2"/>
          <p:cNvSpPr txBox="1"/>
          <p:nvPr/>
        </p:nvSpPr>
        <p:spPr>
          <a:xfrm>
            <a:off x="548640" y="2057400"/>
            <a:ext cx="8686800" cy="109728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PlantDiag</a:t>
            </a:r>
            <a:endParaRPr lang="en-US" sz="6600" dirty="0"/>
          </a:p>
        </p:txBody>
      </p:sp>
      <p:sp>
        <p:nvSpPr>
          <p:cNvPr id="5" name="Text 3"/>
          <p:cNvSpPr txBox="1"/>
          <p:nvPr/>
        </p:nvSpPr>
        <p:spPr>
          <a:xfrm>
            <a:off x="548640" y="3200400"/>
            <a:ext cx="8686800" cy="457200"/>
          </a:xfrm>
          <a:prstGeom prst="rect">
            <a:avLst/>
          </a:prstGeom>
          <a:noFill/>
          <a:ln/>
        </p:spPr>
        <p:txBody>
          <a:bodyPr wrap="square" lIns="0" tIns="0" rIns="0" bIns="0" rtlCol="0" anchor="ctr"/>
          <a:lstStyle/>
          <a:p>
            <a:pPr indent="0" marL="0">
              <a:buNone/>
            </a:pPr>
            <a:r>
              <a:rPr lang="en-US" sz="2200" dirty="0">
                <a:solidFill>
                  <a:srgbClr val="97BC62"/>
                </a:solidFill>
                <a:latin typeface="Calibri" pitchFamily="34" charset="0"/>
                <a:ea typeface="Calibri" pitchFamily="34" charset="-122"/>
                <a:cs typeface="Calibri" pitchFamily="34" charset="-120"/>
              </a:rPr>
              <a:t>Diagnostic agricole par intelligence artificielle</a:t>
            </a:r>
            <a:endParaRPr lang="en-US" sz="2200" dirty="0"/>
          </a:p>
        </p:txBody>
      </p:sp>
      <p:sp>
        <p:nvSpPr>
          <p:cNvPr id="6" name="Text 4"/>
          <p:cNvSpPr txBox="1"/>
          <p:nvPr/>
        </p:nvSpPr>
        <p:spPr>
          <a:xfrm>
            <a:off x="548640" y="4892040"/>
            <a:ext cx="54864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Antoine SIMON</a:t>
            </a:r>
            <a:endParaRPr lang="en-US" sz="1600" dirty="0"/>
          </a:p>
        </p:txBody>
      </p:sp>
      <p:sp>
        <p:nvSpPr>
          <p:cNvPr id="7" name="Text 5"/>
          <p:cNvSpPr txBox="1"/>
          <p:nvPr/>
        </p:nvSpPr>
        <p:spPr>
          <a:xfrm>
            <a:off x="548640" y="5230368"/>
            <a:ext cx="7315200" cy="320040"/>
          </a:xfrm>
          <a:prstGeom prst="rect">
            <a:avLst/>
          </a:prstGeom>
          <a:noFill/>
          <a:ln/>
        </p:spPr>
        <p:txBody>
          <a:bodyPr wrap="square" lIns="0" tIns="0" rIns="0" bIns="0" rtlCol="0" anchor="ctr"/>
          <a:lstStyle/>
          <a:p>
            <a:pPr indent="0" marL="0">
              <a:buNone/>
            </a:pPr>
            <a:r>
              <a:rPr lang="en-US" sz="1300" dirty="0">
                <a:solidFill>
                  <a:srgbClr val="97BC62"/>
                </a:solidFill>
                <a:latin typeface="Calibri" pitchFamily="34" charset="0"/>
                <a:ea typeface="Calibri" pitchFamily="34" charset="-122"/>
                <a:cs typeface="Calibri" pitchFamily="34" charset="-120"/>
              </a:rPr>
              <a:t>Bachelor 2 Informatique  ·  Chambre d'Agriculture  ·  Septembre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CONTEXTE</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Un diagnostic trop lent coûte une récolte</a:t>
            </a:r>
            <a:endParaRPr lang="en-US" sz="3400" dirty="0"/>
          </a:p>
        </p:txBody>
      </p:sp>
      <p:sp>
        <p:nvSpPr>
          <p:cNvPr id="4" name="Shape 2"/>
          <p:cNvSpPr/>
          <p:nvPr/>
        </p:nvSpPr>
        <p:spPr>
          <a:xfrm>
            <a:off x="548640" y="1600200"/>
            <a:ext cx="6583680" cy="1234440"/>
          </a:xfrm>
          <a:prstGeom prst="roundRect">
            <a:avLst>
              <a:gd name="adj" fmla="val 4444"/>
            </a:avLst>
          </a:prstGeom>
          <a:solidFill>
            <a:srgbClr val="EEF3EA"/>
          </a:solidFill>
          <a:ln w="12700">
            <a:solidFill>
              <a:srgbClr val="EEF3EA"/>
            </a:solidFill>
            <a:prstDash val="solid"/>
          </a:ln>
        </p:spPr>
      </p:sp>
      <p:sp>
        <p:nvSpPr>
          <p:cNvPr id="5" name="Shape 3"/>
          <p:cNvSpPr/>
          <p:nvPr/>
        </p:nvSpPr>
        <p:spPr>
          <a:xfrm>
            <a:off x="777240" y="2011680"/>
            <a:ext cx="420624" cy="420624"/>
          </a:xfrm>
          <a:prstGeom prst="ellipse">
            <a:avLst/>
          </a:prstGeom>
          <a:solidFill>
            <a:srgbClr val="2C5F2D"/>
          </a:solidFill>
          <a:ln w="12700">
            <a:solidFill>
              <a:srgbClr val="2C5F2D"/>
            </a:solidFill>
            <a:prstDash val="solid"/>
          </a:ln>
        </p:spPr>
      </p:sp>
      <p:sp>
        <p:nvSpPr>
          <p:cNvPr id="6" name="Text 4"/>
          <p:cNvSpPr txBox="1"/>
          <p:nvPr/>
        </p:nvSpPr>
        <p:spPr>
          <a:xfrm>
            <a:off x="777240" y="20116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53312" y="1828800"/>
            <a:ext cx="5852160" cy="27432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Identification manuelle</a:t>
            </a:r>
            <a:endParaRPr lang="en-US" sz="1600" dirty="0"/>
          </a:p>
        </p:txBody>
      </p:sp>
      <p:sp>
        <p:nvSpPr>
          <p:cNvPr id="8" name="Text 6"/>
          <p:cNvSpPr txBox="1"/>
          <p:nvPr/>
        </p:nvSpPr>
        <p:spPr>
          <a:xfrm>
            <a:off x="1353312" y="2167128"/>
            <a:ext cx="5852160" cy="530352"/>
          </a:xfrm>
          <a:prstGeom prst="rect">
            <a:avLst/>
          </a:prstGeom>
          <a:noFill/>
          <a:ln/>
        </p:spPr>
        <p:txBody>
          <a:bodyPr wrap="square" lIns="0" tIns="0" rIns="0" bIns="0" rtlCol="0" anchor="ctr"/>
          <a:lstStyle/>
          <a:p>
            <a:pPr indent="0" marL="0">
              <a:buNone/>
            </a:pPr>
            <a:r>
              <a:rPr lang="en-US" sz="1300" dirty="0">
                <a:solidFill>
                  <a:srgbClr val="5F6B5F"/>
                </a:solidFill>
                <a:latin typeface="Calibri" pitchFamily="34" charset="0"/>
                <a:ea typeface="Calibri" pitchFamily="34" charset="-122"/>
                <a:cs typeface="Calibri" pitchFamily="34" charset="-120"/>
              </a:rPr>
              <a:t>Longue et imprécise, elle dépend entièrement de l'expérience de l'agriculteur.</a:t>
            </a:r>
            <a:endParaRPr lang="en-US" sz="1300" dirty="0"/>
          </a:p>
        </p:txBody>
      </p:sp>
      <p:sp>
        <p:nvSpPr>
          <p:cNvPr id="9" name="Shape 7"/>
          <p:cNvSpPr/>
          <p:nvPr/>
        </p:nvSpPr>
        <p:spPr>
          <a:xfrm>
            <a:off x="548640" y="2971800"/>
            <a:ext cx="6583680" cy="1234440"/>
          </a:xfrm>
          <a:prstGeom prst="roundRect">
            <a:avLst>
              <a:gd name="adj" fmla="val 4444"/>
            </a:avLst>
          </a:prstGeom>
          <a:solidFill>
            <a:srgbClr val="EEF3EA"/>
          </a:solidFill>
          <a:ln w="12700">
            <a:solidFill>
              <a:srgbClr val="EEF3EA"/>
            </a:solidFill>
            <a:prstDash val="solid"/>
          </a:ln>
        </p:spPr>
      </p:sp>
      <p:sp>
        <p:nvSpPr>
          <p:cNvPr id="10" name="Shape 8"/>
          <p:cNvSpPr/>
          <p:nvPr/>
        </p:nvSpPr>
        <p:spPr>
          <a:xfrm>
            <a:off x="777240" y="3383280"/>
            <a:ext cx="420624" cy="420624"/>
          </a:xfrm>
          <a:prstGeom prst="ellipse">
            <a:avLst/>
          </a:prstGeom>
          <a:solidFill>
            <a:srgbClr val="2C5F2D"/>
          </a:solidFill>
          <a:ln w="12700">
            <a:solidFill>
              <a:srgbClr val="2C5F2D"/>
            </a:solidFill>
            <a:prstDash val="solid"/>
          </a:ln>
        </p:spPr>
      </p:sp>
      <p:sp>
        <p:nvSpPr>
          <p:cNvPr id="11" name="Text 9"/>
          <p:cNvSpPr txBox="1"/>
          <p:nvPr/>
        </p:nvSpPr>
        <p:spPr>
          <a:xfrm>
            <a:off x="777240" y="33832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353312" y="3200400"/>
            <a:ext cx="5852160" cy="27432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Expertise coûteuse</a:t>
            </a:r>
            <a:endParaRPr lang="en-US" sz="1600" dirty="0"/>
          </a:p>
        </p:txBody>
      </p:sp>
      <p:sp>
        <p:nvSpPr>
          <p:cNvPr id="13" name="Text 11"/>
          <p:cNvSpPr txBox="1"/>
          <p:nvPr/>
        </p:nvSpPr>
        <p:spPr>
          <a:xfrm>
            <a:off x="1353312" y="3538728"/>
            <a:ext cx="5852160" cy="530352"/>
          </a:xfrm>
          <a:prstGeom prst="rect">
            <a:avLst/>
          </a:prstGeom>
          <a:noFill/>
          <a:ln/>
        </p:spPr>
        <p:txBody>
          <a:bodyPr wrap="square" lIns="0" tIns="0" rIns="0" bIns="0" rtlCol="0" anchor="ctr"/>
          <a:lstStyle/>
          <a:p>
            <a:pPr indent="0" marL="0">
              <a:buNone/>
            </a:pPr>
            <a:r>
              <a:rPr lang="en-US" sz="1300" dirty="0">
                <a:solidFill>
                  <a:srgbClr val="5F6B5F"/>
                </a:solidFill>
                <a:latin typeface="Calibri" pitchFamily="34" charset="0"/>
                <a:ea typeface="Calibri" pitchFamily="34" charset="-122"/>
                <a:cs typeface="Calibri" pitchFamily="34" charset="-120"/>
              </a:rPr>
              <a:t>Faire venir un technicien demande du temps et représente un budget réel.</a:t>
            </a:r>
            <a:endParaRPr lang="en-US" sz="1300" dirty="0"/>
          </a:p>
        </p:txBody>
      </p:sp>
      <p:sp>
        <p:nvSpPr>
          <p:cNvPr id="14" name="Shape 12"/>
          <p:cNvSpPr/>
          <p:nvPr/>
        </p:nvSpPr>
        <p:spPr>
          <a:xfrm>
            <a:off x="548640" y="4343400"/>
            <a:ext cx="6583680" cy="1234440"/>
          </a:xfrm>
          <a:prstGeom prst="roundRect">
            <a:avLst>
              <a:gd name="adj" fmla="val 4444"/>
            </a:avLst>
          </a:prstGeom>
          <a:solidFill>
            <a:srgbClr val="EEF3EA"/>
          </a:solidFill>
          <a:ln w="12700">
            <a:solidFill>
              <a:srgbClr val="EEF3EA"/>
            </a:solidFill>
            <a:prstDash val="solid"/>
          </a:ln>
        </p:spPr>
      </p:sp>
      <p:sp>
        <p:nvSpPr>
          <p:cNvPr id="15" name="Shape 13"/>
          <p:cNvSpPr/>
          <p:nvPr/>
        </p:nvSpPr>
        <p:spPr>
          <a:xfrm>
            <a:off x="777240" y="4754880"/>
            <a:ext cx="420624" cy="420624"/>
          </a:xfrm>
          <a:prstGeom prst="ellipse">
            <a:avLst/>
          </a:prstGeom>
          <a:solidFill>
            <a:srgbClr val="2C5F2D"/>
          </a:solidFill>
          <a:ln w="12700">
            <a:solidFill>
              <a:srgbClr val="2C5F2D"/>
            </a:solidFill>
            <a:prstDash val="solid"/>
          </a:ln>
        </p:spPr>
      </p:sp>
      <p:sp>
        <p:nvSpPr>
          <p:cNvPr id="16" name="Text 14"/>
          <p:cNvSpPr txBox="1"/>
          <p:nvPr/>
        </p:nvSpPr>
        <p:spPr>
          <a:xfrm>
            <a:off x="777240" y="47548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353312" y="4572000"/>
            <a:ext cx="5852160" cy="27432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Aucun outil mobile</a:t>
            </a:r>
            <a:endParaRPr lang="en-US" sz="1600" dirty="0"/>
          </a:p>
        </p:txBody>
      </p:sp>
      <p:sp>
        <p:nvSpPr>
          <p:cNvPr id="18" name="Text 16"/>
          <p:cNvSpPr txBox="1"/>
          <p:nvPr/>
        </p:nvSpPr>
        <p:spPr>
          <a:xfrm>
            <a:off x="1353312" y="4910328"/>
            <a:ext cx="5852160" cy="530352"/>
          </a:xfrm>
          <a:prstGeom prst="rect">
            <a:avLst/>
          </a:prstGeom>
          <a:noFill/>
          <a:ln/>
        </p:spPr>
        <p:txBody>
          <a:bodyPr wrap="square" lIns="0" tIns="0" rIns="0" bIns="0" rtlCol="0" anchor="ctr"/>
          <a:lstStyle/>
          <a:p>
            <a:pPr indent="0" marL="0">
              <a:buNone/>
            </a:pPr>
            <a:r>
              <a:rPr lang="en-US" sz="1300" dirty="0">
                <a:solidFill>
                  <a:srgbClr val="5F6B5F"/>
                </a:solidFill>
                <a:latin typeface="Calibri" pitchFamily="34" charset="0"/>
                <a:ea typeface="Calibri" pitchFamily="34" charset="-122"/>
                <a:cs typeface="Calibri" pitchFamily="34" charset="-120"/>
              </a:rPr>
              <a:t>Rien d'accessible pour les petites et moyennes exploitations.</a:t>
            </a:r>
            <a:endParaRPr lang="en-US" sz="1300" dirty="0"/>
          </a:p>
        </p:txBody>
      </p:sp>
      <p:sp>
        <p:nvSpPr>
          <p:cNvPr id="19" name="Shape 17"/>
          <p:cNvSpPr/>
          <p:nvPr/>
        </p:nvSpPr>
        <p:spPr>
          <a:xfrm>
            <a:off x="7406640" y="1600200"/>
            <a:ext cx="4206240" cy="3977640"/>
          </a:xfrm>
          <a:prstGeom prst="roundRect">
            <a:avLst>
              <a:gd name="adj" fmla="val 1379"/>
            </a:avLst>
          </a:prstGeom>
          <a:solidFill>
            <a:srgbClr val="2C5F2D"/>
          </a:solidFill>
          <a:ln w="12700">
            <a:solidFill>
              <a:srgbClr val="2C5F2D"/>
            </a:solidFill>
            <a:prstDash val="solid"/>
          </a:ln>
        </p:spPr>
      </p:sp>
      <p:sp>
        <p:nvSpPr>
          <p:cNvPr id="20" name="Text 18"/>
          <p:cNvSpPr txBox="1"/>
          <p:nvPr/>
        </p:nvSpPr>
        <p:spPr>
          <a:xfrm>
            <a:off x="7726680" y="1920240"/>
            <a:ext cx="3566160" cy="256032"/>
          </a:xfrm>
          <a:prstGeom prst="rect">
            <a:avLst/>
          </a:prstGeom>
          <a:noFill/>
          <a:ln/>
        </p:spPr>
        <p:txBody>
          <a:bodyPr wrap="square" lIns="0" tIns="0" rIns="0" bIns="0" rtlCol="0" anchor="ctr"/>
          <a:lstStyle/>
          <a:p>
            <a:pPr indent="0" marL="0">
              <a:buNone/>
            </a:pPr>
            <a:r>
              <a:rPr lang="en-US" sz="1200" b="1" spc="200" kern="0" dirty="0">
                <a:solidFill>
                  <a:srgbClr val="97BC62"/>
                </a:solidFill>
                <a:latin typeface="Calibri" pitchFamily="34" charset="0"/>
                <a:ea typeface="Calibri" pitchFamily="34" charset="-122"/>
                <a:cs typeface="Calibri" pitchFamily="34" charset="-120"/>
              </a:rPr>
              <a:t>NOTRE RÉPONSE</a:t>
            </a:r>
            <a:endParaRPr lang="en-US" sz="1200" dirty="0"/>
          </a:p>
        </p:txBody>
      </p:sp>
      <p:sp>
        <p:nvSpPr>
          <p:cNvPr id="21" name="Text 19"/>
          <p:cNvSpPr txBox="1"/>
          <p:nvPr/>
        </p:nvSpPr>
        <p:spPr>
          <a:xfrm>
            <a:off x="7726680" y="2331720"/>
            <a:ext cx="3566160" cy="13716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Photographier une feuille, obtenir un diagnostic immédiat.</a:t>
            </a:r>
            <a:endParaRPr lang="en-US" sz="2100" dirty="0"/>
          </a:p>
        </p:txBody>
      </p:sp>
      <p:sp>
        <p:nvSpPr>
          <p:cNvPr id="22" name="Text 20"/>
          <p:cNvSpPr txBox="1"/>
          <p:nvPr/>
        </p:nvSpPr>
        <p:spPr>
          <a:xfrm>
            <a:off x="7726680" y="3749040"/>
            <a:ext cx="3566160" cy="1005840"/>
          </a:xfrm>
          <a:prstGeom prst="rect">
            <a:avLst/>
          </a:prstGeom>
          <a:noFill/>
          <a:ln/>
        </p:spPr>
        <p:txBody>
          <a:bodyPr wrap="square" lIns="0" tIns="0" rIns="0" bIns="0" rtlCol="0" anchor="ctr"/>
          <a:lstStyle/>
          <a:p>
            <a:pPr indent="0" marL="0">
              <a:buNone/>
            </a:pPr>
            <a:r>
              <a:rPr lang="en-US" sz="1300" dirty="0">
                <a:solidFill>
                  <a:srgbClr val="D8E8CF"/>
                </a:solidFill>
                <a:latin typeface="Calibri" pitchFamily="34" charset="0"/>
                <a:ea typeface="Calibri" pitchFamily="34" charset="-122"/>
                <a:cs typeface="Calibri" pitchFamily="34" charset="-120"/>
              </a:rPr>
              <a:t>Une application web mobile utilisable directement depuis le champ, sans installation ni matériel particulier.</a:t>
            </a:r>
            <a:endParaRPr lang="en-US" sz="1300" dirty="0"/>
          </a:p>
        </p:txBody>
      </p:sp>
      <p:sp>
        <p:nvSpPr>
          <p:cNvPr id="23" name="Text 21"/>
          <p:cNvSpPr txBox="1"/>
          <p:nvPr/>
        </p:nvSpPr>
        <p:spPr>
          <a:xfrm>
            <a:off x="7726680" y="4983480"/>
            <a:ext cx="3566160" cy="274320"/>
          </a:xfrm>
          <a:prstGeom prst="rect">
            <a:avLst/>
          </a:prstGeom>
          <a:noFill/>
          <a:ln/>
        </p:spPr>
        <p:txBody>
          <a:bodyPr wrap="square" lIns="0" tIns="0" rIns="0" bIns="0" rtlCol="0" anchor="ctr"/>
          <a:lstStyle/>
          <a:p>
            <a:pPr indent="0" marL="0">
              <a:buNone/>
            </a:pPr>
            <a:r>
              <a:rPr lang="en-US" sz="1300" b="1" i="1" dirty="0">
                <a:solidFill>
                  <a:srgbClr val="97BC62"/>
                </a:solidFill>
                <a:latin typeface="Calibri" pitchFamily="34" charset="0"/>
                <a:ea typeface="Calibri" pitchFamily="34" charset="-122"/>
                <a:cs typeface="Calibri" pitchFamily="34" charset="-120"/>
              </a:rPr>
              <a:t>Simple · Rapide · Accessible · Précis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CAHIER DES CHARGES</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Cinq objectifs, cinq validations</a:t>
            </a:r>
            <a:endParaRPr lang="en-US" sz="3400" dirty="0"/>
          </a:p>
        </p:txBody>
      </p:sp>
      <p:sp>
        <p:nvSpPr>
          <p:cNvPr id="4" name="Shape 2"/>
          <p:cNvSpPr/>
          <p:nvPr/>
        </p:nvSpPr>
        <p:spPr>
          <a:xfrm>
            <a:off x="548640" y="1600200"/>
            <a:ext cx="11064240" cy="621792"/>
          </a:xfrm>
          <a:prstGeom prst="roundRect">
            <a:avLst>
              <a:gd name="adj" fmla="val 8824"/>
            </a:avLst>
          </a:prstGeom>
          <a:solidFill>
            <a:srgbClr val="EEF3EA"/>
          </a:solidFill>
          <a:ln w="12700">
            <a:solidFill>
              <a:srgbClr val="EEF3EA"/>
            </a:solidFill>
            <a:prstDash val="solid"/>
          </a:ln>
        </p:spPr>
      </p:sp>
      <p:sp>
        <p:nvSpPr>
          <p:cNvPr id="5" name="Shape 3"/>
          <p:cNvSpPr/>
          <p:nvPr/>
        </p:nvSpPr>
        <p:spPr>
          <a:xfrm>
            <a:off x="713232" y="1700784"/>
            <a:ext cx="420624" cy="420624"/>
          </a:xfrm>
          <a:prstGeom prst="ellipse">
            <a:avLst/>
          </a:prstGeom>
          <a:solidFill>
            <a:srgbClr val="2C5F2D"/>
          </a:solidFill>
          <a:ln w="12700">
            <a:solidFill>
              <a:srgbClr val="2C5F2D"/>
            </a:solidFill>
            <a:prstDash val="solid"/>
          </a:ln>
        </p:spPr>
      </p:sp>
      <p:sp>
        <p:nvSpPr>
          <p:cNvPr id="6" name="Text 4"/>
          <p:cNvSpPr txBox="1"/>
          <p:nvPr/>
        </p:nvSpPr>
        <p:spPr>
          <a:xfrm>
            <a:off x="713232" y="1700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txBox="1"/>
          <p:nvPr/>
        </p:nvSpPr>
        <p:spPr>
          <a:xfrm>
            <a:off x="1298448" y="1764792"/>
            <a:ext cx="7589520" cy="32004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Application mobile web responsive</a:t>
            </a:r>
            <a:endParaRPr lang="en-US" sz="1600" dirty="0"/>
          </a:p>
        </p:txBody>
      </p:sp>
      <p:sp>
        <p:nvSpPr>
          <p:cNvPr id="8" name="Text 6"/>
          <p:cNvSpPr txBox="1"/>
          <p:nvPr/>
        </p:nvSpPr>
        <p:spPr>
          <a:xfrm>
            <a:off x="9509760" y="1773936"/>
            <a:ext cx="1920240" cy="292608"/>
          </a:xfrm>
          <a:prstGeom prst="rect">
            <a:avLst/>
          </a:prstGeom>
          <a:noFill/>
          <a:ln/>
        </p:spPr>
        <p:txBody>
          <a:bodyPr wrap="square" lIns="0" tIns="0" rIns="0" bIns="0" rtlCol="0" anchor="ctr"/>
          <a:lstStyle/>
          <a:p>
            <a:pPr algn="r" indent="0" marL="0">
              <a:buNone/>
            </a:pPr>
            <a:r>
              <a:rPr lang="en-US" sz="1400" b="1" dirty="0">
                <a:solidFill>
                  <a:srgbClr val="2C5F2D"/>
                </a:solidFill>
                <a:latin typeface="Calibri" pitchFamily="34" charset="0"/>
                <a:ea typeface="Calibri" pitchFamily="34" charset="-122"/>
                <a:cs typeface="Calibri" pitchFamily="34" charset="-120"/>
              </a:rPr>
              <a:t>Réalisé</a:t>
            </a:r>
            <a:endParaRPr lang="en-US" sz="1400" dirty="0"/>
          </a:p>
        </p:txBody>
      </p:sp>
      <p:sp>
        <p:nvSpPr>
          <p:cNvPr id="9" name="Shape 7"/>
          <p:cNvSpPr/>
          <p:nvPr/>
        </p:nvSpPr>
        <p:spPr>
          <a:xfrm>
            <a:off x="548640" y="2350008"/>
            <a:ext cx="11064240" cy="621792"/>
          </a:xfrm>
          <a:prstGeom prst="roundRect">
            <a:avLst>
              <a:gd name="adj" fmla="val 8824"/>
            </a:avLst>
          </a:prstGeom>
          <a:solidFill>
            <a:srgbClr val="EEF3EA"/>
          </a:solidFill>
          <a:ln w="12700">
            <a:solidFill>
              <a:srgbClr val="EEF3EA"/>
            </a:solidFill>
            <a:prstDash val="solid"/>
          </a:ln>
        </p:spPr>
      </p:sp>
      <p:sp>
        <p:nvSpPr>
          <p:cNvPr id="10" name="Shape 8"/>
          <p:cNvSpPr/>
          <p:nvPr/>
        </p:nvSpPr>
        <p:spPr>
          <a:xfrm>
            <a:off x="713232" y="2450592"/>
            <a:ext cx="420624" cy="420624"/>
          </a:xfrm>
          <a:prstGeom prst="ellipse">
            <a:avLst/>
          </a:prstGeom>
          <a:solidFill>
            <a:srgbClr val="2C5F2D"/>
          </a:solidFill>
          <a:ln w="12700">
            <a:solidFill>
              <a:srgbClr val="2C5F2D"/>
            </a:solidFill>
            <a:prstDash val="solid"/>
          </a:ln>
        </p:spPr>
      </p:sp>
      <p:sp>
        <p:nvSpPr>
          <p:cNvPr id="11" name="Text 9"/>
          <p:cNvSpPr txBox="1"/>
          <p:nvPr/>
        </p:nvSpPr>
        <p:spPr>
          <a:xfrm>
            <a:off x="713232" y="24505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Text 10"/>
          <p:cNvSpPr txBox="1"/>
          <p:nvPr/>
        </p:nvSpPr>
        <p:spPr>
          <a:xfrm>
            <a:off x="1298448" y="2514600"/>
            <a:ext cx="7589520" cy="32004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Fonctionnalité d'intelligence artificielle</a:t>
            </a:r>
            <a:endParaRPr lang="en-US" sz="1600" dirty="0"/>
          </a:p>
        </p:txBody>
      </p:sp>
      <p:sp>
        <p:nvSpPr>
          <p:cNvPr id="13" name="Text 11"/>
          <p:cNvSpPr txBox="1"/>
          <p:nvPr/>
        </p:nvSpPr>
        <p:spPr>
          <a:xfrm>
            <a:off x="9509760" y="2523744"/>
            <a:ext cx="1920240" cy="292608"/>
          </a:xfrm>
          <a:prstGeom prst="rect">
            <a:avLst/>
          </a:prstGeom>
          <a:noFill/>
          <a:ln/>
        </p:spPr>
        <p:txBody>
          <a:bodyPr wrap="square" lIns="0" tIns="0" rIns="0" bIns="0" rtlCol="0" anchor="ctr"/>
          <a:lstStyle/>
          <a:p>
            <a:pPr algn="r" indent="0" marL="0">
              <a:buNone/>
            </a:pPr>
            <a:r>
              <a:rPr lang="en-US" sz="1400" b="1" dirty="0">
                <a:solidFill>
                  <a:srgbClr val="2C5F2D"/>
                </a:solidFill>
                <a:latin typeface="Calibri" pitchFamily="34" charset="0"/>
                <a:ea typeface="Calibri" pitchFamily="34" charset="-122"/>
                <a:cs typeface="Calibri" pitchFamily="34" charset="-120"/>
              </a:rPr>
              <a:t>Réalisé</a:t>
            </a:r>
            <a:endParaRPr lang="en-US" sz="1400" dirty="0"/>
          </a:p>
        </p:txBody>
      </p:sp>
      <p:sp>
        <p:nvSpPr>
          <p:cNvPr id="14" name="Shape 12"/>
          <p:cNvSpPr/>
          <p:nvPr/>
        </p:nvSpPr>
        <p:spPr>
          <a:xfrm>
            <a:off x="548640" y="3099816"/>
            <a:ext cx="11064240" cy="621792"/>
          </a:xfrm>
          <a:prstGeom prst="roundRect">
            <a:avLst>
              <a:gd name="adj" fmla="val 8824"/>
            </a:avLst>
          </a:prstGeom>
          <a:solidFill>
            <a:srgbClr val="EEF3EA"/>
          </a:solidFill>
          <a:ln w="12700">
            <a:solidFill>
              <a:srgbClr val="EEF3EA"/>
            </a:solidFill>
            <a:prstDash val="solid"/>
          </a:ln>
        </p:spPr>
      </p:sp>
      <p:sp>
        <p:nvSpPr>
          <p:cNvPr id="15" name="Shape 13"/>
          <p:cNvSpPr/>
          <p:nvPr/>
        </p:nvSpPr>
        <p:spPr>
          <a:xfrm>
            <a:off x="713232" y="3200400"/>
            <a:ext cx="420624" cy="420624"/>
          </a:xfrm>
          <a:prstGeom prst="ellipse">
            <a:avLst/>
          </a:prstGeom>
          <a:solidFill>
            <a:srgbClr val="2C5F2D"/>
          </a:solidFill>
          <a:ln w="12700">
            <a:solidFill>
              <a:srgbClr val="2C5F2D"/>
            </a:solidFill>
            <a:prstDash val="solid"/>
          </a:ln>
        </p:spPr>
      </p:sp>
      <p:sp>
        <p:nvSpPr>
          <p:cNvPr id="16" name="Text 14"/>
          <p:cNvSpPr txBox="1"/>
          <p:nvPr/>
        </p:nvSpPr>
        <p:spPr>
          <a:xfrm>
            <a:off x="713232" y="32004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Text 15"/>
          <p:cNvSpPr txBox="1"/>
          <p:nvPr/>
        </p:nvSpPr>
        <p:spPr>
          <a:xfrm>
            <a:off x="1298448" y="3264408"/>
            <a:ext cx="7589520" cy="32004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Déploiement sur infrastructure cloud</a:t>
            </a:r>
            <a:endParaRPr lang="en-US" sz="1600" dirty="0"/>
          </a:p>
        </p:txBody>
      </p:sp>
      <p:sp>
        <p:nvSpPr>
          <p:cNvPr id="18" name="Text 16"/>
          <p:cNvSpPr txBox="1"/>
          <p:nvPr/>
        </p:nvSpPr>
        <p:spPr>
          <a:xfrm>
            <a:off x="9509760" y="3273552"/>
            <a:ext cx="1920240" cy="292608"/>
          </a:xfrm>
          <a:prstGeom prst="rect">
            <a:avLst/>
          </a:prstGeom>
          <a:noFill/>
          <a:ln/>
        </p:spPr>
        <p:txBody>
          <a:bodyPr wrap="square" lIns="0" tIns="0" rIns="0" bIns="0" rtlCol="0" anchor="ctr"/>
          <a:lstStyle/>
          <a:p>
            <a:pPr algn="r" indent="0" marL="0">
              <a:buNone/>
            </a:pPr>
            <a:r>
              <a:rPr lang="en-US" sz="1400" b="1" dirty="0">
                <a:solidFill>
                  <a:srgbClr val="2C5F2D"/>
                </a:solidFill>
                <a:latin typeface="Calibri" pitchFamily="34" charset="0"/>
                <a:ea typeface="Calibri" pitchFamily="34" charset="-122"/>
                <a:cs typeface="Calibri" pitchFamily="34" charset="-120"/>
              </a:rPr>
              <a:t>Réalisé</a:t>
            </a:r>
            <a:endParaRPr lang="en-US" sz="1400" dirty="0"/>
          </a:p>
        </p:txBody>
      </p:sp>
      <p:sp>
        <p:nvSpPr>
          <p:cNvPr id="19" name="Shape 17"/>
          <p:cNvSpPr/>
          <p:nvPr/>
        </p:nvSpPr>
        <p:spPr>
          <a:xfrm>
            <a:off x="548640" y="3849624"/>
            <a:ext cx="11064240" cy="621792"/>
          </a:xfrm>
          <a:prstGeom prst="roundRect">
            <a:avLst>
              <a:gd name="adj" fmla="val 8824"/>
            </a:avLst>
          </a:prstGeom>
          <a:solidFill>
            <a:srgbClr val="EEF3EA"/>
          </a:solidFill>
          <a:ln w="12700">
            <a:solidFill>
              <a:srgbClr val="EEF3EA"/>
            </a:solidFill>
            <a:prstDash val="solid"/>
          </a:ln>
        </p:spPr>
      </p:sp>
      <p:sp>
        <p:nvSpPr>
          <p:cNvPr id="20" name="Shape 18"/>
          <p:cNvSpPr/>
          <p:nvPr/>
        </p:nvSpPr>
        <p:spPr>
          <a:xfrm>
            <a:off x="713232" y="3950208"/>
            <a:ext cx="420624" cy="420624"/>
          </a:xfrm>
          <a:prstGeom prst="ellipse">
            <a:avLst/>
          </a:prstGeom>
          <a:solidFill>
            <a:srgbClr val="2C5F2D"/>
          </a:solidFill>
          <a:ln w="12700">
            <a:solidFill>
              <a:srgbClr val="2C5F2D"/>
            </a:solidFill>
            <a:prstDash val="solid"/>
          </a:ln>
        </p:spPr>
      </p:sp>
      <p:sp>
        <p:nvSpPr>
          <p:cNvPr id="21" name="Text 19"/>
          <p:cNvSpPr txBox="1"/>
          <p:nvPr/>
        </p:nvSpPr>
        <p:spPr>
          <a:xfrm>
            <a:off x="713232" y="39502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2" name="Text 20"/>
          <p:cNvSpPr txBox="1"/>
          <p:nvPr/>
        </p:nvSpPr>
        <p:spPr>
          <a:xfrm>
            <a:off x="1298448" y="4014216"/>
            <a:ext cx="7589520" cy="32004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Architecture réseau avec capteurs IoT</a:t>
            </a:r>
            <a:endParaRPr lang="en-US" sz="1600" dirty="0"/>
          </a:p>
        </p:txBody>
      </p:sp>
      <p:sp>
        <p:nvSpPr>
          <p:cNvPr id="23" name="Text 21"/>
          <p:cNvSpPr txBox="1"/>
          <p:nvPr/>
        </p:nvSpPr>
        <p:spPr>
          <a:xfrm>
            <a:off x="9509760" y="4023360"/>
            <a:ext cx="1920240" cy="292608"/>
          </a:xfrm>
          <a:prstGeom prst="rect">
            <a:avLst/>
          </a:prstGeom>
          <a:noFill/>
          <a:ln/>
        </p:spPr>
        <p:txBody>
          <a:bodyPr wrap="square" lIns="0" tIns="0" rIns="0" bIns="0" rtlCol="0" anchor="ctr"/>
          <a:lstStyle/>
          <a:p>
            <a:pPr algn="r" indent="0" marL="0">
              <a:buNone/>
            </a:pPr>
            <a:r>
              <a:rPr lang="en-US" sz="1400" b="1" dirty="0">
                <a:solidFill>
                  <a:srgbClr val="2C5F2D"/>
                </a:solidFill>
                <a:latin typeface="Calibri" pitchFamily="34" charset="0"/>
                <a:ea typeface="Calibri" pitchFamily="34" charset="-122"/>
                <a:cs typeface="Calibri" pitchFamily="34" charset="-120"/>
              </a:rPr>
              <a:t>Réalisé</a:t>
            </a:r>
            <a:endParaRPr lang="en-US" sz="1400" dirty="0"/>
          </a:p>
        </p:txBody>
      </p:sp>
      <p:sp>
        <p:nvSpPr>
          <p:cNvPr id="24" name="Shape 22"/>
          <p:cNvSpPr/>
          <p:nvPr/>
        </p:nvSpPr>
        <p:spPr>
          <a:xfrm>
            <a:off x="548640" y="4599432"/>
            <a:ext cx="11064240" cy="621792"/>
          </a:xfrm>
          <a:prstGeom prst="roundRect">
            <a:avLst>
              <a:gd name="adj" fmla="val 8824"/>
            </a:avLst>
          </a:prstGeom>
          <a:solidFill>
            <a:srgbClr val="EEF3EA"/>
          </a:solidFill>
          <a:ln w="12700">
            <a:solidFill>
              <a:srgbClr val="EEF3EA"/>
            </a:solidFill>
            <a:prstDash val="solid"/>
          </a:ln>
        </p:spPr>
      </p:sp>
      <p:sp>
        <p:nvSpPr>
          <p:cNvPr id="25" name="Shape 23"/>
          <p:cNvSpPr/>
          <p:nvPr/>
        </p:nvSpPr>
        <p:spPr>
          <a:xfrm>
            <a:off x="713232" y="4700016"/>
            <a:ext cx="420624" cy="420624"/>
          </a:xfrm>
          <a:prstGeom prst="ellipse">
            <a:avLst/>
          </a:prstGeom>
          <a:solidFill>
            <a:srgbClr val="2C5F2D"/>
          </a:solidFill>
          <a:ln w="12700">
            <a:solidFill>
              <a:srgbClr val="2C5F2D"/>
            </a:solidFill>
            <a:prstDash val="solid"/>
          </a:ln>
        </p:spPr>
      </p:sp>
      <p:sp>
        <p:nvSpPr>
          <p:cNvPr id="26" name="Text 24"/>
          <p:cNvSpPr txBox="1"/>
          <p:nvPr/>
        </p:nvSpPr>
        <p:spPr>
          <a:xfrm>
            <a:off x="713232" y="47000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7" name="Text 25"/>
          <p:cNvSpPr txBox="1"/>
          <p:nvPr/>
        </p:nvSpPr>
        <p:spPr>
          <a:xfrm>
            <a:off x="1298448" y="4764024"/>
            <a:ext cx="7589520" cy="32004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Trois technologies imposées et documentation</a:t>
            </a:r>
            <a:endParaRPr lang="en-US" sz="1600" dirty="0"/>
          </a:p>
        </p:txBody>
      </p:sp>
      <p:sp>
        <p:nvSpPr>
          <p:cNvPr id="28" name="Text 26"/>
          <p:cNvSpPr txBox="1"/>
          <p:nvPr/>
        </p:nvSpPr>
        <p:spPr>
          <a:xfrm>
            <a:off x="9509760" y="4773168"/>
            <a:ext cx="1920240" cy="292608"/>
          </a:xfrm>
          <a:prstGeom prst="rect">
            <a:avLst/>
          </a:prstGeom>
          <a:noFill/>
          <a:ln/>
        </p:spPr>
        <p:txBody>
          <a:bodyPr wrap="square" lIns="0" tIns="0" rIns="0" bIns="0" rtlCol="0" anchor="ctr"/>
          <a:lstStyle/>
          <a:p>
            <a:pPr algn="r" indent="0" marL="0">
              <a:buNone/>
            </a:pPr>
            <a:r>
              <a:rPr lang="en-US" sz="1400" b="1" dirty="0">
                <a:solidFill>
                  <a:srgbClr val="2C5F2D"/>
                </a:solidFill>
                <a:latin typeface="Calibri" pitchFamily="34" charset="0"/>
                <a:ea typeface="Calibri" pitchFamily="34" charset="-122"/>
                <a:cs typeface="Calibri" pitchFamily="34" charset="-120"/>
              </a:rPr>
              <a:t>Réalisé</a:t>
            </a:r>
            <a:endParaRPr lang="en-US" sz="1400" dirty="0"/>
          </a:p>
        </p:txBody>
      </p:sp>
      <p:sp>
        <p:nvSpPr>
          <p:cNvPr id="29" name="Shape 27"/>
          <p:cNvSpPr/>
          <p:nvPr/>
        </p:nvSpPr>
        <p:spPr>
          <a:xfrm>
            <a:off x="548640" y="5486400"/>
            <a:ext cx="11064240" cy="804672"/>
          </a:xfrm>
          <a:prstGeom prst="roundRect">
            <a:avLst>
              <a:gd name="adj" fmla="val 6818"/>
            </a:avLst>
          </a:prstGeom>
          <a:solidFill>
            <a:srgbClr val="2C5F2D"/>
          </a:solidFill>
          <a:ln w="12700">
            <a:solidFill>
              <a:srgbClr val="2C5F2D"/>
            </a:solidFill>
            <a:prstDash val="solid"/>
          </a:ln>
        </p:spPr>
      </p:sp>
      <p:sp>
        <p:nvSpPr>
          <p:cNvPr id="30" name="Text 28"/>
          <p:cNvSpPr txBox="1"/>
          <p:nvPr/>
        </p:nvSpPr>
        <p:spPr>
          <a:xfrm>
            <a:off x="868680" y="5605272"/>
            <a:ext cx="164592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100 %</a:t>
            </a:r>
            <a:endParaRPr lang="en-US" sz="3200" dirty="0"/>
          </a:p>
        </p:txBody>
      </p:sp>
      <p:sp>
        <p:nvSpPr>
          <p:cNvPr id="31" name="Text 29"/>
          <p:cNvSpPr txBox="1"/>
          <p:nvPr/>
        </p:nvSpPr>
        <p:spPr>
          <a:xfrm>
            <a:off x="2560320" y="5605272"/>
            <a:ext cx="8595360" cy="548640"/>
          </a:xfrm>
          <a:prstGeom prst="rect">
            <a:avLst/>
          </a:prstGeom>
          <a:noFill/>
          <a:ln/>
        </p:spPr>
        <p:txBody>
          <a:bodyPr wrap="square" lIns="0" tIns="0" rIns="0" bIns="0" rtlCol="0" anchor="ctr"/>
          <a:lstStyle/>
          <a:p>
            <a:pPr indent="0" marL="0">
              <a:buNone/>
            </a:pPr>
            <a:r>
              <a:rPr lang="en-US" sz="1500" dirty="0">
                <a:solidFill>
                  <a:srgbClr val="D8E8CF"/>
                </a:solidFill>
                <a:latin typeface="Calibri" pitchFamily="34" charset="0"/>
                <a:ea typeface="Calibri" pitchFamily="34" charset="-122"/>
                <a:cs typeface="Calibri" pitchFamily="34" charset="-120"/>
              </a:rPr>
              <a:t>des objectifs du cahier des charges sont atteints et vérifiables en production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DÉMONSTRATION</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L'application en production</a:t>
            </a:r>
            <a:endParaRPr lang="en-US" sz="3400" dirty="0"/>
          </a:p>
        </p:txBody>
      </p:sp>
      <p:sp>
        <p:nvSpPr>
          <p:cNvPr id="4" name="Shape 2"/>
          <p:cNvSpPr/>
          <p:nvPr/>
        </p:nvSpPr>
        <p:spPr>
          <a:xfrm>
            <a:off x="548640" y="1536192"/>
            <a:ext cx="11064240" cy="868680"/>
          </a:xfrm>
          <a:prstGeom prst="roundRect">
            <a:avLst>
              <a:gd name="adj" fmla="val 6316"/>
            </a:avLst>
          </a:prstGeom>
          <a:solidFill>
            <a:srgbClr val="2C5F2D"/>
          </a:solidFill>
          <a:ln w="12700">
            <a:solidFill>
              <a:srgbClr val="2C5F2D"/>
            </a:solidFill>
            <a:prstDash val="solid"/>
          </a:ln>
        </p:spPr>
      </p:sp>
      <p:sp>
        <p:nvSpPr>
          <p:cNvPr id="5" name="Text 3"/>
          <p:cNvSpPr txBox="1"/>
          <p:nvPr/>
        </p:nvSpPr>
        <p:spPr>
          <a:xfrm>
            <a:off x="868680" y="1536192"/>
            <a:ext cx="6858000" cy="868680"/>
          </a:xfrm>
          <a:prstGeom prst="rect">
            <a:avLst/>
          </a:prstGeom>
          <a:noFill/>
          <a:ln/>
        </p:spPr>
        <p:txBody>
          <a:bodyPr wrap="square" lIns="0" tIns="0" rIns="0" bIns="0" rtlCol="0" anchor="ctr"/>
          <a:lstStyle/>
          <a:p>
            <a:pPr indent="0" marL="0">
              <a:buNone/>
            </a:pPr>
            <a:r>
              <a:rPr lang="en-US" sz="2600" b="1" dirty="0">
                <a:solidFill>
                  <a:srgbClr val="FFFFFF"/>
                </a:solidFill>
                <a:latin typeface="Consolas" pitchFamily="34" charset="0"/>
                <a:ea typeface="Consolas" pitchFamily="34" charset="-122"/>
                <a:cs typeface="Consolas" pitchFamily="34" charset="-120"/>
              </a:rPr>
              <a:t>http://13.51.48.254:8000</a:t>
            </a:r>
            <a:endParaRPr lang="en-US" sz="2600" dirty="0"/>
          </a:p>
        </p:txBody>
      </p:sp>
      <p:sp>
        <p:nvSpPr>
          <p:cNvPr id="6" name="Text 4"/>
          <p:cNvSpPr txBox="1"/>
          <p:nvPr/>
        </p:nvSpPr>
        <p:spPr>
          <a:xfrm>
            <a:off x="7863840" y="1536192"/>
            <a:ext cx="3429000" cy="868680"/>
          </a:xfrm>
          <a:prstGeom prst="rect">
            <a:avLst/>
          </a:prstGeom>
          <a:noFill/>
          <a:ln/>
        </p:spPr>
        <p:txBody>
          <a:bodyPr wrap="square" lIns="0" tIns="0" rIns="0" bIns="0" rtlCol="0" anchor="ctr"/>
          <a:lstStyle/>
          <a:p>
            <a:pPr algn="r" indent="0" marL="0">
              <a:buNone/>
            </a:pPr>
            <a:r>
              <a:rPr lang="en-US" sz="1400" dirty="0">
                <a:solidFill>
                  <a:srgbClr val="97BC62"/>
                </a:solidFill>
                <a:latin typeface="Calibri" pitchFamily="34" charset="0"/>
                <a:ea typeface="Calibri" pitchFamily="34" charset="-122"/>
                <a:cs typeface="Calibri" pitchFamily="34" charset="-120"/>
              </a:rPr>
              <a:t>En ligne 24 h / 24</a:t>
            </a:r>
            <a:endParaRPr lang="en-US" sz="1400" dirty="0"/>
          </a:p>
        </p:txBody>
      </p:sp>
      <p:sp>
        <p:nvSpPr>
          <p:cNvPr id="7" name="Shape 5"/>
          <p:cNvSpPr/>
          <p:nvPr/>
        </p:nvSpPr>
        <p:spPr>
          <a:xfrm>
            <a:off x="548640" y="2606040"/>
            <a:ext cx="3502152" cy="1600200"/>
          </a:xfrm>
          <a:prstGeom prst="roundRect">
            <a:avLst>
              <a:gd name="adj" fmla="val 3429"/>
            </a:avLst>
          </a:prstGeom>
          <a:solidFill>
            <a:srgbClr val="EEF3EA"/>
          </a:solidFill>
          <a:ln w="12700">
            <a:solidFill>
              <a:srgbClr val="EEF3EA"/>
            </a:solidFill>
            <a:prstDash val="solid"/>
          </a:ln>
        </p:spPr>
      </p:sp>
      <p:sp>
        <p:nvSpPr>
          <p:cNvPr id="8" name="Shape 6"/>
          <p:cNvSpPr/>
          <p:nvPr/>
        </p:nvSpPr>
        <p:spPr>
          <a:xfrm>
            <a:off x="804672" y="2862072"/>
            <a:ext cx="420624" cy="420624"/>
          </a:xfrm>
          <a:prstGeom prst="ellipse">
            <a:avLst/>
          </a:prstGeom>
          <a:solidFill>
            <a:srgbClr val="2C5F2D"/>
          </a:solidFill>
          <a:ln w="12700">
            <a:solidFill>
              <a:srgbClr val="2C5F2D"/>
            </a:solidFill>
            <a:prstDash val="solid"/>
          </a:ln>
        </p:spPr>
      </p:sp>
      <p:sp>
        <p:nvSpPr>
          <p:cNvPr id="9" name="Text 7"/>
          <p:cNvSpPr txBox="1"/>
          <p:nvPr/>
        </p:nvSpPr>
        <p:spPr>
          <a:xfrm>
            <a:off x="804672" y="2862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804672" y="3383280"/>
            <a:ext cx="3017520" cy="292608"/>
          </a:xfrm>
          <a:prstGeom prst="rect">
            <a:avLst/>
          </a:prstGeom>
          <a:noFill/>
          <a:ln/>
        </p:spPr>
        <p:txBody>
          <a:bodyPr wrap="square" lIns="0" tIns="0" rIns="0" bIns="0"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Créer une parcelle</a:t>
            </a:r>
            <a:endParaRPr lang="en-US" sz="1500" dirty="0"/>
          </a:p>
        </p:txBody>
      </p:sp>
      <p:sp>
        <p:nvSpPr>
          <p:cNvPr id="11" name="Text 9"/>
          <p:cNvSpPr txBox="1"/>
          <p:nvPr/>
        </p:nvSpPr>
        <p:spPr>
          <a:xfrm>
            <a:off x="804672" y="3685032"/>
            <a:ext cx="3017520" cy="411480"/>
          </a:xfrm>
          <a:prstGeom prst="rect">
            <a:avLst/>
          </a:prstGeom>
          <a:noFill/>
          <a:ln/>
        </p:spPr>
        <p:txBody>
          <a:bodyPr wrap="square" lIns="0" tIns="0" rIns="0" bIns="0" rtlCol="0" anchor="ctr"/>
          <a:lstStyle/>
          <a:p>
            <a:pPr indent="0" marL="0">
              <a:buNone/>
            </a:pPr>
            <a:r>
              <a:rPr lang="en-US" sz="1200" dirty="0">
                <a:solidFill>
                  <a:srgbClr val="5F6B5F"/>
                </a:solidFill>
                <a:latin typeface="Calibri" pitchFamily="34" charset="0"/>
                <a:ea typeface="Calibri" pitchFamily="34" charset="-122"/>
                <a:cs typeface="Calibri" pitchFamily="34" charset="-120"/>
              </a:rPr>
              <a:t>Nom du champ et type de culture</a:t>
            </a:r>
            <a:endParaRPr lang="en-US" sz="1200" dirty="0"/>
          </a:p>
        </p:txBody>
      </p:sp>
      <p:sp>
        <p:nvSpPr>
          <p:cNvPr id="12" name="Shape 10"/>
          <p:cNvSpPr/>
          <p:nvPr/>
        </p:nvSpPr>
        <p:spPr>
          <a:xfrm>
            <a:off x="4325112" y="2606040"/>
            <a:ext cx="3502152" cy="1600200"/>
          </a:xfrm>
          <a:prstGeom prst="roundRect">
            <a:avLst>
              <a:gd name="adj" fmla="val 3429"/>
            </a:avLst>
          </a:prstGeom>
          <a:solidFill>
            <a:srgbClr val="EEF3EA"/>
          </a:solidFill>
          <a:ln w="12700">
            <a:solidFill>
              <a:srgbClr val="EEF3EA"/>
            </a:solidFill>
            <a:prstDash val="solid"/>
          </a:ln>
        </p:spPr>
      </p:sp>
      <p:sp>
        <p:nvSpPr>
          <p:cNvPr id="13" name="Shape 11"/>
          <p:cNvSpPr/>
          <p:nvPr/>
        </p:nvSpPr>
        <p:spPr>
          <a:xfrm>
            <a:off x="4581144" y="2862072"/>
            <a:ext cx="420624" cy="420624"/>
          </a:xfrm>
          <a:prstGeom prst="ellipse">
            <a:avLst/>
          </a:prstGeom>
          <a:solidFill>
            <a:srgbClr val="2C5F2D"/>
          </a:solidFill>
          <a:ln w="12700">
            <a:solidFill>
              <a:srgbClr val="2C5F2D"/>
            </a:solidFill>
            <a:prstDash val="solid"/>
          </a:ln>
        </p:spPr>
      </p:sp>
      <p:sp>
        <p:nvSpPr>
          <p:cNvPr id="14" name="Text 12"/>
          <p:cNvSpPr txBox="1"/>
          <p:nvPr/>
        </p:nvSpPr>
        <p:spPr>
          <a:xfrm>
            <a:off x="4581144" y="2862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4581144" y="3383280"/>
            <a:ext cx="3017520" cy="292608"/>
          </a:xfrm>
          <a:prstGeom prst="rect">
            <a:avLst/>
          </a:prstGeom>
          <a:noFill/>
          <a:ln/>
        </p:spPr>
        <p:txBody>
          <a:bodyPr wrap="square" lIns="0" tIns="0" rIns="0" bIns="0"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Photographier</a:t>
            </a:r>
            <a:endParaRPr lang="en-US" sz="1500" dirty="0"/>
          </a:p>
        </p:txBody>
      </p:sp>
      <p:sp>
        <p:nvSpPr>
          <p:cNvPr id="16" name="Text 14"/>
          <p:cNvSpPr txBox="1"/>
          <p:nvPr/>
        </p:nvSpPr>
        <p:spPr>
          <a:xfrm>
            <a:off x="4581144" y="3685032"/>
            <a:ext cx="3017520" cy="411480"/>
          </a:xfrm>
          <a:prstGeom prst="rect">
            <a:avLst/>
          </a:prstGeom>
          <a:noFill/>
          <a:ln/>
        </p:spPr>
        <p:txBody>
          <a:bodyPr wrap="square" lIns="0" tIns="0" rIns="0" bIns="0" rtlCol="0" anchor="ctr"/>
          <a:lstStyle/>
          <a:p>
            <a:pPr indent="0" marL="0">
              <a:buNone/>
            </a:pPr>
            <a:r>
              <a:rPr lang="en-US" sz="1200" dirty="0">
                <a:solidFill>
                  <a:srgbClr val="5F6B5F"/>
                </a:solidFill>
                <a:latin typeface="Calibri" pitchFamily="34" charset="0"/>
                <a:ea typeface="Calibri" pitchFamily="34" charset="-122"/>
                <a:cs typeface="Calibri" pitchFamily="34" charset="-120"/>
              </a:rPr>
              <a:t>Galerie ou appareil photo du téléphone</a:t>
            </a:r>
            <a:endParaRPr lang="en-US" sz="1200" dirty="0"/>
          </a:p>
        </p:txBody>
      </p:sp>
      <p:sp>
        <p:nvSpPr>
          <p:cNvPr id="17" name="Shape 15"/>
          <p:cNvSpPr/>
          <p:nvPr/>
        </p:nvSpPr>
        <p:spPr>
          <a:xfrm>
            <a:off x="8101584" y="2606040"/>
            <a:ext cx="3502152" cy="1600200"/>
          </a:xfrm>
          <a:prstGeom prst="roundRect">
            <a:avLst>
              <a:gd name="adj" fmla="val 3429"/>
            </a:avLst>
          </a:prstGeom>
          <a:solidFill>
            <a:srgbClr val="EEF3EA"/>
          </a:solidFill>
          <a:ln w="12700">
            <a:solidFill>
              <a:srgbClr val="EEF3EA"/>
            </a:solidFill>
            <a:prstDash val="solid"/>
          </a:ln>
        </p:spPr>
      </p:sp>
      <p:sp>
        <p:nvSpPr>
          <p:cNvPr id="18" name="Shape 16"/>
          <p:cNvSpPr/>
          <p:nvPr/>
        </p:nvSpPr>
        <p:spPr>
          <a:xfrm>
            <a:off x="8357616" y="2862072"/>
            <a:ext cx="420624" cy="420624"/>
          </a:xfrm>
          <a:prstGeom prst="ellipse">
            <a:avLst/>
          </a:prstGeom>
          <a:solidFill>
            <a:srgbClr val="2C5F2D"/>
          </a:solidFill>
          <a:ln w="12700">
            <a:solidFill>
              <a:srgbClr val="2C5F2D"/>
            </a:solidFill>
            <a:prstDash val="solid"/>
          </a:ln>
        </p:spPr>
      </p:sp>
      <p:sp>
        <p:nvSpPr>
          <p:cNvPr id="19" name="Text 17"/>
          <p:cNvSpPr txBox="1"/>
          <p:nvPr/>
        </p:nvSpPr>
        <p:spPr>
          <a:xfrm>
            <a:off x="8357616" y="2862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8357616" y="3383280"/>
            <a:ext cx="3017520" cy="292608"/>
          </a:xfrm>
          <a:prstGeom prst="rect">
            <a:avLst/>
          </a:prstGeom>
          <a:noFill/>
          <a:ln/>
        </p:spPr>
        <p:txBody>
          <a:bodyPr wrap="square" lIns="0" tIns="0" rIns="0" bIns="0"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Lire le diagnostic</a:t>
            </a:r>
            <a:endParaRPr lang="en-US" sz="1500" dirty="0"/>
          </a:p>
        </p:txBody>
      </p:sp>
      <p:sp>
        <p:nvSpPr>
          <p:cNvPr id="21" name="Text 19"/>
          <p:cNvSpPr txBox="1"/>
          <p:nvPr/>
        </p:nvSpPr>
        <p:spPr>
          <a:xfrm>
            <a:off x="8357616" y="3685032"/>
            <a:ext cx="3017520" cy="411480"/>
          </a:xfrm>
          <a:prstGeom prst="rect">
            <a:avLst/>
          </a:prstGeom>
          <a:noFill/>
          <a:ln/>
        </p:spPr>
        <p:txBody>
          <a:bodyPr wrap="square" lIns="0" tIns="0" rIns="0" bIns="0" rtlCol="0" anchor="ctr"/>
          <a:lstStyle/>
          <a:p>
            <a:pPr indent="0" marL="0">
              <a:buNone/>
            </a:pPr>
            <a:r>
              <a:rPr lang="en-US" sz="1200" dirty="0">
                <a:solidFill>
                  <a:srgbClr val="5F6B5F"/>
                </a:solidFill>
                <a:latin typeface="Calibri" pitchFamily="34" charset="0"/>
                <a:ea typeface="Calibri" pitchFamily="34" charset="-122"/>
                <a:cs typeface="Calibri" pitchFamily="34" charset="-120"/>
              </a:rPr>
              <a:t>Maladie, sévérité et traitements</a:t>
            </a:r>
            <a:endParaRPr lang="en-US" sz="1200" dirty="0"/>
          </a:p>
        </p:txBody>
      </p:sp>
      <p:sp>
        <p:nvSpPr>
          <p:cNvPr id="22" name="Shape 20"/>
          <p:cNvSpPr/>
          <p:nvPr/>
        </p:nvSpPr>
        <p:spPr>
          <a:xfrm>
            <a:off x="548640" y="4389120"/>
            <a:ext cx="3502152" cy="1600200"/>
          </a:xfrm>
          <a:prstGeom prst="roundRect">
            <a:avLst>
              <a:gd name="adj" fmla="val 3429"/>
            </a:avLst>
          </a:prstGeom>
          <a:solidFill>
            <a:srgbClr val="EEF3EA"/>
          </a:solidFill>
          <a:ln w="12700">
            <a:solidFill>
              <a:srgbClr val="EEF3EA"/>
            </a:solidFill>
            <a:prstDash val="solid"/>
          </a:ln>
        </p:spPr>
      </p:sp>
      <p:sp>
        <p:nvSpPr>
          <p:cNvPr id="23" name="Shape 21"/>
          <p:cNvSpPr/>
          <p:nvPr/>
        </p:nvSpPr>
        <p:spPr>
          <a:xfrm>
            <a:off x="804672" y="4645152"/>
            <a:ext cx="420624" cy="420624"/>
          </a:xfrm>
          <a:prstGeom prst="ellipse">
            <a:avLst/>
          </a:prstGeom>
          <a:solidFill>
            <a:srgbClr val="2C5F2D"/>
          </a:solidFill>
          <a:ln w="12700">
            <a:solidFill>
              <a:srgbClr val="2C5F2D"/>
            </a:solidFill>
            <a:prstDash val="solid"/>
          </a:ln>
        </p:spPr>
      </p:sp>
      <p:sp>
        <p:nvSpPr>
          <p:cNvPr id="24" name="Text 22"/>
          <p:cNvSpPr txBox="1"/>
          <p:nvPr/>
        </p:nvSpPr>
        <p:spPr>
          <a:xfrm>
            <a:off x="804672" y="46451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804672" y="5166360"/>
            <a:ext cx="3017520" cy="292608"/>
          </a:xfrm>
          <a:prstGeom prst="rect">
            <a:avLst/>
          </a:prstGeom>
          <a:noFill/>
          <a:ln/>
        </p:spPr>
        <p:txBody>
          <a:bodyPr wrap="square" lIns="0" tIns="0" rIns="0" bIns="0"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Relever les capteurs</a:t>
            </a:r>
            <a:endParaRPr lang="en-US" sz="1500" dirty="0"/>
          </a:p>
        </p:txBody>
      </p:sp>
      <p:sp>
        <p:nvSpPr>
          <p:cNvPr id="26" name="Text 24"/>
          <p:cNvSpPr txBox="1"/>
          <p:nvPr/>
        </p:nvSpPr>
        <p:spPr>
          <a:xfrm>
            <a:off x="804672" y="5468112"/>
            <a:ext cx="3017520" cy="411480"/>
          </a:xfrm>
          <a:prstGeom prst="rect">
            <a:avLst/>
          </a:prstGeom>
          <a:noFill/>
          <a:ln/>
        </p:spPr>
        <p:txBody>
          <a:bodyPr wrap="square" lIns="0" tIns="0" rIns="0" bIns="0" rtlCol="0" anchor="ctr"/>
          <a:lstStyle/>
          <a:p>
            <a:pPr indent="0" marL="0">
              <a:buNone/>
            </a:pPr>
            <a:r>
              <a:rPr lang="en-US" sz="1200" dirty="0">
                <a:solidFill>
                  <a:srgbClr val="5F6B5F"/>
                </a:solidFill>
                <a:latin typeface="Calibri" pitchFamily="34" charset="0"/>
                <a:ea typeface="Calibri" pitchFamily="34" charset="-122"/>
                <a:cs typeface="Calibri" pitchFamily="34" charset="-120"/>
              </a:rPr>
              <a:t>Six mesures par parcelle, en direct</a:t>
            </a:r>
            <a:endParaRPr lang="en-US" sz="1200" dirty="0"/>
          </a:p>
        </p:txBody>
      </p:sp>
      <p:sp>
        <p:nvSpPr>
          <p:cNvPr id="27" name="Shape 25"/>
          <p:cNvSpPr/>
          <p:nvPr/>
        </p:nvSpPr>
        <p:spPr>
          <a:xfrm>
            <a:off x="4325112" y="4389120"/>
            <a:ext cx="3502152" cy="1600200"/>
          </a:xfrm>
          <a:prstGeom prst="roundRect">
            <a:avLst>
              <a:gd name="adj" fmla="val 3429"/>
            </a:avLst>
          </a:prstGeom>
          <a:solidFill>
            <a:srgbClr val="EEF3EA"/>
          </a:solidFill>
          <a:ln w="12700">
            <a:solidFill>
              <a:srgbClr val="EEF3EA"/>
            </a:solidFill>
            <a:prstDash val="solid"/>
          </a:ln>
        </p:spPr>
      </p:sp>
      <p:sp>
        <p:nvSpPr>
          <p:cNvPr id="28" name="Shape 26"/>
          <p:cNvSpPr/>
          <p:nvPr/>
        </p:nvSpPr>
        <p:spPr>
          <a:xfrm>
            <a:off x="4581144" y="4645152"/>
            <a:ext cx="420624" cy="420624"/>
          </a:xfrm>
          <a:prstGeom prst="ellipse">
            <a:avLst/>
          </a:prstGeom>
          <a:solidFill>
            <a:srgbClr val="2C5F2D"/>
          </a:solidFill>
          <a:ln w="12700">
            <a:solidFill>
              <a:srgbClr val="2C5F2D"/>
            </a:solidFill>
            <a:prstDash val="solid"/>
          </a:ln>
        </p:spPr>
      </p:sp>
      <p:sp>
        <p:nvSpPr>
          <p:cNvPr id="29" name="Text 27"/>
          <p:cNvSpPr txBox="1"/>
          <p:nvPr/>
        </p:nvSpPr>
        <p:spPr>
          <a:xfrm>
            <a:off x="4581144" y="46451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8"/>
          <p:cNvSpPr txBox="1"/>
          <p:nvPr/>
        </p:nvSpPr>
        <p:spPr>
          <a:xfrm>
            <a:off x="4581144" y="5166360"/>
            <a:ext cx="3017520" cy="292608"/>
          </a:xfrm>
          <a:prstGeom prst="rect">
            <a:avLst/>
          </a:prstGeom>
          <a:noFill/>
          <a:ln/>
        </p:spPr>
        <p:txBody>
          <a:bodyPr wrap="square" lIns="0" tIns="0" rIns="0" bIns="0"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Vérifier les alertes</a:t>
            </a:r>
            <a:endParaRPr lang="en-US" sz="1500" dirty="0"/>
          </a:p>
        </p:txBody>
      </p:sp>
      <p:sp>
        <p:nvSpPr>
          <p:cNvPr id="31" name="Text 29"/>
          <p:cNvSpPr txBox="1"/>
          <p:nvPr/>
        </p:nvSpPr>
        <p:spPr>
          <a:xfrm>
            <a:off x="4581144" y="5468112"/>
            <a:ext cx="3017520" cy="411480"/>
          </a:xfrm>
          <a:prstGeom prst="rect">
            <a:avLst/>
          </a:prstGeom>
          <a:noFill/>
          <a:ln/>
        </p:spPr>
        <p:txBody>
          <a:bodyPr wrap="square" lIns="0" tIns="0" rIns="0" bIns="0" rtlCol="0" anchor="ctr"/>
          <a:lstStyle/>
          <a:p>
            <a:pPr indent="0" marL="0">
              <a:buNone/>
            </a:pPr>
            <a:r>
              <a:rPr lang="en-US" sz="1200" dirty="0">
                <a:solidFill>
                  <a:srgbClr val="5F6B5F"/>
                </a:solidFill>
                <a:latin typeface="Calibri" pitchFamily="34" charset="0"/>
                <a:ea typeface="Calibri" pitchFamily="34" charset="-122"/>
                <a:cs typeface="Calibri" pitchFamily="34" charset="-120"/>
              </a:rPr>
              <a:t>Capteurs, IA et météo croisés</a:t>
            </a:r>
            <a:endParaRPr lang="en-US" sz="1200" dirty="0"/>
          </a:p>
        </p:txBody>
      </p:sp>
      <p:sp>
        <p:nvSpPr>
          <p:cNvPr id="32" name="Shape 30"/>
          <p:cNvSpPr/>
          <p:nvPr/>
        </p:nvSpPr>
        <p:spPr>
          <a:xfrm>
            <a:off x="8101584" y="4389120"/>
            <a:ext cx="3502152" cy="1600200"/>
          </a:xfrm>
          <a:prstGeom prst="roundRect">
            <a:avLst>
              <a:gd name="adj" fmla="val 3429"/>
            </a:avLst>
          </a:prstGeom>
          <a:solidFill>
            <a:srgbClr val="EEF3EA"/>
          </a:solidFill>
          <a:ln w="12700">
            <a:solidFill>
              <a:srgbClr val="EEF3EA"/>
            </a:solidFill>
            <a:prstDash val="solid"/>
          </a:ln>
        </p:spPr>
      </p:sp>
      <p:sp>
        <p:nvSpPr>
          <p:cNvPr id="33" name="Shape 31"/>
          <p:cNvSpPr/>
          <p:nvPr/>
        </p:nvSpPr>
        <p:spPr>
          <a:xfrm>
            <a:off x="8357616" y="4645152"/>
            <a:ext cx="420624" cy="420624"/>
          </a:xfrm>
          <a:prstGeom prst="ellipse">
            <a:avLst/>
          </a:prstGeom>
          <a:solidFill>
            <a:srgbClr val="2C5F2D"/>
          </a:solidFill>
          <a:ln w="12700">
            <a:solidFill>
              <a:srgbClr val="2C5F2D"/>
            </a:solidFill>
            <a:prstDash val="solid"/>
          </a:ln>
        </p:spPr>
      </p:sp>
      <p:sp>
        <p:nvSpPr>
          <p:cNvPr id="34" name="Text 32"/>
          <p:cNvSpPr txBox="1"/>
          <p:nvPr/>
        </p:nvSpPr>
        <p:spPr>
          <a:xfrm>
            <a:off x="8357616" y="46451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5" name="Text 33"/>
          <p:cNvSpPr txBox="1"/>
          <p:nvPr/>
        </p:nvSpPr>
        <p:spPr>
          <a:xfrm>
            <a:off x="8357616" y="5166360"/>
            <a:ext cx="3017520" cy="292608"/>
          </a:xfrm>
          <a:prstGeom prst="rect">
            <a:avLst/>
          </a:prstGeom>
          <a:noFill/>
          <a:ln/>
        </p:spPr>
        <p:txBody>
          <a:bodyPr wrap="square" lIns="0" tIns="0" rIns="0" bIns="0"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Suivre la météo</a:t>
            </a:r>
            <a:endParaRPr lang="en-US" sz="1500" dirty="0"/>
          </a:p>
        </p:txBody>
      </p:sp>
      <p:sp>
        <p:nvSpPr>
          <p:cNvPr id="36" name="Text 34"/>
          <p:cNvSpPr txBox="1"/>
          <p:nvPr/>
        </p:nvSpPr>
        <p:spPr>
          <a:xfrm>
            <a:off x="8357616" y="5468112"/>
            <a:ext cx="3017520" cy="411480"/>
          </a:xfrm>
          <a:prstGeom prst="rect">
            <a:avLst/>
          </a:prstGeom>
          <a:noFill/>
          <a:ln/>
        </p:spPr>
        <p:txBody>
          <a:bodyPr wrap="square" lIns="0" tIns="0" rIns="0" bIns="0" rtlCol="0" anchor="ctr"/>
          <a:lstStyle/>
          <a:p>
            <a:pPr indent="0" marL="0">
              <a:buNone/>
            </a:pPr>
            <a:r>
              <a:rPr lang="en-US" sz="1200" dirty="0">
                <a:solidFill>
                  <a:srgbClr val="5F6B5F"/>
                </a:solidFill>
                <a:latin typeface="Calibri" pitchFamily="34" charset="0"/>
                <a:ea typeface="Calibri" pitchFamily="34" charset="-122"/>
                <a:cs typeface="Calibri" pitchFamily="34" charset="-120"/>
              </a:rPr>
              <a:t>Prévisions locales sur cinq jours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FONCTIONNALITÉS</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Six modules, un seul parcours</a:t>
            </a:r>
            <a:endParaRPr lang="en-US" sz="3400" dirty="0"/>
          </a:p>
        </p:txBody>
      </p:sp>
      <p:sp>
        <p:nvSpPr>
          <p:cNvPr id="4" name="Shape 2"/>
          <p:cNvSpPr/>
          <p:nvPr/>
        </p:nvSpPr>
        <p:spPr>
          <a:xfrm>
            <a:off x="548640" y="1600200"/>
            <a:ext cx="3502152" cy="2148840"/>
          </a:xfrm>
          <a:prstGeom prst="roundRect">
            <a:avLst>
              <a:gd name="adj" fmla="val 2553"/>
            </a:avLst>
          </a:prstGeom>
          <a:solidFill>
            <a:srgbClr val="EEF3EA"/>
          </a:solidFill>
          <a:ln w="12700">
            <a:solidFill>
              <a:srgbClr val="EEF3EA"/>
            </a:solidFill>
            <a:prstDash val="solid"/>
          </a:ln>
        </p:spPr>
      </p:sp>
      <p:sp>
        <p:nvSpPr>
          <p:cNvPr id="5" name="Shape 3"/>
          <p:cNvSpPr/>
          <p:nvPr/>
        </p:nvSpPr>
        <p:spPr>
          <a:xfrm>
            <a:off x="822960" y="1892808"/>
            <a:ext cx="274320" cy="274320"/>
          </a:xfrm>
          <a:prstGeom prst="ellipse">
            <a:avLst/>
          </a:prstGeom>
          <a:solidFill>
            <a:srgbClr val="97BC62"/>
          </a:solidFill>
          <a:ln w="12700">
            <a:solidFill>
              <a:srgbClr val="97BC62"/>
            </a:solidFill>
            <a:prstDash val="solid"/>
          </a:ln>
        </p:spPr>
      </p:sp>
      <p:sp>
        <p:nvSpPr>
          <p:cNvPr id="6" name="Text 4"/>
          <p:cNvSpPr txBox="1"/>
          <p:nvPr/>
        </p:nvSpPr>
        <p:spPr>
          <a:xfrm>
            <a:off x="822960" y="231343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Diagnostic par image</a:t>
            </a:r>
            <a:endParaRPr lang="en-US" sz="1600" dirty="0"/>
          </a:p>
        </p:txBody>
      </p:sp>
      <p:sp>
        <p:nvSpPr>
          <p:cNvPr id="7" name="Text 5"/>
          <p:cNvSpPr txBox="1"/>
          <p:nvPr/>
        </p:nvSpPr>
        <p:spPr>
          <a:xfrm>
            <a:off x="822960" y="267919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Analyse d'une photo de feuille et identification parmi cinq maladies ou l'état sain.</a:t>
            </a:r>
            <a:endParaRPr lang="en-US" sz="1250" dirty="0"/>
          </a:p>
        </p:txBody>
      </p:sp>
      <p:sp>
        <p:nvSpPr>
          <p:cNvPr id="8" name="Shape 6"/>
          <p:cNvSpPr/>
          <p:nvPr/>
        </p:nvSpPr>
        <p:spPr>
          <a:xfrm>
            <a:off x="4325112" y="1600200"/>
            <a:ext cx="3502152" cy="2148840"/>
          </a:xfrm>
          <a:prstGeom prst="roundRect">
            <a:avLst>
              <a:gd name="adj" fmla="val 2553"/>
            </a:avLst>
          </a:prstGeom>
          <a:solidFill>
            <a:srgbClr val="EEF3EA"/>
          </a:solidFill>
          <a:ln w="12700">
            <a:solidFill>
              <a:srgbClr val="EEF3EA"/>
            </a:solidFill>
            <a:prstDash val="solid"/>
          </a:ln>
        </p:spPr>
      </p:sp>
      <p:sp>
        <p:nvSpPr>
          <p:cNvPr id="9" name="Shape 7"/>
          <p:cNvSpPr/>
          <p:nvPr/>
        </p:nvSpPr>
        <p:spPr>
          <a:xfrm>
            <a:off x="4599432" y="1892808"/>
            <a:ext cx="274320" cy="274320"/>
          </a:xfrm>
          <a:prstGeom prst="ellipse">
            <a:avLst/>
          </a:prstGeom>
          <a:solidFill>
            <a:srgbClr val="97BC62"/>
          </a:solidFill>
          <a:ln w="12700">
            <a:solidFill>
              <a:srgbClr val="97BC62"/>
            </a:solidFill>
            <a:prstDash val="solid"/>
          </a:ln>
        </p:spPr>
      </p:sp>
      <p:sp>
        <p:nvSpPr>
          <p:cNvPr id="10" name="Text 8"/>
          <p:cNvSpPr txBox="1"/>
          <p:nvPr/>
        </p:nvSpPr>
        <p:spPr>
          <a:xfrm>
            <a:off x="4599432" y="231343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Capteurs de parcelle</a:t>
            </a:r>
            <a:endParaRPr lang="en-US" sz="1600" dirty="0"/>
          </a:p>
        </p:txBody>
      </p:sp>
      <p:sp>
        <p:nvSpPr>
          <p:cNvPr id="11" name="Text 9"/>
          <p:cNvSpPr txBox="1"/>
          <p:nvPr/>
        </p:nvSpPr>
        <p:spPr>
          <a:xfrm>
            <a:off x="4599432" y="267919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Six grandeurs relevées chaque minute et remontées à l'API par chaque boîtier.</a:t>
            </a:r>
            <a:endParaRPr lang="en-US" sz="1250" dirty="0"/>
          </a:p>
        </p:txBody>
      </p:sp>
      <p:sp>
        <p:nvSpPr>
          <p:cNvPr id="12" name="Shape 10"/>
          <p:cNvSpPr/>
          <p:nvPr/>
        </p:nvSpPr>
        <p:spPr>
          <a:xfrm>
            <a:off x="8101584" y="1600200"/>
            <a:ext cx="3502152" cy="2148840"/>
          </a:xfrm>
          <a:prstGeom prst="roundRect">
            <a:avLst>
              <a:gd name="adj" fmla="val 2553"/>
            </a:avLst>
          </a:prstGeom>
          <a:solidFill>
            <a:srgbClr val="EEF3EA"/>
          </a:solidFill>
          <a:ln w="12700">
            <a:solidFill>
              <a:srgbClr val="EEF3EA"/>
            </a:solidFill>
            <a:prstDash val="solid"/>
          </a:ln>
        </p:spPr>
      </p:sp>
      <p:sp>
        <p:nvSpPr>
          <p:cNvPr id="13" name="Shape 11"/>
          <p:cNvSpPr/>
          <p:nvPr/>
        </p:nvSpPr>
        <p:spPr>
          <a:xfrm>
            <a:off x="8375904" y="1892808"/>
            <a:ext cx="274320" cy="274320"/>
          </a:xfrm>
          <a:prstGeom prst="ellipse">
            <a:avLst/>
          </a:prstGeom>
          <a:solidFill>
            <a:srgbClr val="97BC62"/>
          </a:solidFill>
          <a:ln w="12700">
            <a:solidFill>
              <a:srgbClr val="97BC62"/>
            </a:solidFill>
            <a:prstDash val="solid"/>
          </a:ln>
        </p:spPr>
      </p:sp>
      <p:sp>
        <p:nvSpPr>
          <p:cNvPr id="14" name="Text 12"/>
          <p:cNvSpPr txBox="1"/>
          <p:nvPr/>
        </p:nvSpPr>
        <p:spPr>
          <a:xfrm>
            <a:off x="8375904" y="231343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Gestion des parcelles</a:t>
            </a:r>
            <a:endParaRPr lang="en-US" sz="1600" dirty="0"/>
          </a:p>
        </p:txBody>
      </p:sp>
      <p:sp>
        <p:nvSpPr>
          <p:cNvPr id="15" name="Text 13"/>
          <p:cNvSpPr txBox="1"/>
          <p:nvPr/>
        </p:nvSpPr>
        <p:spPr>
          <a:xfrm>
            <a:off x="8375904" y="267919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Créer, modifier et supprimer chaque champ ; tout est écrit en base.</a:t>
            </a:r>
            <a:endParaRPr lang="en-US" sz="1250" dirty="0"/>
          </a:p>
        </p:txBody>
      </p:sp>
      <p:sp>
        <p:nvSpPr>
          <p:cNvPr id="16" name="Shape 14"/>
          <p:cNvSpPr/>
          <p:nvPr/>
        </p:nvSpPr>
        <p:spPr>
          <a:xfrm>
            <a:off x="548640" y="3931920"/>
            <a:ext cx="3502152" cy="2148840"/>
          </a:xfrm>
          <a:prstGeom prst="roundRect">
            <a:avLst>
              <a:gd name="adj" fmla="val 2553"/>
            </a:avLst>
          </a:prstGeom>
          <a:solidFill>
            <a:srgbClr val="EEF3EA"/>
          </a:solidFill>
          <a:ln w="12700">
            <a:solidFill>
              <a:srgbClr val="EEF3EA"/>
            </a:solidFill>
            <a:prstDash val="solid"/>
          </a:ln>
        </p:spPr>
      </p:sp>
      <p:sp>
        <p:nvSpPr>
          <p:cNvPr id="17" name="Shape 15"/>
          <p:cNvSpPr/>
          <p:nvPr/>
        </p:nvSpPr>
        <p:spPr>
          <a:xfrm>
            <a:off x="822960" y="4224528"/>
            <a:ext cx="274320" cy="274320"/>
          </a:xfrm>
          <a:prstGeom prst="ellipse">
            <a:avLst/>
          </a:prstGeom>
          <a:solidFill>
            <a:srgbClr val="97BC62"/>
          </a:solidFill>
          <a:ln w="12700">
            <a:solidFill>
              <a:srgbClr val="97BC62"/>
            </a:solidFill>
            <a:prstDash val="solid"/>
          </a:ln>
        </p:spPr>
      </p:sp>
      <p:sp>
        <p:nvSpPr>
          <p:cNvPr id="18" name="Text 16"/>
          <p:cNvSpPr txBox="1"/>
          <p:nvPr/>
        </p:nvSpPr>
        <p:spPr>
          <a:xfrm>
            <a:off x="822960" y="464515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Historique complet</a:t>
            </a:r>
            <a:endParaRPr lang="en-US" sz="1600" dirty="0"/>
          </a:p>
        </p:txBody>
      </p:sp>
      <p:sp>
        <p:nvSpPr>
          <p:cNvPr id="19" name="Text 17"/>
          <p:cNvSpPr txBox="1"/>
          <p:nvPr/>
        </p:nvSpPr>
        <p:spPr>
          <a:xfrm>
            <a:off x="822960" y="501091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Chaque diagnostic est conservé avec sa date et son indice de confiance.</a:t>
            </a:r>
            <a:endParaRPr lang="en-US" sz="1250" dirty="0"/>
          </a:p>
        </p:txBody>
      </p:sp>
      <p:sp>
        <p:nvSpPr>
          <p:cNvPr id="20" name="Shape 18"/>
          <p:cNvSpPr/>
          <p:nvPr/>
        </p:nvSpPr>
        <p:spPr>
          <a:xfrm>
            <a:off x="4325112" y="3931920"/>
            <a:ext cx="3502152" cy="2148840"/>
          </a:xfrm>
          <a:prstGeom prst="roundRect">
            <a:avLst>
              <a:gd name="adj" fmla="val 2553"/>
            </a:avLst>
          </a:prstGeom>
          <a:solidFill>
            <a:srgbClr val="EEF3EA"/>
          </a:solidFill>
          <a:ln w="12700">
            <a:solidFill>
              <a:srgbClr val="EEF3EA"/>
            </a:solidFill>
            <a:prstDash val="solid"/>
          </a:ln>
        </p:spPr>
      </p:sp>
      <p:sp>
        <p:nvSpPr>
          <p:cNvPr id="21" name="Shape 19"/>
          <p:cNvSpPr/>
          <p:nvPr/>
        </p:nvSpPr>
        <p:spPr>
          <a:xfrm>
            <a:off x="4599432" y="4224528"/>
            <a:ext cx="274320" cy="274320"/>
          </a:xfrm>
          <a:prstGeom prst="ellipse">
            <a:avLst/>
          </a:prstGeom>
          <a:solidFill>
            <a:srgbClr val="97BC62"/>
          </a:solidFill>
          <a:ln w="12700">
            <a:solidFill>
              <a:srgbClr val="97BC62"/>
            </a:solidFill>
            <a:prstDash val="solid"/>
          </a:ln>
        </p:spPr>
      </p:sp>
      <p:sp>
        <p:nvSpPr>
          <p:cNvPr id="22" name="Text 20"/>
          <p:cNvSpPr txBox="1"/>
          <p:nvPr/>
        </p:nvSpPr>
        <p:spPr>
          <a:xfrm>
            <a:off x="4599432" y="464515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Météo temps réel</a:t>
            </a:r>
            <a:endParaRPr lang="en-US" sz="1600" dirty="0"/>
          </a:p>
        </p:txBody>
      </p:sp>
      <p:sp>
        <p:nvSpPr>
          <p:cNvPr id="23" name="Text 21"/>
          <p:cNvSpPr txBox="1"/>
          <p:nvPr/>
        </p:nvSpPr>
        <p:spPr>
          <a:xfrm>
            <a:off x="4599432" y="501091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Conditions actuelles et prévisions à cinq jours pour la localisation choisie.</a:t>
            </a:r>
            <a:endParaRPr lang="en-US" sz="1250" dirty="0"/>
          </a:p>
        </p:txBody>
      </p:sp>
      <p:sp>
        <p:nvSpPr>
          <p:cNvPr id="24" name="Shape 22"/>
          <p:cNvSpPr/>
          <p:nvPr/>
        </p:nvSpPr>
        <p:spPr>
          <a:xfrm>
            <a:off x="8101584" y="3931920"/>
            <a:ext cx="3502152" cy="2148840"/>
          </a:xfrm>
          <a:prstGeom prst="roundRect">
            <a:avLst>
              <a:gd name="adj" fmla="val 2553"/>
            </a:avLst>
          </a:prstGeom>
          <a:solidFill>
            <a:srgbClr val="EEF3EA"/>
          </a:solidFill>
          <a:ln w="12700">
            <a:solidFill>
              <a:srgbClr val="EEF3EA"/>
            </a:solidFill>
            <a:prstDash val="solid"/>
          </a:ln>
        </p:spPr>
      </p:sp>
      <p:sp>
        <p:nvSpPr>
          <p:cNvPr id="25" name="Shape 23"/>
          <p:cNvSpPr/>
          <p:nvPr/>
        </p:nvSpPr>
        <p:spPr>
          <a:xfrm>
            <a:off x="8375904" y="4224528"/>
            <a:ext cx="274320" cy="274320"/>
          </a:xfrm>
          <a:prstGeom prst="ellipse">
            <a:avLst/>
          </a:prstGeom>
          <a:solidFill>
            <a:srgbClr val="97BC62"/>
          </a:solidFill>
          <a:ln w="12700">
            <a:solidFill>
              <a:srgbClr val="97BC62"/>
            </a:solidFill>
            <a:prstDash val="solid"/>
          </a:ln>
        </p:spPr>
      </p:sp>
      <p:sp>
        <p:nvSpPr>
          <p:cNvPr id="26" name="Text 24"/>
          <p:cNvSpPr txBox="1"/>
          <p:nvPr/>
        </p:nvSpPr>
        <p:spPr>
          <a:xfrm>
            <a:off x="8375904" y="464515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Alertes croisées</a:t>
            </a:r>
            <a:endParaRPr lang="en-US" sz="1600" dirty="0"/>
          </a:p>
        </p:txBody>
      </p:sp>
      <p:sp>
        <p:nvSpPr>
          <p:cNvPr id="27" name="Text 25"/>
          <p:cNvSpPr txBox="1"/>
          <p:nvPr/>
        </p:nvSpPr>
        <p:spPr>
          <a:xfrm>
            <a:off x="8375904" y="501091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Relevés des capteurs, diagnostics et météo combinés en une seule liste.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Une couche terrain et quatre tiers</a:t>
            </a:r>
            <a:endParaRPr lang="en-US" sz="3400" dirty="0"/>
          </a:p>
        </p:txBody>
      </p:sp>
      <p:sp>
        <p:nvSpPr>
          <p:cNvPr id="4" name="Shape 2"/>
          <p:cNvSpPr/>
          <p:nvPr/>
        </p:nvSpPr>
        <p:spPr>
          <a:xfrm>
            <a:off x="548640" y="1600200"/>
            <a:ext cx="2066544" cy="2606040"/>
          </a:xfrm>
          <a:prstGeom prst="roundRect">
            <a:avLst>
              <a:gd name="adj" fmla="val 2655"/>
            </a:avLst>
          </a:prstGeom>
          <a:solidFill>
            <a:srgbClr val="2C5F2D"/>
          </a:solidFill>
          <a:ln w="12700">
            <a:solidFill>
              <a:srgbClr val="2C5F2D"/>
            </a:solidFill>
            <a:prstDash val="solid"/>
          </a:ln>
        </p:spPr>
      </p:sp>
      <p:sp>
        <p:nvSpPr>
          <p:cNvPr id="5" name="Text 3"/>
          <p:cNvSpPr txBox="1"/>
          <p:nvPr/>
        </p:nvSpPr>
        <p:spPr>
          <a:xfrm>
            <a:off x="731520" y="1828800"/>
            <a:ext cx="1700784" cy="228600"/>
          </a:xfrm>
          <a:prstGeom prst="rect">
            <a:avLst/>
          </a:prstGeom>
          <a:noFill/>
          <a:ln/>
        </p:spPr>
        <p:txBody>
          <a:bodyPr wrap="square" lIns="0" tIns="0" rIns="0" bIns="0" rtlCol="0" anchor="ctr"/>
          <a:lstStyle/>
          <a:p>
            <a:pPr indent="0" marL="0">
              <a:buNone/>
            </a:pPr>
            <a:r>
              <a:rPr lang="en-US" sz="1050" b="1" spc="120" kern="0" dirty="0">
                <a:solidFill>
                  <a:srgbClr val="97BC62"/>
                </a:solidFill>
                <a:latin typeface="Calibri" pitchFamily="34" charset="0"/>
                <a:ea typeface="Calibri" pitchFamily="34" charset="-122"/>
                <a:cs typeface="Calibri" pitchFamily="34" charset="-120"/>
              </a:rPr>
              <a:t>TERRAIN</a:t>
            </a:r>
            <a:endParaRPr lang="en-US" sz="1050" dirty="0"/>
          </a:p>
        </p:txBody>
      </p:sp>
      <p:sp>
        <p:nvSpPr>
          <p:cNvPr id="6" name="Text 4"/>
          <p:cNvSpPr txBox="1"/>
          <p:nvPr/>
        </p:nvSpPr>
        <p:spPr>
          <a:xfrm>
            <a:off x="731520" y="2103120"/>
            <a:ext cx="1700784"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Capteurs IoT</a:t>
            </a:r>
            <a:endParaRPr lang="en-US" sz="1700" dirty="0"/>
          </a:p>
        </p:txBody>
      </p:sp>
      <p:sp>
        <p:nvSpPr>
          <p:cNvPr id="7" name="Text 5"/>
          <p:cNvSpPr txBox="1"/>
          <p:nvPr/>
        </p:nvSpPr>
        <p:spPr>
          <a:xfrm>
            <a:off x="731520" y="2606040"/>
            <a:ext cx="1737360" cy="173736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D8E8CF"/>
                </a:solidFill>
                <a:latin typeface="Calibri" pitchFamily="34" charset="0"/>
                <a:ea typeface="Calibri" pitchFamily="34" charset="-122"/>
                <a:cs typeface="Calibri" pitchFamily="34" charset="-120"/>
              </a:rPr>
              <a:t>Un boîtier par parcelle</a:t>
            </a:r>
            <a:endParaRPr lang="en-US" sz="1100" dirty="0"/>
          </a:p>
          <a:p>
            <a:pPr marL="342900" indent="-342900">
              <a:spcAft>
                <a:spcPts val="500"/>
              </a:spcAft>
              <a:buSzPct val="100000"/>
              <a:buChar char="•"/>
            </a:pPr>
            <a:r>
              <a:rPr lang="en-US" sz="1100" dirty="0">
                <a:solidFill>
                  <a:srgbClr val="D8E8CF"/>
                </a:solidFill>
                <a:latin typeface="Calibri" pitchFamily="34" charset="0"/>
                <a:ea typeface="Calibri" pitchFamily="34" charset="-122"/>
                <a:cs typeface="Calibri" pitchFamily="34" charset="-120"/>
              </a:rPr>
              <a:t>Six grandeurs mesurées</a:t>
            </a:r>
            <a:endParaRPr lang="en-US" sz="1100" dirty="0"/>
          </a:p>
          <a:p>
            <a:pPr marL="342900" indent="-342900">
              <a:spcAft>
                <a:spcPts val="500"/>
              </a:spcAft>
              <a:buSzPct val="100000"/>
              <a:buChar char="•"/>
            </a:pPr>
            <a:r>
              <a:rPr lang="en-US" sz="1100" dirty="0">
                <a:solidFill>
                  <a:srgbClr val="D8E8CF"/>
                </a:solidFill>
                <a:latin typeface="Calibri" pitchFamily="34" charset="0"/>
                <a:ea typeface="Calibri" pitchFamily="34" charset="-122"/>
                <a:cs typeface="Calibri" pitchFamily="34" charset="-120"/>
              </a:rPr>
              <a:t>Une trame par minute</a:t>
            </a:r>
            <a:endParaRPr lang="en-US" sz="1100" dirty="0"/>
          </a:p>
        </p:txBody>
      </p:sp>
      <p:sp>
        <p:nvSpPr>
          <p:cNvPr id="8" name="Shape 6"/>
          <p:cNvSpPr/>
          <p:nvPr/>
        </p:nvSpPr>
        <p:spPr>
          <a:xfrm>
            <a:off x="2798064" y="1600200"/>
            <a:ext cx="2066544" cy="2606040"/>
          </a:xfrm>
          <a:prstGeom prst="roundRect">
            <a:avLst>
              <a:gd name="adj" fmla="val 2655"/>
            </a:avLst>
          </a:prstGeom>
          <a:solidFill>
            <a:srgbClr val="EEF3EA"/>
          </a:solidFill>
          <a:ln w="12700">
            <a:solidFill>
              <a:srgbClr val="EEF3EA"/>
            </a:solidFill>
            <a:prstDash val="solid"/>
          </a:ln>
        </p:spPr>
      </p:sp>
      <p:sp>
        <p:nvSpPr>
          <p:cNvPr id="9" name="Text 7"/>
          <p:cNvSpPr txBox="1"/>
          <p:nvPr/>
        </p:nvSpPr>
        <p:spPr>
          <a:xfrm>
            <a:off x="2980944" y="1828800"/>
            <a:ext cx="1700784" cy="228600"/>
          </a:xfrm>
          <a:prstGeom prst="rect">
            <a:avLst/>
          </a:prstGeom>
          <a:noFill/>
          <a:ln/>
        </p:spPr>
        <p:txBody>
          <a:bodyPr wrap="square" lIns="0" tIns="0" rIns="0" bIns="0" rtlCol="0" anchor="ctr"/>
          <a:lstStyle/>
          <a:p>
            <a:pPr indent="0" marL="0">
              <a:buNone/>
            </a:pPr>
            <a:r>
              <a:rPr lang="en-US" sz="1050" b="1" spc="120" kern="0" dirty="0">
                <a:solidFill>
                  <a:srgbClr val="4A7A3A"/>
                </a:solidFill>
                <a:latin typeface="Calibri" pitchFamily="34" charset="0"/>
                <a:ea typeface="Calibri" pitchFamily="34" charset="-122"/>
                <a:cs typeface="Calibri" pitchFamily="34" charset="-120"/>
              </a:rPr>
              <a:t>TIER 1</a:t>
            </a:r>
            <a:endParaRPr lang="en-US" sz="1050" dirty="0"/>
          </a:p>
        </p:txBody>
      </p:sp>
      <p:sp>
        <p:nvSpPr>
          <p:cNvPr id="10" name="Text 8"/>
          <p:cNvSpPr txBox="1"/>
          <p:nvPr/>
        </p:nvSpPr>
        <p:spPr>
          <a:xfrm>
            <a:off x="2980944" y="2103120"/>
            <a:ext cx="1700784" cy="41148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Présentation</a:t>
            </a:r>
            <a:endParaRPr lang="en-US" sz="1700" dirty="0"/>
          </a:p>
        </p:txBody>
      </p:sp>
      <p:sp>
        <p:nvSpPr>
          <p:cNvPr id="11" name="Text 9"/>
          <p:cNvSpPr txBox="1"/>
          <p:nvPr/>
        </p:nvSpPr>
        <p:spPr>
          <a:xfrm>
            <a:off x="2980944" y="2606040"/>
            <a:ext cx="1737360" cy="173736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HTML, CSS, JavaScript</a:t>
            </a:r>
            <a:endParaRPr lang="en-US" sz="1100" dirty="0"/>
          </a:p>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Interface responsive</a:t>
            </a:r>
            <a:endParaRPr lang="en-US" sz="1100" dirty="0"/>
          </a:p>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Mobile et ordinateur</a:t>
            </a:r>
            <a:endParaRPr lang="en-US" sz="1100" dirty="0"/>
          </a:p>
        </p:txBody>
      </p:sp>
      <p:sp>
        <p:nvSpPr>
          <p:cNvPr id="12" name="Shape 10"/>
          <p:cNvSpPr/>
          <p:nvPr/>
        </p:nvSpPr>
        <p:spPr>
          <a:xfrm>
            <a:off x="5047488" y="1600200"/>
            <a:ext cx="2066544" cy="2606040"/>
          </a:xfrm>
          <a:prstGeom prst="roundRect">
            <a:avLst>
              <a:gd name="adj" fmla="val 2655"/>
            </a:avLst>
          </a:prstGeom>
          <a:solidFill>
            <a:srgbClr val="EEF3EA"/>
          </a:solidFill>
          <a:ln w="12700">
            <a:solidFill>
              <a:srgbClr val="EEF3EA"/>
            </a:solidFill>
            <a:prstDash val="solid"/>
          </a:ln>
        </p:spPr>
      </p:sp>
      <p:sp>
        <p:nvSpPr>
          <p:cNvPr id="13" name="Text 11"/>
          <p:cNvSpPr txBox="1"/>
          <p:nvPr/>
        </p:nvSpPr>
        <p:spPr>
          <a:xfrm>
            <a:off x="5230368" y="1828800"/>
            <a:ext cx="1700784" cy="228600"/>
          </a:xfrm>
          <a:prstGeom prst="rect">
            <a:avLst/>
          </a:prstGeom>
          <a:noFill/>
          <a:ln/>
        </p:spPr>
        <p:txBody>
          <a:bodyPr wrap="square" lIns="0" tIns="0" rIns="0" bIns="0" rtlCol="0" anchor="ctr"/>
          <a:lstStyle/>
          <a:p>
            <a:pPr indent="0" marL="0">
              <a:buNone/>
            </a:pPr>
            <a:r>
              <a:rPr lang="en-US" sz="1050" b="1" spc="120" kern="0" dirty="0">
                <a:solidFill>
                  <a:srgbClr val="4A7A3A"/>
                </a:solidFill>
                <a:latin typeface="Calibri" pitchFamily="34" charset="0"/>
                <a:ea typeface="Calibri" pitchFamily="34" charset="-122"/>
                <a:cs typeface="Calibri" pitchFamily="34" charset="-120"/>
              </a:rPr>
              <a:t>TIER 2</a:t>
            </a:r>
            <a:endParaRPr lang="en-US" sz="1050" dirty="0"/>
          </a:p>
        </p:txBody>
      </p:sp>
      <p:sp>
        <p:nvSpPr>
          <p:cNvPr id="14" name="Text 12"/>
          <p:cNvSpPr txBox="1"/>
          <p:nvPr/>
        </p:nvSpPr>
        <p:spPr>
          <a:xfrm>
            <a:off x="5230368" y="2103120"/>
            <a:ext cx="1700784" cy="41148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Métier</a:t>
            </a:r>
            <a:endParaRPr lang="en-US" sz="1700" dirty="0"/>
          </a:p>
        </p:txBody>
      </p:sp>
      <p:sp>
        <p:nvSpPr>
          <p:cNvPr id="15" name="Text 13"/>
          <p:cNvSpPr txBox="1"/>
          <p:nvPr/>
        </p:nvSpPr>
        <p:spPr>
          <a:xfrm>
            <a:off x="5230368" y="2606040"/>
            <a:ext cx="1737360" cy="173736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API REST FastAPI</a:t>
            </a:r>
            <a:endParaRPr lang="en-US" sz="1100" dirty="0"/>
          </a:p>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Python 3.11 asynchrone</a:t>
            </a:r>
            <a:endParaRPr lang="en-US" sz="1100" dirty="0"/>
          </a:p>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Port 8000</a:t>
            </a:r>
            <a:endParaRPr lang="en-US" sz="1100" dirty="0"/>
          </a:p>
        </p:txBody>
      </p:sp>
      <p:sp>
        <p:nvSpPr>
          <p:cNvPr id="16" name="Shape 14"/>
          <p:cNvSpPr/>
          <p:nvPr/>
        </p:nvSpPr>
        <p:spPr>
          <a:xfrm>
            <a:off x="7296912" y="1600200"/>
            <a:ext cx="2066544" cy="2606040"/>
          </a:xfrm>
          <a:prstGeom prst="roundRect">
            <a:avLst>
              <a:gd name="adj" fmla="val 2655"/>
            </a:avLst>
          </a:prstGeom>
          <a:solidFill>
            <a:srgbClr val="EEF3EA"/>
          </a:solidFill>
          <a:ln w="12700">
            <a:solidFill>
              <a:srgbClr val="EEF3EA"/>
            </a:solidFill>
            <a:prstDash val="solid"/>
          </a:ln>
        </p:spPr>
      </p:sp>
      <p:sp>
        <p:nvSpPr>
          <p:cNvPr id="17" name="Text 15"/>
          <p:cNvSpPr txBox="1"/>
          <p:nvPr/>
        </p:nvSpPr>
        <p:spPr>
          <a:xfrm>
            <a:off x="7479792" y="1828800"/>
            <a:ext cx="1700784" cy="228600"/>
          </a:xfrm>
          <a:prstGeom prst="rect">
            <a:avLst/>
          </a:prstGeom>
          <a:noFill/>
          <a:ln/>
        </p:spPr>
        <p:txBody>
          <a:bodyPr wrap="square" lIns="0" tIns="0" rIns="0" bIns="0" rtlCol="0" anchor="ctr"/>
          <a:lstStyle/>
          <a:p>
            <a:pPr indent="0" marL="0">
              <a:buNone/>
            </a:pPr>
            <a:r>
              <a:rPr lang="en-US" sz="1050" b="1" spc="120" kern="0" dirty="0">
                <a:solidFill>
                  <a:srgbClr val="4A7A3A"/>
                </a:solidFill>
                <a:latin typeface="Calibri" pitchFamily="34" charset="0"/>
                <a:ea typeface="Calibri" pitchFamily="34" charset="-122"/>
                <a:cs typeface="Calibri" pitchFamily="34" charset="-120"/>
              </a:rPr>
              <a:t>TIER 3</a:t>
            </a:r>
            <a:endParaRPr lang="en-US" sz="1050" dirty="0"/>
          </a:p>
        </p:txBody>
      </p:sp>
      <p:sp>
        <p:nvSpPr>
          <p:cNvPr id="18" name="Text 16"/>
          <p:cNvSpPr txBox="1"/>
          <p:nvPr/>
        </p:nvSpPr>
        <p:spPr>
          <a:xfrm>
            <a:off x="7479792" y="2103120"/>
            <a:ext cx="1700784" cy="41148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Données</a:t>
            </a:r>
            <a:endParaRPr lang="en-US" sz="1700" dirty="0"/>
          </a:p>
        </p:txBody>
      </p:sp>
      <p:sp>
        <p:nvSpPr>
          <p:cNvPr id="19" name="Text 17"/>
          <p:cNvSpPr txBox="1"/>
          <p:nvPr/>
        </p:nvSpPr>
        <p:spPr>
          <a:xfrm>
            <a:off x="7479792" y="2606040"/>
            <a:ext cx="1737360" cy="173736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PostgreSQL 15</a:t>
            </a:r>
            <a:endParaRPr lang="en-US" sz="1100" dirty="0"/>
          </a:p>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Redis 7 pour le cache</a:t>
            </a:r>
            <a:endParaRPr lang="en-US" sz="1100" dirty="0"/>
          </a:p>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Volumes persistants</a:t>
            </a:r>
            <a:endParaRPr lang="en-US" sz="1100" dirty="0"/>
          </a:p>
        </p:txBody>
      </p:sp>
      <p:sp>
        <p:nvSpPr>
          <p:cNvPr id="20" name="Shape 18"/>
          <p:cNvSpPr/>
          <p:nvPr/>
        </p:nvSpPr>
        <p:spPr>
          <a:xfrm>
            <a:off x="9546336" y="1600200"/>
            <a:ext cx="2066544" cy="2606040"/>
          </a:xfrm>
          <a:prstGeom prst="roundRect">
            <a:avLst>
              <a:gd name="adj" fmla="val 2655"/>
            </a:avLst>
          </a:prstGeom>
          <a:solidFill>
            <a:srgbClr val="EEF3EA"/>
          </a:solidFill>
          <a:ln w="12700">
            <a:solidFill>
              <a:srgbClr val="EEF3EA"/>
            </a:solidFill>
            <a:prstDash val="solid"/>
          </a:ln>
        </p:spPr>
      </p:sp>
      <p:sp>
        <p:nvSpPr>
          <p:cNvPr id="21" name="Text 19"/>
          <p:cNvSpPr txBox="1"/>
          <p:nvPr/>
        </p:nvSpPr>
        <p:spPr>
          <a:xfrm>
            <a:off x="9729216" y="1828800"/>
            <a:ext cx="1700784" cy="228600"/>
          </a:xfrm>
          <a:prstGeom prst="rect">
            <a:avLst/>
          </a:prstGeom>
          <a:noFill/>
          <a:ln/>
        </p:spPr>
        <p:txBody>
          <a:bodyPr wrap="square" lIns="0" tIns="0" rIns="0" bIns="0" rtlCol="0" anchor="ctr"/>
          <a:lstStyle/>
          <a:p>
            <a:pPr indent="0" marL="0">
              <a:buNone/>
            </a:pPr>
            <a:r>
              <a:rPr lang="en-US" sz="1050" b="1" spc="120" kern="0" dirty="0">
                <a:solidFill>
                  <a:srgbClr val="4A7A3A"/>
                </a:solidFill>
                <a:latin typeface="Calibri" pitchFamily="34" charset="0"/>
                <a:ea typeface="Calibri" pitchFamily="34" charset="-122"/>
                <a:cs typeface="Calibri" pitchFamily="34" charset="-120"/>
              </a:rPr>
              <a:t>TIER 4</a:t>
            </a:r>
            <a:endParaRPr lang="en-US" sz="1050" dirty="0"/>
          </a:p>
        </p:txBody>
      </p:sp>
      <p:sp>
        <p:nvSpPr>
          <p:cNvPr id="22" name="Text 20"/>
          <p:cNvSpPr txBox="1"/>
          <p:nvPr/>
        </p:nvSpPr>
        <p:spPr>
          <a:xfrm>
            <a:off x="9729216" y="2103120"/>
            <a:ext cx="1700784" cy="411480"/>
          </a:xfrm>
          <a:prstGeom prst="rect">
            <a:avLst/>
          </a:prstGeom>
          <a:noFill/>
          <a:ln/>
        </p:spPr>
        <p:txBody>
          <a:bodyPr wrap="square" lIns="0" tIns="0" rIns="0" bIns="0"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Services</a:t>
            </a:r>
            <a:endParaRPr lang="en-US" sz="1700" dirty="0"/>
          </a:p>
        </p:txBody>
      </p:sp>
      <p:sp>
        <p:nvSpPr>
          <p:cNvPr id="23" name="Text 21"/>
          <p:cNvSpPr txBox="1"/>
          <p:nvPr/>
        </p:nvSpPr>
        <p:spPr>
          <a:xfrm>
            <a:off x="9729216" y="2606040"/>
            <a:ext cx="1737360" cy="173736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OpenCV et NumPy</a:t>
            </a:r>
            <a:endParaRPr lang="en-US" sz="1100" dirty="0"/>
          </a:p>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API Open-Meteo</a:t>
            </a:r>
            <a:endParaRPr lang="en-US" sz="1100" dirty="0"/>
          </a:p>
          <a:p>
            <a:pPr marL="342900" indent="-342900">
              <a:spcAft>
                <a:spcPts val="500"/>
              </a:spcAft>
              <a:buSzPct val="100000"/>
              <a:buChar char="•"/>
            </a:pPr>
            <a:r>
              <a:rPr lang="en-US" sz="1100" dirty="0">
                <a:solidFill>
                  <a:srgbClr val="5F6B5F"/>
                </a:solidFill>
                <a:latin typeface="Calibri" pitchFamily="34" charset="0"/>
                <a:ea typeface="Calibri" pitchFamily="34" charset="-122"/>
                <a:cs typeface="Calibri" pitchFamily="34" charset="-120"/>
              </a:rPr>
              <a:t>Nominatim OSM</a:t>
            </a:r>
            <a:endParaRPr lang="en-US" sz="1100" dirty="0"/>
          </a:p>
        </p:txBody>
      </p:sp>
      <p:sp>
        <p:nvSpPr>
          <p:cNvPr id="24" name="Shape 22"/>
          <p:cNvSpPr/>
          <p:nvPr/>
        </p:nvSpPr>
        <p:spPr>
          <a:xfrm>
            <a:off x="548640" y="4572000"/>
            <a:ext cx="11064240" cy="1188720"/>
          </a:xfrm>
          <a:prstGeom prst="roundRect">
            <a:avLst>
              <a:gd name="adj" fmla="val 4615"/>
            </a:avLst>
          </a:prstGeom>
          <a:solidFill>
            <a:srgbClr val="2C5F2D"/>
          </a:solidFill>
          <a:ln w="12700">
            <a:solidFill>
              <a:srgbClr val="2C5F2D"/>
            </a:solidFill>
            <a:prstDash val="solid"/>
          </a:ln>
        </p:spPr>
      </p:sp>
      <p:sp>
        <p:nvSpPr>
          <p:cNvPr id="25" name="Text 23"/>
          <p:cNvSpPr txBox="1"/>
          <p:nvPr/>
        </p:nvSpPr>
        <p:spPr>
          <a:xfrm>
            <a:off x="868680" y="4800600"/>
            <a:ext cx="2743200" cy="228600"/>
          </a:xfrm>
          <a:prstGeom prst="rect">
            <a:avLst/>
          </a:prstGeom>
          <a:noFill/>
          <a:ln/>
        </p:spPr>
        <p:txBody>
          <a:bodyPr wrap="square" lIns="0" tIns="0" rIns="0" bIns="0" rtlCol="0" anchor="ctr"/>
          <a:lstStyle/>
          <a:p>
            <a:pPr indent="0" marL="0">
              <a:buNone/>
            </a:pPr>
            <a:r>
              <a:rPr lang="en-US" sz="1100" b="1" spc="150" kern="0" dirty="0">
                <a:solidFill>
                  <a:srgbClr val="97BC62"/>
                </a:solidFill>
                <a:latin typeface="Calibri" pitchFamily="34" charset="0"/>
                <a:ea typeface="Calibri" pitchFamily="34" charset="-122"/>
                <a:cs typeface="Calibri" pitchFamily="34" charset="-120"/>
              </a:rPr>
              <a:t>FLUX DE DONNÉES</a:t>
            </a:r>
            <a:endParaRPr lang="en-US" sz="1100" dirty="0"/>
          </a:p>
        </p:txBody>
      </p:sp>
      <p:sp>
        <p:nvSpPr>
          <p:cNvPr id="26" name="Text 24"/>
          <p:cNvSpPr txBox="1"/>
          <p:nvPr/>
        </p:nvSpPr>
        <p:spPr>
          <a:xfrm>
            <a:off x="868680" y="5120640"/>
            <a:ext cx="104241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Photo  →  API FastAPI  →  Analyse OpenCV  →  Écriture PostgreSQL  →  Réponse JSON  →  Interface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CAPTEURS IoT</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Une surveillance qui ne dort jamais</a:t>
            </a:r>
            <a:endParaRPr lang="en-US" sz="3400" dirty="0"/>
          </a:p>
        </p:txBody>
      </p:sp>
      <p:sp>
        <p:nvSpPr>
          <p:cNvPr id="4" name="Shape 2"/>
          <p:cNvSpPr/>
          <p:nvPr/>
        </p:nvSpPr>
        <p:spPr>
          <a:xfrm>
            <a:off x="548640" y="1600200"/>
            <a:ext cx="5349240" cy="2834640"/>
          </a:xfrm>
          <a:prstGeom prst="roundRect">
            <a:avLst>
              <a:gd name="adj" fmla="val 1935"/>
            </a:avLst>
          </a:prstGeom>
          <a:solidFill>
            <a:srgbClr val="EEF3EA"/>
          </a:solidFill>
          <a:ln w="12700">
            <a:solidFill>
              <a:srgbClr val="EEF3EA"/>
            </a:solidFill>
            <a:prstDash val="solid"/>
          </a:ln>
        </p:spPr>
      </p:sp>
      <p:sp>
        <p:nvSpPr>
          <p:cNvPr id="5" name="Text 3"/>
          <p:cNvSpPr txBox="1"/>
          <p:nvPr/>
        </p:nvSpPr>
        <p:spPr>
          <a:xfrm>
            <a:off x="822960" y="1810512"/>
            <a:ext cx="4800600" cy="274320"/>
          </a:xfrm>
          <a:prstGeom prst="rect">
            <a:avLst/>
          </a:prstGeom>
          <a:noFill/>
          <a:ln/>
        </p:spPr>
        <p:txBody>
          <a:bodyPr wrap="square" lIns="0" tIns="0" rIns="0" bIns="0" rtlCol="0" anchor="ctr"/>
          <a:lstStyle/>
          <a:p>
            <a:pPr indent="0" marL="0">
              <a:buNone/>
            </a:pPr>
            <a:r>
              <a:rPr lang="en-US" sz="1200" b="1" spc="120" kern="0" dirty="0">
                <a:solidFill>
                  <a:srgbClr val="4A7A3A"/>
                </a:solidFill>
                <a:latin typeface="Calibri" pitchFamily="34" charset="0"/>
                <a:ea typeface="Calibri" pitchFamily="34" charset="-122"/>
                <a:cs typeface="Calibri" pitchFamily="34" charset="-120"/>
              </a:rPr>
              <a:t>Ce que mesure chaque boîtier</a:t>
            </a:r>
            <a:endParaRPr lang="en-US" sz="1200" dirty="0"/>
          </a:p>
        </p:txBody>
      </p:sp>
      <p:sp>
        <p:nvSpPr>
          <p:cNvPr id="6" name="Text 4"/>
          <p:cNvSpPr txBox="1"/>
          <p:nvPr/>
        </p:nvSpPr>
        <p:spPr>
          <a:xfrm>
            <a:off x="822960" y="2240280"/>
            <a:ext cx="2377440" cy="320040"/>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Humidité du sol</a:t>
            </a:r>
            <a:endParaRPr lang="en-US" sz="1350" dirty="0"/>
          </a:p>
        </p:txBody>
      </p:sp>
      <p:sp>
        <p:nvSpPr>
          <p:cNvPr id="7" name="Text 5"/>
          <p:cNvSpPr txBox="1"/>
          <p:nvPr/>
        </p:nvSpPr>
        <p:spPr>
          <a:xfrm>
            <a:off x="3291840" y="2240280"/>
            <a:ext cx="2377440" cy="320040"/>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Température du sol</a:t>
            </a:r>
            <a:endParaRPr lang="en-US" sz="1350" dirty="0"/>
          </a:p>
        </p:txBody>
      </p:sp>
      <p:sp>
        <p:nvSpPr>
          <p:cNvPr id="8" name="Text 6"/>
          <p:cNvSpPr txBox="1"/>
          <p:nvPr/>
        </p:nvSpPr>
        <p:spPr>
          <a:xfrm>
            <a:off x="822960" y="2807208"/>
            <a:ext cx="2377440" cy="320040"/>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Température de l'air</a:t>
            </a:r>
            <a:endParaRPr lang="en-US" sz="1350" dirty="0"/>
          </a:p>
        </p:txBody>
      </p:sp>
      <p:sp>
        <p:nvSpPr>
          <p:cNvPr id="9" name="Text 7"/>
          <p:cNvSpPr txBox="1"/>
          <p:nvPr/>
        </p:nvSpPr>
        <p:spPr>
          <a:xfrm>
            <a:off x="3291840" y="2807208"/>
            <a:ext cx="2377440" cy="320040"/>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Hygrométrie de l'air</a:t>
            </a:r>
            <a:endParaRPr lang="en-US" sz="1350" dirty="0"/>
          </a:p>
        </p:txBody>
      </p:sp>
      <p:sp>
        <p:nvSpPr>
          <p:cNvPr id="10" name="Text 8"/>
          <p:cNvSpPr txBox="1"/>
          <p:nvPr/>
        </p:nvSpPr>
        <p:spPr>
          <a:xfrm>
            <a:off x="822960" y="3374136"/>
            <a:ext cx="2377440" cy="320040"/>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Humectation foliaire</a:t>
            </a:r>
            <a:endParaRPr lang="en-US" sz="1350" dirty="0"/>
          </a:p>
        </p:txBody>
      </p:sp>
      <p:sp>
        <p:nvSpPr>
          <p:cNvPr id="11" name="Text 9"/>
          <p:cNvSpPr txBox="1"/>
          <p:nvPr/>
        </p:nvSpPr>
        <p:spPr>
          <a:xfrm>
            <a:off x="3291840" y="3374136"/>
            <a:ext cx="2377440" cy="320040"/>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Niveau de batterie</a:t>
            </a:r>
            <a:endParaRPr lang="en-US" sz="1350" dirty="0"/>
          </a:p>
        </p:txBody>
      </p:sp>
      <p:sp>
        <p:nvSpPr>
          <p:cNvPr id="12" name="Text 10"/>
          <p:cNvSpPr txBox="1"/>
          <p:nvPr/>
        </p:nvSpPr>
        <p:spPr>
          <a:xfrm>
            <a:off x="822960" y="4023360"/>
            <a:ext cx="4800600" cy="274320"/>
          </a:xfrm>
          <a:prstGeom prst="rect">
            <a:avLst/>
          </a:prstGeom>
          <a:noFill/>
          <a:ln/>
        </p:spPr>
        <p:txBody>
          <a:bodyPr wrap="square" lIns="0" tIns="0" rIns="0" bIns="0" rtlCol="0" anchor="ctr"/>
          <a:lstStyle/>
          <a:p>
            <a:pPr indent="0" marL="0">
              <a:buNone/>
            </a:pPr>
            <a:r>
              <a:rPr lang="en-US" sz="1200" i="1" dirty="0">
                <a:solidFill>
                  <a:srgbClr val="5F6B5F"/>
                </a:solidFill>
                <a:latin typeface="Calibri" pitchFamily="34" charset="0"/>
                <a:ea typeface="Calibri" pitchFamily="34" charset="-122"/>
                <a:cs typeface="Calibri" pitchFamily="34" charset="-120"/>
              </a:rPr>
              <a:t>Une trame JSON par minute et par parcelle, en HTTP vers l'API</a:t>
            </a:r>
            <a:endParaRPr lang="en-US" sz="1200" dirty="0"/>
          </a:p>
        </p:txBody>
      </p:sp>
      <p:sp>
        <p:nvSpPr>
          <p:cNvPr id="13" name="Shape 11"/>
          <p:cNvSpPr/>
          <p:nvPr/>
        </p:nvSpPr>
        <p:spPr>
          <a:xfrm>
            <a:off x="6263640" y="1600200"/>
            <a:ext cx="5349240" cy="2834640"/>
          </a:xfrm>
          <a:prstGeom prst="roundRect">
            <a:avLst>
              <a:gd name="adj" fmla="val 1935"/>
            </a:avLst>
          </a:prstGeom>
          <a:solidFill>
            <a:srgbClr val="2C5F2D"/>
          </a:solidFill>
          <a:ln w="12700">
            <a:solidFill>
              <a:srgbClr val="2C5F2D"/>
            </a:solidFill>
            <a:prstDash val="solid"/>
          </a:ln>
        </p:spPr>
      </p:sp>
      <p:sp>
        <p:nvSpPr>
          <p:cNvPr id="14" name="Text 12"/>
          <p:cNvSpPr txBox="1"/>
          <p:nvPr/>
        </p:nvSpPr>
        <p:spPr>
          <a:xfrm>
            <a:off x="6537960" y="1810512"/>
            <a:ext cx="4800600" cy="274320"/>
          </a:xfrm>
          <a:prstGeom prst="rect">
            <a:avLst/>
          </a:prstGeom>
          <a:noFill/>
          <a:ln/>
        </p:spPr>
        <p:txBody>
          <a:bodyPr wrap="square" lIns="0" tIns="0" rIns="0" bIns="0" rtlCol="0" anchor="ctr"/>
          <a:lstStyle/>
          <a:p>
            <a:pPr indent="0" marL="0">
              <a:buNone/>
            </a:pPr>
            <a:r>
              <a:rPr lang="en-US" sz="1200" b="1" spc="120" kern="0" dirty="0">
                <a:solidFill>
                  <a:srgbClr val="97BC62"/>
                </a:solidFill>
                <a:latin typeface="Calibri" pitchFamily="34" charset="0"/>
                <a:ea typeface="Calibri" pitchFamily="34" charset="-122"/>
                <a:cs typeface="Calibri" pitchFamily="34" charset="-120"/>
              </a:rPr>
              <a:t>Ce qui déclenche une alerte</a:t>
            </a:r>
            <a:endParaRPr lang="en-US" sz="1200" dirty="0"/>
          </a:p>
        </p:txBody>
      </p:sp>
      <p:sp>
        <p:nvSpPr>
          <p:cNvPr id="15" name="Text 13"/>
          <p:cNvSpPr txBox="1"/>
          <p:nvPr/>
        </p:nvSpPr>
        <p:spPr>
          <a:xfrm>
            <a:off x="6537960" y="2212848"/>
            <a:ext cx="3383280" cy="274320"/>
          </a:xfrm>
          <a:prstGeom prst="rect">
            <a:avLst/>
          </a:prstGeom>
          <a:noFill/>
          <a:ln/>
        </p:spPr>
        <p:txBody>
          <a:bodyPr wrap="square" lIns="0" tIns="0" rIns="0" bIns="0" rtlCol="0" anchor="ctr"/>
          <a:lstStyle/>
          <a:p>
            <a:pPr indent="0" marL="0">
              <a:buNone/>
            </a:pPr>
            <a:r>
              <a:rPr lang="en-US" sz="1200" dirty="0">
                <a:solidFill>
                  <a:srgbClr val="D8E8CF"/>
                </a:solidFill>
                <a:latin typeface="Calibri" pitchFamily="34" charset="0"/>
                <a:ea typeface="Calibri" pitchFamily="34" charset="-122"/>
                <a:cs typeface="Calibri" pitchFamily="34" charset="-120"/>
              </a:rPr>
              <a:t>Feuillage humide et air entre 15 et 25 °C</a:t>
            </a:r>
            <a:endParaRPr lang="en-US" sz="1200" dirty="0"/>
          </a:p>
        </p:txBody>
      </p:sp>
      <p:sp>
        <p:nvSpPr>
          <p:cNvPr id="16" name="Text 14"/>
          <p:cNvSpPr txBox="1"/>
          <p:nvPr/>
        </p:nvSpPr>
        <p:spPr>
          <a:xfrm>
            <a:off x="9921240" y="2212848"/>
            <a:ext cx="1417320" cy="27432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Risque fongique</a:t>
            </a:r>
            <a:endParaRPr lang="en-US" sz="1200" dirty="0"/>
          </a:p>
        </p:txBody>
      </p:sp>
      <p:sp>
        <p:nvSpPr>
          <p:cNvPr id="17" name="Text 15"/>
          <p:cNvSpPr txBox="1"/>
          <p:nvPr/>
        </p:nvSpPr>
        <p:spPr>
          <a:xfrm>
            <a:off x="6537960" y="2651760"/>
            <a:ext cx="3383280" cy="274320"/>
          </a:xfrm>
          <a:prstGeom prst="rect">
            <a:avLst/>
          </a:prstGeom>
          <a:noFill/>
          <a:ln/>
        </p:spPr>
        <p:txBody>
          <a:bodyPr wrap="square" lIns="0" tIns="0" rIns="0" bIns="0" rtlCol="0" anchor="ctr"/>
          <a:lstStyle/>
          <a:p>
            <a:pPr indent="0" marL="0">
              <a:buNone/>
            </a:pPr>
            <a:r>
              <a:rPr lang="en-US" sz="1200" dirty="0">
                <a:solidFill>
                  <a:srgbClr val="D8E8CF"/>
                </a:solidFill>
                <a:latin typeface="Calibri" pitchFamily="34" charset="0"/>
                <a:ea typeface="Calibri" pitchFamily="34" charset="-122"/>
                <a:cs typeface="Calibri" pitchFamily="34" charset="-120"/>
              </a:rPr>
              <a:t>Humidité du sol sous 25 %</a:t>
            </a:r>
            <a:endParaRPr lang="en-US" sz="1200" dirty="0"/>
          </a:p>
        </p:txBody>
      </p:sp>
      <p:sp>
        <p:nvSpPr>
          <p:cNvPr id="18" name="Text 16"/>
          <p:cNvSpPr txBox="1"/>
          <p:nvPr/>
        </p:nvSpPr>
        <p:spPr>
          <a:xfrm>
            <a:off x="9921240" y="2651760"/>
            <a:ext cx="1417320" cy="27432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Stress hydrique</a:t>
            </a:r>
            <a:endParaRPr lang="en-US" sz="1200" dirty="0"/>
          </a:p>
        </p:txBody>
      </p:sp>
      <p:sp>
        <p:nvSpPr>
          <p:cNvPr id="19" name="Text 17"/>
          <p:cNvSpPr txBox="1"/>
          <p:nvPr/>
        </p:nvSpPr>
        <p:spPr>
          <a:xfrm>
            <a:off x="6537960" y="3090672"/>
            <a:ext cx="3383280" cy="274320"/>
          </a:xfrm>
          <a:prstGeom prst="rect">
            <a:avLst/>
          </a:prstGeom>
          <a:noFill/>
          <a:ln/>
        </p:spPr>
        <p:txBody>
          <a:bodyPr wrap="square" lIns="0" tIns="0" rIns="0" bIns="0" rtlCol="0" anchor="ctr"/>
          <a:lstStyle/>
          <a:p>
            <a:pPr indent="0" marL="0">
              <a:buNone/>
            </a:pPr>
            <a:r>
              <a:rPr lang="en-US" sz="1200" dirty="0">
                <a:solidFill>
                  <a:srgbClr val="D8E8CF"/>
                </a:solidFill>
                <a:latin typeface="Calibri" pitchFamily="34" charset="0"/>
                <a:ea typeface="Calibri" pitchFamily="34" charset="-122"/>
                <a:cs typeface="Calibri" pitchFamily="34" charset="-120"/>
              </a:rPr>
              <a:t>Humidité du sol au-dessus de 85 %</a:t>
            </a:r>
            <a:endParaRPr lang="en-US" sz="1200" dirty="0"/>
          </a:p>
        </p:txBody>
      </p:sp>
      <p:sp>
        <p:nvSpPr>
          <p:cNvPr id="20" name="Text 18"/>
          <p:cNvSpPr txBox="1"/>
          <p:nvPr/>
        </p:nvSpPr>
        <p:spPr>
          <a:xfrm>
            <a:off x="9921240" y="3090672"/>
            <a:ext cx="1417320" cy="27432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Excès d'eau</a:t>
            </a:r>
            <a:endParaRPr lang="en-US" sz="1200" dirty="0"/>
          </a:p>
        </p:txBody>
      </p:sp>
      <p:sp>
        <p:nvSpPr>
          <p:cNvPr id="21" name="Text 19"/>
          <p:cNvSpPr txBox="1"/>
          <p:nvPr/>
        </p:nvSpPr>
        <p:spPr>
          <a:xfrm>
            <a:off x="6537960" y="3529584"/>
            <a:ext cx="3383280" cy="274320"/>
          </a:xfrm>
          <a:prstGeom prst="rect">
            <a:avLst/>
          </a:prstGeom>
          <a:noFill/>
          <a:ln/>
        </p:spPr>
        <p:txBody>
          <a:bodyPr wrap="square" lIns="0" tIns="0" rIns="0" bIns="0" rtlCol="0" anchor="ctr"/>
          <a:lstStyle/>
          <a:p>
            <a:pPr indent="0" marL="0">
              <a:buNone/>
            </a:pPr>
            <a:r>
              <a:rPr lang="en-US" sz="1200" dirty="0">
                <a:solidFill>
                  <a:srgbClr val="D8E8CF"/>
                </a:solidFill>
                <a:latin typeface="Calibri" pitchFamily="34" charset="0"/>
                <a:ea typeface="Calibri" pitchFamily="34" charset="-122"/>
                <a:cs typeface="Calibri" pitchFamily="34" charset="-120"/>
              </a:rPr>
              <a:t>Batterie sous 20 %</a:t>
            </a:r>
            <a:endParaRPr lang="en-US" sz="1200" dirty="0"/>
          </a:p>
        </p:txBody>
      </p:sp>
      <p:sp>
        <p:nvSpPr>
          <p:cNvPr id="22" name="Text 20"/>
          <p:cNvSpPr txBox="1"/>
          <p:nvPr/>
        </p:nvSpPr>
        <p:spPr>
          <a:xfrm>
            <a:off x="9921240" y="3529584"/>
            <a:ext cx="1417320" cy="27432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Maintenance</a:t>
            </a:r>
            <a:endParaRPr lang="en-US" sz="1200" dirty="0"/>
          </a:p>
        </p:txBody>
      </p:sp>
      <p:sp>
        <p:nvSpPr>
          <p:cNvPr id="23" name="Text 21"/>
          <p:cNvSpPr txBox="1"/>
          <p:nvPr/>
        </p:nvSpPr>
        <p:spPr>
          <a:xfrm>
            <a:off x="6537960" y="3968496"/>
            <a:ext cx="3383280" cy="274320"/>
          </a:xfrm>
          <a:prstGeom prst="rect">
            <a:avLst/>
          </a:prstGeom>
          <a:noFill/>
          <a:ln/>
        </p:spPr>
        <p:txBody>
          <a:bodyPr wrap="square" lIns="0" tIns="0" rIns="0" bIns="0" rtlCol="0" anchor="ctr"/>
          <a:lstStyle/>
          <a:p>
            <a:pPr indent="0" marL="0">
              <a:buNone/>
            </a:pPr>
            <a:r>
              <a:rPr lang="en-US" sz="1200" dirty="0">
                <a:solidFill>
                  <a:srgbClr val="D8E8CF"/>
                </a:solidFill>
                <a:latin typeface="Calibri" pitchFamily="34" charset="0"/>
                <a:ea typeface="Calibri" pitchFamily="34" charset="-122"/>
                <a:cs typeface="Calibri" pitchFamily="34" charset="-120"/>
              </a:rPr>
              <a:t>Silence de plus de 15 minutes</a:t>
            </a:r>
            <a:endParaRPr lang="en-US" sz="1200" dirty="0"/>
          </a:p>
        </p:txBody>
      </p:sp>
      <p:sp>
        <p:nvSpPr>
          <p:cNvPr id="24" name="Text 22"/>
          <p:cNvSpPr txBox="1"/>
          <p:nvPr/>
        </p:nvSpPr>
        <p:spPr>
          <a:xfrm>
            <a:off x="9921240" y="3968496"/>
            <a:ext cx="1417320" cy="27432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Capteur hors ligne</a:t>
            </a:r>
            <a:endParaRPr lang="en-US" sz="1200" dirty="0"/>
          </a:p>
        </p:txBody>
      </p:sp>
      <p:sp>
        <p:nvSpPr>
          <p:cNvPr id="25" name="Shape 23"/>
          <p:cNvSpPr/>
          <p:nvPr/>
        </p:nvSpPr>
        <p:spPr>
          <a:xfrm>
            <a:off x="548640" y="4617720"/>
            <a:ext cx="11064240" cy="1051560"/>
          </a:xfrm>
          <a:prstGeom prst="roundRect">
            <a:avLst>
              <a:gd name="adj" fmla="val 5217"/>
            </a:avLst>
          </a:prstGeom>
          <a:solidFill>
            <a:srgbClr val="EEF3EA"/>
          </a:solidFill>
          <a:ln w="12700">
            <a:solidFill>
              <a:srgbClr val="EEF3EA"/>
            </a:solidFill>
            <a:prstDash val="solid"/>
          </a:ln>
        </p:spPr>
      </p:sp>
      <p:sp>
        <p:nvSpPr>
          <p:cNvPr id="26" name="Text 24"/>
          <p:cNvSpPr txBox="1"/>
          <p:nvPr/>
        </p:nvSpPr>
        <p:spPr>
          <a:xfrm>
            <a:off x="868680" y="4800600"/>
            <a:ext cx="3657600" cy="228600"/>
          </a:xfrm>
          <a:prstGeom prst="rect">
            <a:avLst/>
          </a:prstGeom>
          <a:noFill/>
          <a:ln/>
        </p:spPr>
        <p:txBody>
          <a:bodyPr wrap="square" lIns="0" tIns="0" rIns="0" bIns="0" rtlCol="0" anchor="ctr"/>
          <a:lstStyle/>
          <a:p>
            <a:pPr indent="0" marL="0">
              <a:buNone/>
            </a:pPr>
            <a:r>
              <a:rPr lang="en-US" sz="1100" b="1" spc="150" kern="0" dirty="0">
                <a:solidFill>
                  <a:srgbClr val="4A7A3A"/>
                </a:solidFill>
                <a:latin typeface="Calibri" pitchFamily="34" charset="0"/>
                <a:ea typeface="Calibri" pitchFamily="34" charset="-122"/>
                <a:cs typeface="Calibri" pitchFamily="34" charset="-120"/>
              </a:rPr>
              <a:t>DU CHAMP À L'ÉCRAN</a:t>
            </a:r>
            <a:endParaRPr lang="en-US" sz="1100" dirty="0"/>
          </a:p>
        </p:txBody>
      </p:sp>
      <p:sp>
        <p:nvSpPr>
          <p:cNvPr id="27" name="Text 25"/>
          <p:cNvSpPr txBox="1"/>
          <p:nvPr/>
        </p:nvSpPr>
        <p:spPr>
          <a:xfrm>
            <a:off x="868680" y="5102352"/>
            <a:ext cx="10424160" cy="365760"/>
          </a:xfrm>
          <a:prstGeom prst="rect">
            <a:avLst/>
          </a:prstGeom>
          <a:noFill/>
          <a:ln/>
        </p:spPr>
        <p:txBody>
          <a:bodyPr wrap="square" lIns="0" tIns="0" rIns="0" bIns="0"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Capteur  →  POST /sensors/readings  →  PostgreSQL  →  Règles métier  →  Alerte affichée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TECHNOLOGIES IMPOSÉES</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Trois choix, trois justifications</a:t>
            </a:r>
            <a:endParaRPr lang="en-US" sz="3400" dirty="0"/>
          </a:p>
        </p:txBody>
      </p:sp>
      <p:sp>
        <p:nvSpPr>
          <p:cNvPr id="4" name="Shape 2"/>
          <p:cNvSpPr/>
          <p:nvPr/>
        </p:nvSpPr>
        <p:spPr>
          <a:xfrm>
            <a:off x="548640" y="1600200"/>
            <a:ext cx="3474720" cy="3977640"/>
          </a:xfrm>
          <a:prstGeom prst="roundRect">
            <a:avLst>
              <a:gd name="adj" fmla="val 1579"/>
            </a:avLst>
          </a:prstGeom>
          <a:solidFill>
            <a:srgbClr val="EEF3EA"/>
          </a:solidFill>
          <a:ln w="12700">
            <a:solidFill>
              <a:srgbClr val="EEF3EA"/>
            </a:solidFill>
            <a:prstDash val="solid"/>
          </a:ln>
        </p:spPr>
      </p:sp>
      <p:sp>
        <p:nvSpPr>
          <p:cNvPr id="5" name="Text 3"/>
          <p:cNvSpPr txBox="1"/>
          <p:nvPr/>
        </p:nvSpPr>
        <p:spPr>
          <a:xfrm>
            <a:off x="822960" y="1874520"/>
            <a:ext cx="2926080" cy="411480"/>
          </a:xfrm>
          <a:prstGeom prst="rect">
            <a:avLst/>
          </a:prstGeom>
          <a:noFill/>
          <a:ln/>
        </p:spPr>
        <p:txBody>
          <a:bodyPr wrap="square" lIns="0" tIns="0" rIns="0" bIns="0" rtlCol="0" anchor="ctr"/>
          <a:lstStyle/>
          <a:p>
            <a:pPr indent="0" marL="0">
              <a:buNone/>
            </a:pPr>
            <a:r>
              <a:rPr lang="en-US" sz="2400" b="1" dirty="0">
                <a:solidFill>
                  <a:srgbClr val="2C5F2D"/>
                </a:solidFill>
                <a:latin typeface="Cambria" pitchFamily="34" charset="0"/>
                <a:ea typeface="Cambria" pitchFamily="34" charset="-122"/>
                <a:cs typeface="Cambria" pitchFamily="34" charset="-120"/>
              </a:rPr>
              <a:t>FastAPI</a:t>
            </a:r>
            <a:endParaRPr lang="en-US" sz="2400" dirty="0"/>
          </a:p>
        </p:txBody>
      </p:sp>
      <p:sp>
        <p:nvSpPr>
          <p:cNvPr id="6" name="Text 4"/>
          <p:cNvSpPr txBox="1"/>
          <p:nvPr/>
        </p:nvSpPr>
        <p:spPr>
          <a:xfrm>
            <a:off x="822960" y="2304288"/>
            <a:ext cx="2926080" cy="256032"/>
          </a:xfrm>
          <a:prstGeom prst="rect">
            <a:avLst/>
          </a:prstGeom>
          <a:noFill/>
          <a:ln/>
        </p:spPr>
        <p:txBody>
          <a:bodyPr wrap="square" lIns="0" tIns="0" rIns="0" bIns="0" rtlCol="0" anchor="ctr"/>
          <a:lstStyle/>
          <a:p>
            <a:pPr indent="0" marL="0">
              <a:buNone/>
            </a:pPr>
            <a:r>
              <a:rPr lang="en-US" sz="1200" b="1" spc="120" kern="0" dirty="0">
                <a:solidFill>
                  <a:srgbClr val="4A7A3A"/>
                </a:solidFill>
                <a:latin typeface="Calibri" pitchFamily="34" charset="0"/>
                <a:ea typeface="Calibri" pitchFamily="34" charset="-122"/>
                <a:cs typeface="Calibri" pitchFamily="34" charset="-120"/>
              </a:rPr>
              <a:t>Backend et API</a:t>
            </a:r>
            <a:endParaRPr lang="en-US" sz="1200" dirty="0"/>
          </a:p>
        </p:txBody>
      </p:sp>
      <p:sp>
        <p:nvSpPr>
          <p:cNvPr id="7" name="Text 5"/>
          <p:cNvSpPr txBox="1"/>
          <p:nvPr/>
        </p:nvSpPr>
        <p:spPr>
          <a:xfrm>
            <a:off x="822960" y="2697480"/>
            <a:ext cx="2926080" cy="18288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Framework asynchrone moderne</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Validation Pydantic native</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Documentation Swagger automatique</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Écosystème Python de l'IA</a:t>
            </a:r>
            <a:endParaRPr lang="en-US" sz="1250" dirty="0"/>
          </a:p>
        </p:txBody>
      </p:sp>
      <p:sp>
        <p:nvSpPr>
          <p:cNvPr id="8" name="Text 6"/>
          <p:cNvSpPr txBox="1"/>
          <p:nvPr/>
        </p:nvSpPr>
        <p:spPr>
          <a:xfrm>
            <a:off x="822960" y="4498848"/>
            <a:ext cx="2926080" cy="914400"/>
          </a:xfrm>
          <a:prstGeom prst="rect">
            <a:avLst/>
          </a:prstGeom>
          <a:noFill/>
          <a:ln/>
        </p:spPr>
        <p:txBody>
          <a:bodyPr wrap="square" lIns="0" tIns="0" rIns="0" bIns="0" rtlCol="0" anchor="ctr"/>
          <a:lstStyle/>
          <a:p>
            <a:pPr indent="0" marL="0">
              <a:buNone/>
            </a:pPr>
            <a:r>
              <a:rPr lang="en-US" sz="1150" i="1" dirty="0">
                <a:solidFill>
                  <a:srgbClr val="5F6B5F"/>
                </a:solidFill>
                <a:latin typeface="Calibri" pitchFamily="34" charset="0"/>
                <a:ea typeface="Calibri" pitchFamily="34" charset="-122"/>
                <a:cs typeface="Calibri" pitchFamily="34" charset="-120"/>
              </a:rPr>
              <a:t>Pourquoi pas Node.js : Python domine la vision par ordinateur.</a:t>
            </a:r>
            <a:endParaRPr lang="en-US" sz="1150" dirty="0"/>
          </a:p>
        </p:txBody>
      </p:sp>
      <p:sp>
        <p:nvSpPr>
          <p:cNvPr id="9" name="Shape 7"/>
          <p:cNvSpPr/>
          <p:nvPr/>
        </p:nvSpPr>
        <p:spPr>
          <a:xfrm>
            <a:off x="4343400" y="1600200"/>
            <a:ext cx="3474720" cy="3977640"/>
          </a:xfrm>
          <a:prstGeom prst="roundRect">
            <a:avLst>
              <a:gd name="adj" fmla="val 1579"/>
            </a:avLst>
          </a:prstGeom>
          <a:solidFill>
            <a:srgbClr val="EEF3EA"/>
          </a:solidFill>
          <a:ln w="12700">
            <a:solidFill>
              <a:srgbClr val="EEF3EA"/>
            </a:solidFill>
            <a:prstDash val="solid"/>
          </a:ln>
        </p:spPr>
      </p:sp>
      <p:sp>
        <p:nvSpPr>
          <p:cNvPr id="10" name="Text 8"/>
          <p:cNvSpPr txBox="1"/>
          <p:nvPr/>
        </p:nvSpPr>
        <p:spPr>
          <a:xfrm>
            <a:off x="4617720" y="1874520"/>
            <a:ext cx="2926080" cy="411480"/>
          </a:xfrm>
          <a:prstGeom prst="rect">
            <a:avLst/>
          </a:prstGeom>
          <a:noFill/>
          <a:ln/>
        </p:spPr>
        <p:txBody>
          <a:bodyPr wrap="square" lIns="0" tIns="0" rIns="0" bIns="0" rtlCol="0" anchor="ctr"/>
          <a:lstStyle/>
          <a:p>
            <a:pPr indent="0" marL="0">
              <a:buNone/>
            </a:pPr>
            <a:r>
              <a:rPr lang="en-US" sz="2400" b="1" dirty="0">
                <a:solidFill>
                  <a:srgbClr val="2C5F2D"/>
                </a:solidFill>
                <a:latin typeface="Cambria" pitchFamily="34" charset="0"/>
                <a:ea typeface="Cambria" pitchFamily="34" charset="-122"/>
                <a:cs typeface="Cambria" pitchFamily="34" charset="-120"/>
              </a:rPr>
              <a:t>PostgreSQL 15</a:t>
            </a:r>
            <a:endParaRPr lang="en-US" sz="2400" dirty="0"/>
          </a:p>
        </p:txBody>
      </p:sp>
      <p:sp>
        <p:nvSpPr>
          <p:cNvPr id="11" name="Text 9"/>
          <p:cNvSpPr txBox="1"/>
          <p:nvPr/>
        </p:nvSpPr>
        <p:spPr>
          <a:xfrm>
            <a:off x="4617720" y="2304288"/>
            <a:ext cx="2926080" cy="256032"/>
          </a:xfrm>
          <a:prstGeom prst="rect">
            <a:avLst/>
          </a:prstGeom>
          <a:noFill/>
          <a:ln/>
        </p:spPr>
        <p:txBody>
          <a:bodyPr wrap="square" lIns="0" tIns="0" rIns="0" bIns="0" rtlCol="0" anchor="ctr"/>
          <a:lstStyle/>
          <a:p>
            <a:pPr indent="0" marL="0">
              <a:buNone/>
            </a:pPr>
            <a:r>
              <a:rPr lang="en-US" sz="1200" b="1" spc="120" kern="0" dirty="0">
                <a:solidFill>
                  <a:srgbClr val="4A7A3A"/>
                </a:solidFill>
                <a:latin typeface="Calibri" pitchFamily="34" charset="0"/>
                <a:ea typeface="Calibri" pitchFamily="34" charset="-122"/>
                <a:cs typeface="Calibri" pitchFamily="34" charset="-120"/>
              </a:rPr>
              <a:t>Base de données</a:t>
            </a:r>
            <a:endParaRPr lang="en-US" sz="1200" dirty="0"/>
          </a:p>
        </p:txBody>
      </p:sp>
      <p:sp>
        <p:nvSpPr>
          <p:cNvPr id="12" name="Text 10"/>
          <p:cNvSpPr txBox="1"/>
          <p:nvPr/>
        </p:nvSpPr>
        <p:spPr>
          <a:xfrm>
            <a:off x="4617720" y="2697480"/>
            <a:ext cx="2926080" cy="18288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Transactions ACID garanties</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Modèle relationnel clair</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Indexation performante</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Standard de l'industrie</a:t>
            </a:r>
            <a:endParaRPr lang="en-US" sz="1250" dirty="0"/>
          </a:p>
        </p:txBody>
      </p:sp>
      <p:sp>
        <p:nvSpPr>
          <p:cNvPr id="13" name="Text 11"/>
          <p:cNvSpPr txBox="1"/>
          <p:nvPr/>
        </p:nvSpPr>
        <p:spPr>
          <a:xfrm>
            <a:off x="4617720" y="4498848"/>
            <a:ext cx="2926080" cy="914400"/>
          </a:xfrm>
          <a:prstGeom prst="rect">
            <a:avLst/>
          </a:prstGeom>
          <a:noFill/>
          <a:ln/>
        </p:spPr>
        <p:txBody>
          <a:bodyPr wrap="square" lIns="0" tIns="0" rIns="0" bIns="0" rtlCol="0" anchor="ctr"/>
          <a:lstStyle/>
          <a:p>
            <a:pPr indent="0" marL="0">
              <a:buNone/>
            </a:pPr>
            <a:r>
              <a:rPr lang="en-US" sz="1150" i="1" dirty="0">
                <a:solidFill>
                  <a:srgbClr val="5F6B5F"/>
                </a:solidFill>
                <a:latin typeface="Calibri" pitchFamily="34" charset="0"/>
                <a:ea typeface="Calibri" pitchFamily="34" charset="-122"/>
                <a:cs typeface="Calibri" pitchFamily="34" charset="-120"/>
              </a:rPr>
              <a:t>Pourquoi pas MongoDB : les relations utilisateur, parcelle et diagnostic sont structurées.</a:t>
            </a:r>
            <a:endParaRPr lang="en-US" sz="1150" dirty="0"/>
          </a:p>
        </p:txBody>
      </p:sp>
      <p:sp>
        <p:nvSpPr>
          <p:cNvPr id="14" name="Shape 12"/>
          <p:cNvSpPr/>
          <p:nvPr/>
        </p:nvSpPr>
        <p:spPr>
          <a:xfrm>
            <a:off x="8138160" y="1600200"/>
            <a:ext cx="3474720" cy="3977640"/>
          </a:xfrm>
          <a:prstGeom prst="roundRect">
            <a:avLst>
              <a:gd name="adj" fmla="val 1579"/>
            </a:avLst>
          </a:prstGeom>
          <a:solidFill>
            <a:srgbClr val="EEF3EA"/>
          </a:solidFill>
          <a:ln w="12700">
            <a:solidFill>
              <a:srgbClr val="EEF3EA"/>
            </a:solidFill>
            <a:prstDash val="solid"/>
          </a:ln>
        </p:spPr>
      </p:sp>
      <p:sp>
        <p:nvSpPr>
          <p:cNvPr id="15" name="Text 13"/>
          <p:cNvSpPr txBox="1"/>
          <p:nvPr/>
        </p:nvSpPr>
        <p:spPr>
          <a:xfrm>
            <a:off x="8412480" y="1874520"/>
            <a:ext cx="2926080" cy="411480"/>
          </a:xfrm>
          <a:prstGeom prst="rect">
            <a:avLst/>
          </a:prstGeom>
          <a:noFill/>
          <a:ln/>
        </p:spPr>
        <p:txBody>
          <a:bodyPr wrap="square" lIns="0" tIns="0" rIns="0" bIns="0" rtlCol="0" anchor="ctr"/>
          <a:lstStyle/>
          <a:p>
            <a:pPr indent="0" marL="0">
              <a:buNone/>
            </a:pPr>
            <a:r>
              <a:rPr lang="en-US" sz="2400" b="1" dirty="0">
                <a:solidFill>
                  <a:srgbClr val="2C5F2D"/>
                </a:solidFill>
                <a:latin typeface="Cambria" pitchFamily="34" charset="0"/>
                <a:ea typeface="Cambria" pitchFamily="34" charset="-122"/>
                <a:cs typeface="Cambria" pitchFamily="34" charset="-120"/>
              </a:rPr>
              <a:t>Docker et AWS</a:t>
            </a:r>
            <a:endParaRPr lang="en-US" sz="2400" dirty="0"/>
          </a:p>
        </p:txBody>
      </p:sp>
      <p:sp>
        <p:nvSpPr>
          <p:cNvPr id="16" name="Text 14"/>
          <p:cNvSpPr txBox="1"/>
          <p:nvPr/>
        </p:nvSpPr>
        <p:spPr>
          <a:xfrm>
            <a:off x="8412480" y="2304288"/>
            <a:ext cx="2926080" cy="256032"/>
          </a:xfrm>
          <a:prstGeom prst="rect">
            <a:avLst/>
          </a:prstGeom>
          <a:noFill/>
          <a:ln/>
        </p:spPr>
        <p:txBody>
          <a:bodyPr wrap="square" lIns="0" tIns="0" rIns="0" bIns="0" rtlCol="0" anchor="ctr"/>
          <a:lstStyle/>
          <a:p>
            <a:pPr indent="0" marL="0">
              <a:buNone/>
            </a:pPr>
            <a:r>
              <a:rPr lang="en-US" sz="1200" b="1" spc="120" kern="0" dirty="0">
                <a:solidFill>
                  <a:srgbClr val="4A7A3A"/>
                </a:solidFill>
                <a:latin typeface="Calibri" pitchFamily="34" charset="0"/>
                <a:ea typeface="Calibri" pitchFamily="34" charset="-122"/>
                <a:cs typeface="Calibri" pitchFamily="34" charset="-120"/>
              </a:rPr>
              <a:t>Infrastructure</a:t>
            </a:r>
            <a:endParaRPr lang="en-US" sz="1200" dirty="0"/>
          </a:p>
        </p:txBody>
      </p:sp>
      <p:sp>
        <p:nvSpPr>
          <p:cNvPr id="17" name="Text 15"/>
          <p:cNvSpPr txBox="1"/>
          <p:nvPr/>
        </p:nvSpPr>
        <p:spPr>
          <a:xfrm>
            <a:off x="8412480" y="2697480"/>
            <a:ext cx="2926080" cy="18288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Environnement reproductible</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Développement identique à la production</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Déploiement en une commande</a:t>
            </a:r>
            <a:endParaRPr lang="en-US" sz="1250" dirty="0"/>
          </a:p>
          <a:p>
            <a:pPr marL="342900" indent="-342900">
              <a:spcAft>
                <a:spcPts val="600"/>
              </a:spcAft>
              <a:buSzPct val="100000"/>
              <a:buChar char="•"/>
            </a:pPr>
            <a:r>
              <a:rPr lang="en-US" sz="1250" dirty="0">
                <a:solidFill>
                  <a:srgbClr val="2B2B2B"/>
                </a:solidFill>
                <a:latin typeface="Calibri" pitchFamily="34" charset="0"/>
                <a:ea typeface="Calibri" pitchFamily="34" charset="-122"/>
                <a:cs typeface="Calibri" pitchFamily="34" charset="-120"/>
              </a:rPr>
              <a:t>Instance EC2 disponible en continu</a:t>
            </a:r>
            <a:endParaRPr lang="en-US" sz="1250" dirty="0"/>
          </a:p>
        </p:txBody>
      </p:sp>
      <p:sp>
        <p:nvSpPr>
          <p:cNvPr id="18" name="Text 16"/>
          <p:cNvSpPr txBox="1"/>
          <p:nvPr/>
        </p:nvSpPr>
        <p:spPr>
          <a:xfrm>
            <a:off x="8412480" y="4498848"/>
            <a:ext cx="2926080" cy="914400"/>
          </a:xfrm>
          <a:prstGeom prst="rect">
            <a:avLst/>
          </a:prstGeom>
          <a:noFill/>
          <a:ln/>
        </p:spPr>
        <p:txBody>
          <a:bodyPr wrap="square" lIns="0" tIns="0" rIns="0" bIns="0" rtlCol="0" anchor="ctr"/>
          <a:lstStyle/>
          <a:p>
            <a:pPr indent="0" marL="0">
              <a:buNone/>
            </a:pPr>
            <a:r>
              <a:rPr lang="en-US" sz="1150" i="1" dirty="0">
                <a:solidFill>
                  <a:srgbClr val="5F6B5F"/>
                </a:solidFill>
                <a:latin typeface="Calibri" pitchFamily="34" charset="0"/>
                <a:ea typeface="Calibri" pitchFamily="34" charset="-122"/>
                <a:cs typeface="Calibri" pitchFamily="34" charset="-120"/>
              </a:rPr>
              <a:t>Pourquoi pas Kubernetes : surdimensionné pour un MVP.</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INTERFACE DE PROGRAMMATION</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Dix-huit endpoints documentés</a:t>
            </a:r>
            <a:endParaRPr lang="en-US" sz="3400" dirty="0"/>
          </a:p>
        </p:txBody>
      </p:sp>
      <p:sp>
        <p:nvSpPr>
          <p:cNvPr id="4" name="Shape 2"/>
          <p:cNvSpPr/>
          <p:nvPr/>
        </p:nvSpPr>
        <p:spPr>
          <a:xfrm>
            <a:off x="548640" y="1572768"/>
            <a:ext cx="5349240" cy="2084832"/>
          </a:xfrm>
          <a:prstGeom prst="roundRect">
            <a:avLst>
              <a:gd name="adj" fmla="val 2632"/>
            </a:avLst>
          </a:prstGeom>
          <a:solidFill>
            <a:srgbClr val="EEF3EA"/>
          </a:solidFill>
          <a:ln w="12700">
            <a:solidFill>
              <a:srgbClr val="EEF3EA"/>
            </a:solidFill>
            <a:prstDash val="solid"/>
          </a:ln>
        </p:spPr>
      </p:sp>
      <p:sp>
        <p:nvSpPr>
          <p:cNvPr id="5" name="Text 3"/>
          <p:cNvSpPr txBox="1"/>
          <p:nvPr/>
        </p:nvSpPr>
        <p:spPr>
          <a:xfrm>
            <a:off x="822960" y="1755648"/>
            <a:ext cx="4800600" cy="32004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Authentification</a:t>
            </a:r>
            <a:endParaRPr lang="en-US" sz="1600" dirty="0"/>
          </a:p>
        </p:txBody>
      </p:sp>
      <p:sp>
        <p:nvSpPr>
          <p:cNvPr id="6" name="Shape 4"/>
          <p:cNvSpPr/>
          <p:nvPr/>
        </p:nvSpPr>
        <p:spPr>
          <a:xfrm>
            <a:off x="822960" y="2176272"/>
            <a:ext cx="713232" cy="237744"/>
          </a:xfrm>
          <a:prstGeom prst="roundRect">
            <a:avLst>
              <a:gd name="adj" fmla="val 15385"/>
            </a:avLst>
          </a:prstGeom>
          <a:solidFill>
            <a:srgbClr val="2C5F2D"/>
          </a:solidFill>
          <a:ln w="12700">
            <a:solidFill>
              <a:srgbClr val="2C5F2D"/>
            </a:solidFill>
            <a:prstDash val="solid"/>
          </a:ln>
        </p:spPr>
      </p:sp>
      <p:sp>
        <p:nvSpPr>
          <p:cNvPr id="7" name="Text 5"/>
          <p:cNvSpPr txBox="1"/>
          <p:nvPr/>
        </p:nvSpPr>
        <p:spPr>
          <a:xfrm>
            <a:off x="822960" y="2176272"/>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POST</a:t>
            </a:r>
            <a:endParaRPr lang="en-US" sz="850" dirty="0"/>
          </a:p>
        </p:txBody>
      </p:sp>
      <p:sp>
        <p:nvSpPr>
          <p:cNvPr id="8" name="Text 6"/>
          <p:cNvSpPr txBox="1"/>
          <p:nvPr/>
        </p:nvSpPr>
        <p:spPr>
          <a:xfrm>
            <a:off x="1645920" y="2176272"/>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/auth/register</a:t>
            </a:r>
            <a:endParaRPr lang="en-US" sz="1150" dirty="0"/>
          </a:p>
        </p:txBody>
      </p:sp>
      <p:sp>
        <p:nvSpPr>
          <p:cNvPr id="9" name="Shape 7"/>
          <p:cNvSpPr/>
          <p:nvPr/>
        </p:nvSpPr>
        <p:spPr>
          <a:xfrm>
            <a:off x="822960" y="2459736"/>
            <a:ext cx="713232" cy="237744"/>
          </a:xfrm>
          <a:prstGeom prst="roundRect">
            <a:avLst>
              <a:gd name="adj" fmla="val 15385"/>
            </a:avLst>
          </a:prstGeom>
          <a:solidFill>
            <a:srgbClr val="2C5F2D"/>
          </a:solidFill>
          <a:ln w="12700">
            <a:solidFill>
              <a:srgbClr val="2C5F2D"/>
            </a:solidFill>
            <a:prstDash val="solid"/>
          </a:ln>
        </p:spPr>
      </p:sp>
      <p:sp>
        <p:nvSpPr>
          <p:cNvPr id="10" name="Text 8"/>
          <p:cNvSpPr txBox="1"/>
          <p:nvPr/>
        </p:nvSpPr>
        <p:spPr>
          <a:xfrm>
            <a:off x="822960" y="2459736"/>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POST</a:t>
            </a:r>
            <a:endParaRPr lang="en-US" sz="850" dirty="0"/>
          </a:p>
        </p:txBody>
      </p:sp>
      <p:sp>
        <p:nvSpPr>
          <p:cNvPr id="11" name="Text 9"/>
          <p:cNvSpPr txBox="1"/>
          <p:nvPr/>
        </p:nvSpPr>
        <p:spPr>
          <a:xfrm>
            <a:off x="1645920" y="2459736"/>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/auth/login</a:t>
            </a:r>
            <a:endParaRPr lang="en-US" sz="1150" dirty="0"/>
          </a:p>
        </p:txBody>
      </p:sp>
      <p:sp>
        <p:nvSpPr>
          <p:cNvPr id="12" name="Shape 10"/>
          <p:cNvSpPr/>
          <p:nvPr/>
        </p:nvSpPr>
        <p:spPr>
          <a:xfrm>
            <a:off x="822960" y="2743200"/>
            <a:ext cx="713232" cy="237744"/>
          </a:xfrm>
          <a:prstGeom prst="roundRect">
            <a:avLst>
              <a:gd name="adj" fmla="val 15385"/>
            </a:avLst>
          </a:prstGeom>
          <a:solidFill>
            <a:srgbClr val="2C5F2D"/>
          </a:solidFill>
          <a:ln w="12700">
            <a:solidFill>
              <a:srgbClr val="2C5F2D"/>
            </a:solidFill>
            <a:prstDash val="solid"/>
          </a:ln>
        </p:spPr>
      </p:sp>
      <p:sp>
        <p:nvSpPr>
          <p:cNvPr id="13" name="Text 11"/>
          <p:cNvSpPr txBox="1"/>
          <p:nvPr/>
        </p:nvSpPr>
        <p:spPr>
          <a:xfrm>
            <a:off x="822960" y="2743200"/>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GET</a:t>
            </a:r>
            <a:endParaRPr lang="en-US" sz="850" dirty="0"/>
          </a:p>
        </p:txBody>
      </p:sp>
      <p:sp>
        <p:nvSpPr>
          <p:cNvPr id="14" name="Text 12"/>
          <p:cNvSpPr txBox="1"/>
          <p:nvPr/>
        </p:nvSpPr>
        <p:spPr>
          <a:xfrm>
            <a:off x="1645920" y="2743200"/>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/auth/me</a:t>
            </a:r>
            <a:endParaRPr lang="en-US" sz="1150" dirty="0"/>
          </a:p>
        </p:txBody>
      </p:sp>
      <p:sp>
        <p:nvSpPr>
          <p:cNvPr id="15" name="Shape 13"/>
          <p:cNvSpPr/>
          <p:nvPr/>
        </p:nvSpPr>
        <p:spPr>
          <a:xfrm>
            <a:off x="6263640" y="1572768"/>
            <a:ext cx="5349240" cy="2084832"/>
          </a:xfrm>
          <a:prstGeom prst="roundRect">
            <a:avLst>
              <a:gd name="adj" fmla="val 2632"/>
            </a:avLst>
          </a:prstGeom>
          <a:solidFill>
            <a:srgbClr val="EEF3EA"/>
          </a:solidFill>
          <a:ln w="12700">
            <a:solidFill>
              <a:srgbClr val="EEF3EA"/>
            </a:solidFill>
            <a:prstDash val="solid"/>
          </a:ln>
        </p:spPr>
      </p:sp>
      <p:sp>
        <p:nvSpPr>
          <p:cNvPr id="16" name="Text 14"/>
          <p:cNvSpPr txBox="1"/>
          <p:nvPr/>
        </p:nvSpPr>
        <p:spPr>
          <a:xfrm>
            <a:off x="6537960" y="1755648"/>
            <a:ext cx="4800600" cy="32004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Parcelles</a:t>
            </a:r>
            <a:endParaRPr lang="en-US" sz="1600" dirty="0"/>
          </a:p>
        </p:txBody>
      </p:sp>
      <p:sp>
        <p:nvSpPr>
          <p:cNvPr id="17" name="Shape 15"/>
          <p:cNvSpPr/>
          <p:nvPr/>
        </p:nvSpPr>
        <p:spPr>
          <a:xfrm>
            <a:off x="6537960" y="2176272"/>
            <a:ext cx="713232" cy="237744"/>
          </a:xfrm>
          <a:prstGeom prst="roundRect">
            <a:avLst>
              <a:gd name="adj" fmla="val 15385"/>
            </a:avLst>
          </a:prstGeom>
          <a:solidFill>
            <a:srgbClr val="2C5F2D"/>
          </a:solidFill>
          <a:ln w="12700">
            <a:solidFill>
              <a:srgbClr val="2C5F2D"/>
            </a:solidFill>
            <a:prstDash val="solid"/>
          </a:ln>
        </p:spPr>
      </p:sp>
      <p:sp>
        <p:nvSpPr>
          <p:cNvPr id="18" name="Text 16"/>
          <p:cNvSpPr txBox="1"/>
          <p:nvPr/>
        </p:nvSpPr>
        <p:spPr>
          <a:xfrm>
            <a:off x="6537960" y="2176272"/>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GET</a:t>
            </a:r>
            <a:endParaRPr lang="en-US" sz="850" dirty="0"/>
          </a:p>
        </p:txBody>
      </p:sp>
      <p:sp>
        <p:nvSpPr>
          <p:cNvPr id="19" name="Text 17"/>
          <p:cNvSpPr txBox="1"/>
          <p:nvPr/>
        </p:nvSpPr>
        <p:spPr>
          <a:xfrm>
            <a:off x="7360920" y="2176272"/>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/parcels</a:t>
            </a:r>
            <a:endParaRPr lang="en-US" sz="1150" dirty="0"/>
          </a:p>
        </p:txBody>
      </p:sp>
      <p:sp>
        <p:nvSpPr>
          <p:cNvPr id="20" name="Shape 18"/>
          <p:cNvSpPr/>
          <p:nvPr/>
        </p:nvSpPr>
        <p:spPr>
          <a:xfrm>
            <a:off x="6537960" y="2459736"/>
            <a:ext cx="713232" cy="237744"/>
          </a:xfrm>
          <a:prstGeom prst="roundRect">
            <a:avLst>
              <a:gd name="adj" fmla="val 15385"/>
            </a:avLst>
          </a:prstGeom>
          <a:solidFill>
            <a:srgbClr val="2C5F2D"/>
          </a:solidFill>
          <a:ln w="12700">
            <a:solidFill>
              <a:srgbClr val="2C5F2D"/>
            </a:solidFill>
            <a:prstDash val="solid"/>
          </a:ln>
        </p:spPr>
      </p:sp>
      <p:sp>
        <p:nvSpPr>
          <p:cNvPr id="21" name="Text 19"/>
          <p:cNvSpPr txBox="1"/>
          <p:nvPr/>
        </p:nvSpPr>
        <p:spPr>
          <a:xfrm>
            <a:off x="6537960" y="2459736"/>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POST</a:t>
            </a:r>
            <a:endParaRPr lang="en-US" sz="850" dirty="0"/>
          </a:p>
        </p:txBody>
      </p:sp>
      <p:sp>
        <p:nvSpPr>
          <p:cNvPr id="22" name="Text 20"/>
          <p:cNvSpPr txBox="1"/>
          <p:nvPr/>
        </p:nvSpPr>
        <p:spPr>
          <a:xfrm>
            <a:off x="7360920" y="2459736"/>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/parcels</a:t>
            </a:r>
            <a:endParaRPr lang="en-US" sz="1150" dirty="0"/>
          </a:p>
        </p:txBody>
      </p:sp>
      <p:sp>
        <p:nvSpPr>
          <p:cNvPr id="23" name="Shape 21"/>
          <p:cNvSpPr/>
          <p:nvPr/>
        </p:nvSpPr>
        <p:spPr>
          <a:xfrm>
            <a:off x="6537960" y="2743200"/>
            <a:ext cx="713232" cy="237744"/>
          </a:xfrm>
          <a:prstGeom prst="roundRect">
            <a:avLst>
              <a:gd name="adj" fmla="val 15385"/>
            </a:avLst>
          </a:prstGeom>
          <a:solidFill>
            <a:srgbClr val="2C5F2D"/>
          </a:solidFill>
          <a:ln w="12700">
            <a:solidFill>
              <a:srgbClr val="2C5F2D"/>
            </a:solidFill>
            <a:prstDash val="solid"/>
          </a:ln>
        </p:spPr>
      </p:sp>
      <p:sp>
        <p:nvSpPr>
          <p:cNvPr id="24" name="Text 22"/>
          <p:cNvSpPr txBox="1"/>
          <p:nvPr/>
        </p:nvSpPr>
        <p:spPr>
          <a:xfrm>
            <a:off x="6537960" y="2743200"/>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PUT</a:t>
            </a:r>
            <a:endParaRPr lang="en-US" sz="850" dirty="0"/>
          </a:p>
        </p:txBody>
      </p:sp>
      <p:sp>
        <p:nvSpPr>
          <p:cNvPr id="25" name="Text 23"/>
          <p:cNvSpPr txBox="1"/>
          <p:nvPr/>
        </p:nvSpPr>
        <p:spPr>
          <a:xfrm>
            <a:off x="7360920" y="2743200"/>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/parcels/{id}</a:t>
            </a:r>
            <a:endParaRPr lang="en-US" sz="1150" dirty="0"/>
          </a:p>
        </p:txBody>
      </p:sp>
      <p:sp>
        <p:nvSpPr>
          <p:cNvPr id="26" name="Shape 24"/>
          <p:cNvSpPr/>
          <p:nvPr/>
        </p:nvSpPr>
        <p:spPr>
          <a:xfrm>
            <a:off x="6537960" y="3026664"/>
            <a:ext cx="713232" cy="237744"/>
          </a:xfrm>
          <a:prstGeom prst="roundRect">
            <a:avLst>
              <a:gd name="adj" fmla="val 15385"/>
            </a:avLst>
          </a:prstGeom>
          <a:solidFill>
            <a:srgbClr val="2C5F2D"/>
          </a:solidFill>
          <a:ln w="12700">
            <a:solidFill>
              <a:srgbClr val="2C5F2D"/>
            </a:solidFill>
            <a:prstDash val="solid"/>
          </a:ln>
        </p:spPr>
      </p:sp>
      <p:sp>
        <p:nvSpPr>
          <p:cNvPr id="27" name="Text 25"/>
          <p:cNvSpPr txBox="1"/>
          <p:nvPr/>
        </p:nvSpPr>
        <p:spPr>
          <a:xfrm>
            <a:off x="6537960" y="3026664"/>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DELETE</a:t>
            </a:r>
            <a:endParaRPr lang="en-US" sz="850" dirty="0"/>
          </a:p>
        </p:txBody>
      </p:sp>
      <p:sp>
        <p:nvSpPr>
          <p:cNvPr id="28" name="Text 26"/>
          <p:cNvSpPr txBox="1"/>
          <p:nvPr/>
        </p:nvSpPr>
        <p:spPr>
          <a:xfrm>
            <a:off x="7360920" y="3026664"/>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/parcels/{id}</a:t>
            </a:r>
            <a:endParaRPr lang="en-US" sz="1150" dirty="0"/>
          </a:p>
        </p:txBody>
      </p:sp>
      <p:sp>
        <p:nvSpPr>
          <p:cNvPr id="29" name="Shape 27"/>
          <p:cNvSpPr/>
          <p:nvPr/>
        </p:nvSpPr>
        <p:spPr>
          <a:xfrm>
            <a:off x="548640" y="3785616"/>
            <a:ext cx="5349240" cy="2084832"/>
          </a:xfrm>
          <a:prstGeom prst="roundRect">
            <a:avLst>
              <a:gd name="adj" fmla="val 2632"/>
            </a:avLst>
          </a:prstGeom>
          <a:solidFill>
            <a:srgbClr val="EEF3EA"/>
          </a:solidFill>
          <a:ln w="12700">
            <a:solidFill>
              <a:srgbClr val="EEF3EA"/>
            </a:solidFill>
            <a:prstDash val="solid"/>
          </a:ln>
        </p:spPr>
      </p:sp>
      <p:sp>
        <p:nvSpPr>
          <p:cNvPr id="30" name="Text 28"/>
          <p:cNvSpPr txBox="1"/>
          <p:nvPr/>
        </p:nvSpPr>
        <p:spPr>
          <a:xfrm>
            <a:off x="822960" y="3968496"/>
            <a:ext cx="4800600" cy="32004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Capteurs IoT</a:t>
            </a:r>
            <a:endParaRPr lang="en-US" sz="1600" dirty="0"/>
          </a:p>
        </p:txBody>
      </p:sp>
      <p:sp>
        <p:nvSpPr>
          <p:cNvPr id="31" name="Shape 29"/>
          <p:cNvSpPr/>
          <p:nvPr/>
        </p:nvSpPr>
        <p:spPr>
          <a:xfrm>
            <a:off x="822960" y="4389120"/>
            <a:ext cx="713232" cy="237744"/>
          </a:xfrm>
          <a:prstGeom prst="roundRect">
            <a:avLst>
              <a:gd name="adj" fmla="val 15385"/>
            </a:avLst>
          </a:prstGeom>
          <a:solidFill>
            <a:srgbClr val="2C5F2D"/>
          </a:solidFill>
          <a:ln w="12700">
            <a:solidFill>
              <a:srgbClr val="2C5F2D"/>
            </a:solidFill>
            <a:prstDash val="solid"/>
          </a:ln>
        </p:spPr>
      </p:sp>
      <p:sp>
        <p:nvSpPr>
          <p:cNvPr id="32" name="Text 30"/>
          <p:cNvSpPr txBox="1"/>
          <p:nvPr/>
        </p:nvSpPr>
        <p:spPr>
          <a:xfrm>
            <a:off x="822960" y="4389120"/>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POST</a:t>
            </a:r>
            <a:endParaRPr lang="en-US" sz="850" dirty="0"/>
          </a:p>
        </p:txBody>
      </p:sp>
      <p:sp>
        <p:nvSpPr>
          <p:cNvPr id="33" name="Text 31"/>
          <p:cNvSpPr txBox="1"/>
          <p:nvPr/>
        </p:nvSpPr>
        <p:spPr>
          <a:xfrm>
            <a:off x="1645920" y="4389120"/>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/sensors/readings</a:t>
            </a:r>
            <a:endParaRPr lang="en-US" sz="1150" dirty="0"/>
          </a:p>
        </p:txBody>
      </p:sp>
      <p:sp>
        <p:nvSpPr>
          <p:cNvPr id="34" name="Shape 32"/>
          <p:cNvSpPr/>
          <p:nvPr/>
        </p:nvSpPr>
        <p:spPr>
          <a:xfrm>
            <a:off x="822960" y="4672584"/>
            <a:ext cx="713232" cy="237744"/>
          </a:xfrm>
          <a:prstGeom prst="roundRect">
            <a:avLst>
              <a:gd name="adj" fmla="val 15385"/>
            </a:avLst>
          </a:prstGeom>
          <a:solidFill>
            <a:srgbClr val="2C5F2D"/>
          </a:solidFill>
          <a:ln w="12700">
            <a:solidFill>
              <a:srgbClr val="2C5F2D"/>
            </a:solidFill>
            <a:prstDash val="solid"/>
          </a:ln>
        </p:spPr>
      </p:sp>
      <p:sp>
        <p:nvSpPr>
          <p:cNvPr id="35" name="Text 33"/>
          <p:cNvSpPr txBox="1"/>
          <p:nvPr/>
        </p:nvSpPr>
        <p:spPr>
          <a:xfrm>
            <a:off x="822960" y="4672584"/>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GET</a:t>
            </a:r>
            <a:endParaRPr lang="en-US" sz="850" dirty="0"/>
          </a:p>
        </p:txBody>
      </p:sp>
      <p:sp>
        <p:nvSpPr>
          <p:cNvPr id="36" name="Text 34"/>
          <p:cNvSpPr txBox="1"/>
          <p:nvPr/>
        </p:nvSpPr>
        <p:spPr>
          <a:xfrm>
            <a:off x="1645920" y="4672584"/>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/sensors/latest</a:t>
            </a:r>
            <a:endParaRPr lang="en-US" sz="1150" dirty="0"/>
          </a:p>
        </p:txBody>
      </p:sp>
      <p:sp>
        <p:nvSpPr>
          <p:cNvPr id="37" name="Shape 35"/>
          <p:cNvSpPr/>
          <p:nvPr/>
        </p:nvSpPr>
        <p:spPr>
          <a:xfrm>
            <a:off x="822960" y="4956048"/>
            <a:ext cx="713232" cy="237744"/>
          </a:xfrm>
          <a:prstGeom prst="roundRect">
            <a:avLst>
              <a:gd name="adj" fmla="val 15385"/>
            </a:avLst>
          </a:prstGeom>
          <a:solidFill>
            <a:srgbClr val="2C5F2D"/>
          </a:solidFill>
          <a:ln w="12700">
            <a:solidFill>
              <a:srgbClr val="2C5F2D"/>
            </a:solidFill>
            <a:prstDash val="solid"/>
          </a:ln>
        </p:spPr>
      </p:sp>
      <p:sp>
        <p:nvSpPr>
          <p:cNvPr id="38" name="Text 36"/>
          <p:cNvSpPr txBox="1"/>
          <p:nvPr/>
        </p:nvSpPr>
        <p:spPr>
          <a:xfrm>
            <a:off x="822960" y="4956048"/>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GET</a:t>
            </a:r>
            <a:endParaRPr lang="en-US" sz="850" dirty="0"/>
          </a:p>
        </p:txBody>
      </p:sp>
      <p:sp>
        <p:nvSpPr>
          <p:cNvPr id="39" name="Text 37"/>
          <p:cNvSpPr txBox="1"/>
          <p:nvPr/>
        </p:nvSpPr>
        <p:spPr>
          <a:xfrm>
            <a:off x="1645920" y="4956048"/>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/sensors/network</a:t>
            </a:r>
            <a:endParaRPr lang="en-US" sz="1150" dirty="0"/>
          </a:p>
        </p:txBody>
      </p:sp>
      <p:sp>
        <p:nvSpPr>
          <p:cNvPr id="40" name="Shape 38"/>
          <p:cNvSpPr/>
          <p:nvPr/>
        </p:nvSpPr>
        <p:spPr>
          <a:xfrm>
            <a:off x="822960" y="5239512"/>
            <a:ext cx="713232" cy="237744"/>
          </a:xfrm>
          <a:prstGeom prst="roundRect">
            <a:avLst>
              <a:gd name="adj" fmla="val 15385"/>
            </a:avLst>
          </a:prstGeom>
          <a:solidFill>
            <a:srgbClr val="2C5F2D"/>
          </a:solidFill>
          <a:ln w="12700">
            <a:solidFill>
              <a:srgbClr val="2C5F2D"/>
            </a:solidFill>
            <a:prstDash val="solid"/>
          </a:ln>
        </p:spPr>
      </p:sp>
      <p:sp>
        <p:nvSpPr>
          <p:cNvPr id="41" name="Text 39"/>
          <p:cNvSpPr txBox="1"/>
          <p:nvPr/>
        </p:nvSpPr>
        <p:spPr>
          <a:xfrm>
            <a:off x="822960" y="5239512"/>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GET</a:t>
            </a:r>
            <a:endParaRPr lang="en-US" sz="850" dirty="0"/>
          </a:p>
        </p:txBody>
      </p:sp>
      <p:sp>
        <p:nvSpPr>
          <p:cNvPr id="42" name="Text 40"/>
          <p:cNvSpPr txBox="1"/>
          <p:nvPr/>
        </p:nvSpPr>
        <p:spPr>
          <a:xfrm>
            <a:off x="1645920" y="5239512"/>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/sensors/{id}/history</a:t>
            </a:r>
            <a:endParaRPr lang="en-US" sz="1150" dirty="0"/>
          </a:p>
        </p:txBody>
      </p:sp>
      <p:sp>
        <p:nvSpPr>
          <p:cNvPr id="43" name="Shape 41"/>
          <p:cNvSpPr/>
          <p:nvPr/>
        </p:nvSpPr>
        <p:spPr>
          <a:xfrm>
            <a:off x="6263640" y="3785616"/>
            <a:ext cx="5349240" cy="2084832"/>
          </a:xfrm>
          <a:prstGeom prst="roundRect">
            <a:avLst>
              <a:gd name="adj" fmla="val 2632"/>
            </a:avLst>
          </a:prstGeom>
          <a:solidFill>
            <a:srgbClr val="EEF3EA"/>
          </a:solidFill>
          <a:ln w="12700">
            <a:solidFill>
              <a:srgbClr val="EEF3EA"/>
            </a:solidFill>
            <a:prstDash val="solid"/>
          </a:ln>
        </p:spPr>
      </p:sp>
      <p:sp>
        <p:nvSpPr>
          <p:cNvPr id="44" name="Text 42"/>
          <p:cNvSpPr txBox="1"/>
          <p:nvPr/>
        </p:nvSpPr>
        <p:spPr>
          <a:xfrm>
            <a:off x="6537960" y="3968496"/>
            <a:ext cx="4800600" cy="320040"/>
          </a:xfrm>
          <a:prstGeom prst="rect">
            <a:avLst/>
          </a:prstGeom>
          <a:noFill/>
          <a:ln/>
        </p:spPr>
        <p:txBody>
          <a:bodyPr wrap="square" lIns="0" tIns="0" rIns="0" bIns="0"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Diagnostic et suivi</a:t>
            </a:r>
            <a:endParaRPr lang="en-US" sz="1600" dirty="0"/>
          </a:p>
        </p:txBody>
      </p:sp>
      <p:sp>
        <p:nvSpPr>
          <p:cNvPr id="45" name="Shape 43"/>
          <p:cNvSpPr/>
          <p:nvPr/>
        </p:nvSpPr>
        <p:spPr>
          <a:xfrm>
            <a:off x="6537960" y="4389120"/>
            <a:ext cx="713232" cy="237744"/>
          </a:xfrm>
          <a:prstGeom prst="roundRect">
            <a:avLst>
              <a:gd name="adj" fmla="val 15385"/>
            </a:avLst>
          </a:prstGeom>
          <a:solidFill>
            <a:srgbClr val="2C5F2D"/>
          </a:solidFill>
          <a:ln w="12700">
            <a:solidFill>
              <a:srgbClr val="2C5F2D"/>
            </a:solidFill>
            <a:prstDash val="solid"/>
          </a:ln>
        </p:spPr>
      </p:sp>
      <p:sp>
        <p:nvSpPr>
          <p:cNvPr id="46" name="Text 44"/>
          <p:cNvSpPr txBox="1"/>
          <p:nvPr/>
        </p:nvSpPr>
        <p:spPr>
          <a:xfrm>
            <a:off x="6537960" y="4389120"/>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POST</a:t>
            </a:r>
            <a:endParaRPr lang="en-US" sz="850" dirty="0"/>
          </a:p>
        </p:txBody>
      </p:sp>
      <p:sp>
        <p:nvSpPr>
          <p:cNvPr id="47" name="Text 45"/>
          <p:cNvSpPr txBox="1"/>
          <p:nvPr/>
        </p:nvSpPr>
        <p:spPr>
          <a:xfrm>
            <a:off x="7360920" y="4389120"/>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/diagnose</a:t>
            </a:r>
            <a:endParaRPr lang="en-US" sz="1150" dirty="0"/>
          </a:p>
        </p:txBody>
      </p:sp>
      <p:sp>
        <p:nvSpPr>
          <p:cNvPr id="48" name="Shape 46"/>
          <p:cNvSpPr/>
          <p:nvPr/>
        </p:nvSpPr>
        <p:spPr>
          <a:xfrm>
            <a:off x="6537960" y="4672584"/>
            <a:ext cx="713232" cy="237744"/>
          </a:xfrm>
          <a:prstGeom prst="roundRect">
            <a:avLst>
              <a:gd name="adj" fmla="val 15385"/>
            </a:avLst>
          </a:prstGeom>
          <a:solidFill>
            <a:srgbClr val="2C5F2D"/>
          </a:solidFill>
          <a:ln w="12700">
            <a:solidFill>
              <a:srgbClr val="2C5F2D"/>
            </a:solidFill>
            <a:prstDash val="solid"/>
          </a:ln>
        </p:spPr>
      </p:sp>
      <p:sp>
        <p:nvSpPr>
          <p:cNvPr id="49" name="Text 47"/>
          <p:cNvSpPr txBox="1"/>
          <p:nvPr/>
        </p:nvSpPr>
        <p:spPr>
          <a:xfrm>
            <a:off x="6537960" y="4672584"/>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GET</a:t>
            </a:r>
            <a:endParaRPr lang="en-US" sz="850" dirty="0"/>
          </a:p>
        </p:txBody>
      </p:sp>
      <p:sp>
        <p:nvSpPr>
          <p:cNvPr id="50" name="Text 48"/>
          <p:cNvSpPr txBox="1"/>
          <p:nvPr/>
        </p:nvSpPr>
        <p:spPr>
          <a:xfrm>
            <a:off x="7360920" y="4672584"/>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/history/{id}</a:t>
            </a:r>
            <a:endParaRPr lang="en-US" sz="1150" dirty="0"/>
          </a:p>
        </p:txBody>
      </p:sp>
      <p:sp>
        <p:nvSpPr>
          <p:cNvPr id="51" name="Shape 49"/>
          <p:cNvSpPr/>
          <p:nvPr/>
        </p:nvSpPr>
        <p:spPr>
          <a:xfrm>
            <a:off x="6537960" y="4956048"/>
            <a:ext cx="713232" cy="237744"/>
          </a:xfrm>
          <a:prstGeom prst="roundRect">
            <a:avLst>
              <a:gd name="adj" fmla="val 15385"/>
            </a:avLst>
          </a:prstGeom>
          <a:solidFill>
            <a:srgbClr val="2C5F2D"/>
          </a:solidFill>
          <a:ln w="12700">
            <a:solidFill>
              <a:srgbClr val="2C5F2D"/>
            </a:solidFill>
            <a:prstDash val="solid"/>
          </a:ln>
        </p:spPr>
      </p:sp>
      <p:sp>
        <p:nvSpPr>
          <p:cNvPr id="52" name="Text 50"/>
          <p:cNvSpPr txBox="1"/>
          <p:nvPr/>
        </p:nvSpPr>
        <p:spPr>
          <a:xfrm>
            <a:off x="6537960" y="4956048"/>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DELETE</a:t>
            </a:r>
            <a:endParaRPr lang="en-US" sz="850" dirty="0"/>
          </a:p>
        </p:txBody>
      </p:sp>
      <p:sp>
        <p:nvSpPr>
          <p:cNvPr id="53" name="Text 51"/>
          <p:cNvSpPr txBox="1"/>
          <p:nvPr/>
        </p:nvSpPr>
        <p:spPr>
          <a:xfrm>
            <a:off x="7360920" y="4956048"/>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/history/{id}</a:t>
            </a:r>
            <a:endParaRPr lang="en-US" sz="1150" dirty="0"/>
          </a:p>
        </p:txBody>
      </p:sp>
      <p:sp>
        <p:nvSpPr>
          <p:cNvPr id="54" name="Shape 52"/>
          <p:cNvSpPr/>
          <p:nvPr/>
        </p:nvSpPr>
        <p:spPr>
          <a:xfrm>
            <a:off x="6537960" y="5239512"/>
            <a:ext cx="713232" cy="237744"/>
          </a:xfrm>
          <a:prstGeom prst="roundRect">
            <a:avLst>
              <a:gd name="adj" fmla="val 15385"/>
            </a:avLst>
          </a:prstGeom>
          <a:solidFill>
            <a:srgbClr val="2C5F2D"/>
          </a:solidFill>
          <a:ln w="12700">
            <a:solidFill>
              <a:srgbClr val="2C5F2D"/>
            </a:solidFill>
            <a:prstDash val="solid"/>
          </a:ln>
        </p:spPr>
      </p:sp>
      <p:sp>
        <p:nvSpPr>
          <p:cNvPr id="55" name="Text 53"/>
          <p:cNvSpPr txBox="1"/>
          <p:nvPr/>
        </p:nvSpPr>
        <p:spPr>
          <a:xfrm>
            <a:off x="6537960" y="5239512"/>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GET</a:t>
            </a:r>
            <a:endParaRPr lang="en-US" sz="850" dirty="0"/>
          </a:p>
        </p:txBody>
      </p:sp>
      <p:sp>
        <p:nvSpPr>
          <p:cNvPr id="56" name="Text 54"/>
          <p:cNvSpPr txBox="1"/>
          <p:nvPr/>
        </p:nvSpPr>
        <p:spPr>
          <a:xfrm>
            <a:off x="7360920" y="5239512"/>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/alerts/{id}</a:t>
            </a:r>
            <a:endParaRPr lang="en-US" sz="1150" dirty="0"/>
          </a:p>
        </p:txBody>
      </p:sp>
      <p:sp>
        <p:nvSpPr>
          <p:cNvPr id="57" name="Shape 55"/>
          <p:cNvSpPr/>
          <p:nvPr/>
        </p:nvSpPr>
        <p:spPr>
          <a:xfrm>
            <a:off x="6537960" y="5522976"/>
            <a:ext cx="713232" cy="237744"/>
          </a:xfrm>
          <a:prstGeom prst="roundRect">
            <a:avLst>
              <a:gd name="adj" fmla="val 15385"/>
            </a:avLst>
          </a:prstGeom>
          <a:solidFill>
            <a:srgbClr val="2C5F2D"/>
          </a:solidFill>
          <a:ln w="12700">
            <a:solidFill>
              <a:srgbClr val="2C5F2D"/>
            </a:solidFill>
            <a:prstDash val="solid"/>
          </a:ln>
        </p:spPr>
      </p:sp>
      <p:sp>
        <p:nvSpPr>
          <p:cNvPr id="58" name="Text 56"/>
          <p:cNvSpPr txBox="1"/>
          <p:nvPr/>
        </p:nvSpPr>
        <p:spPr>
          <a:xfrm>
            <a:off x="6537960" y="5522976"/>
            <a:ext cx="713232"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GET</a:t>
            </a:r>
            <a:endParaRPr lang="en-US" sz="850" dirty="0"/>
          </a:p>
        </p:txBody>
      </p:sp>
      <p:sp>
        <p:nvSpPr>
          <p:cNvPr id="59" name="Text 57"/>
          <p:cNvSpPr txBox="1"/>
          <p:nvPr/>
        </p:nvSpPr>
        <p:spPr>
          <a:xfrm>
            <a:off x="7360920" y="5522976"/>
            <a:ext cx="4023360" cy="237744"/>
          </a:xfrm>
          <a:prstGeom prst="rect">
            <a:avLst/>
          </a:prstGeom>
          <a:noFill/>
          <a:ln/>
        </p:spPr>
        <p:txBody>
          <a:bodyPr wrap="square" lIns="0" tIns="0" rIns="0" bIns="0" rtlCol="0" anchor="ctr"/>
          <a:lstStyle/>
          <a:p>
            <a:pPr indent="0" marL="0">
              <a:buNone/>
            </a:pPr>
            <a:r>
              <a:rPr lang="en-US" sz="1150" dirty="0">
                <a:solidFill>
                  <a:srgbClr val="2B2B2B"/>
                </a:solidFill>
                <a:latin typeface="Consolas" pitchFamily="34" charset="0"/>
                <a:ea typeface="Consolas" pitchFamily="34" charset="-122"/>
                <a:cs typeface="Consolas" pitchFamily="34" charset="-120"/>
              </a:rPr>
              <a:t>/weather</a:t>
            </a:r>
            <a:endParaRPr lang="en-US" sz="1150" dirty="0"/>
          </a:p>
        </p:txBody>
      </p:sp>
      <p:sp>
        <p:nvSpPr>
          <p:cNvPr id="60" name="Shape 58"/>
          <p:cNvSpPr/>
          <p:nvPr/>
        </p:nvSpPr>
        <p:spPr>
          <a:xfrm>
            <a:off x="548640" y="5943600"/>
            <a:ext cx="11064240" cy="502920"/>
          </a:xfrm>
          <a:prstGeom prst="roundRect">
            <a:avLst>
              <a:gd name="adj" fmla="val 10909"/>
            </a:avLst>
          </a:prstGeom>
          <a:solidFill>
            <a:srgbClr val="2C5F2D"/>
          </a:solidFill>
          <a:ln w="12700">
            <a:solidFill>
              <a:srgbClr val="2C5F2D"/>
            </a:solidFill>
            <a:prstDash val="solid"/>
          </a:ln>
        </p:spPr>
      </p:sp>
      <p:sp>
        <p:nvSpPr>
          <p:cNvPr id="61" name="Text 59"/>
          <p:cNvSpPr txBox="1"/>
          <p:nvPr/>
        </p:nvSpPr>
        <p:spPr>
          <a:xfrm>
            <a:off x="868680" y="5943600"/>
            <a:ext cx="1042416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Documentation interactive Swagger   ·   http://13.51.48.254:8000/docs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1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97BC62"/>
                </a:solidFill>
                <a:latin typeface="Calibri" pitchFamily="34" charset="0"/>
                <a:ea typeface="Calibri" pitchFamily="34" charset="-122"/>
                <a:cs typeface="Calibri" pitchFamily="34" charset="-120"/>
              </a:rPr>
              <a:t>INTELLIGENCE ARTIFICIELLE</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 cœur technique du projet</a:t>
            </a:r>
            <a:endParaRPr lang="en-US" sz="3400" dirty="0"/>
          </a:p>
        </p:txBody>
      </p:sp>
      <p:sp>
        <p:nvSpPr>
          <p:cNvPr id="4" name="Shape 2"/>
          <p:cNvSpPr/>
          <p:nvPr/>
        </p:nvSpPr>
        <p:spPr>
          <a:xfrm>
            <a:off x="548640" y="1572768"/>
            <a:ext cx="3474720" cy="1691640"/>
          </a:xfrm>
          <a:prstGeom prst="roundRect">
            <a:avLst>
              <a:gd name="adj" fmla="val 3243"/>
            </a:avLst>
          </a:prstGeom>
          <a:solidFill>
            <a:srgbClr val="26492A"/>
          </a:solidFill>
          <a:ln w="12700">
            <a:solidFill>
              <a:srgbClr val="26492A"/>
            </a:solidFill>
            <a:prstDash val="solid"/>
          </a:ln>
        </p:spPr>
      </p:sp>
      <p:sp>
        <p:nvSpPr>
          <p:cNvPr id="5" name="Text 3"/>
          <p:cNvSpPr txBox="1"/>
          <p:nvPr/>
        </p:nvSpPr>
        <p:spPr>
          <a:xfrm>
            <a:off x="822960" y="1737360"/>
            <a:ext cx="2926080" cy="685800"/>
          </a:xfrm>
          <a:prstGeom prst="rect">
            <a:avLst/>
          </a:prstGeom>
          <a:noFill/>
          <a:ln/>
        </p:spPr>
        <p:txBody>
          <a:bodyPr wrap="square" lIns="0" tIns="0" rIns="0" bIns="0" rtlCol="0" anchor="ctr"/>
          <a:lstStyle/>
          <a:p>
            <a:pPr indent="0" marL="0">
              <a:buNone/>
            </a:pPr>
            <a:r>
              <a:rPr lang="en-US" sz="4800" b="1" dirty="0">
                <a:solidFill>
                  <a:srgbClr val="97BC62"/>
                </a:solidFill>
                <a:latin typeface="Cambria" pitchFamily="34" charset="0"/>
                <a:ea typeface="Cambria" pitchFamily="34" charset="-122"/>
                <a:cs typeface="Cambria" pitchFamily="34" charset="-120"/>
              </a:rPr>
              <a:t>87 %</a:t>
            </a:r>
            <a:endParaRPr lang="en-US" sz="4800" dirty="0"/>
          </a:p>
        </p:txBody>
      </p:sp>
      <p:sp>
        <p:nvSpPr>
          <p:cNvPr id="6" name="Text 4"/>
          <p:cNvSpPr txBox="1"/>
          <p:nvPr/>
        </p:nvSpPr>
        <p:spPr>
          <a:xfrm>
            <a:off x="822960" y="2450592"/>
            <a:ext cx="29260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 précision</a:t>
            </a:r>
            <a:endParaRPr lang="en-US" sz="1500" dirty="0"/>
          </a:p>
        </p:txBody>
      </p:sp>
      <p:sp>
        <p:nvSpPr>
          <p:cNvPr id="7" name="Text 5"/>
          <p:cNvSpPr txBox="1"/>
          <p:nvPr/>
        </p:nvSpPr>
        <p:spPr>
          <a:xfrm>
            <a:off x="822960" y="2743200"/>
            <a:ext cx="2926080" cy="274320"/>
          </a:xfrm>
          <a:prstGeom prst="rect">
            <a:avLst/>
          </a:prstGeom>
          <a:noFill/>
          <a:ln/>
        </p:spPr>
        <p:txBody>
          <a:bodyPr wrap="square" lIns="0" tIns="0" rIns="0" bIns="0" rtlCol="0" anchor="ctr"/>
          <a:lstStyle/>
          <a:p>
            <a:pPr indent="0" marL="0">
              <a:buNone/>
            </a:pPr>
            <a:r>
              <a:rPr lang="en-US" sz="1200" dirty="0">
                <a:solidFill>
                  <a:srgbClr val="A8BFA0"/>
                </a:solidFill>
                <a:latin typeface="Calibri" pitchFamily="34" charset="0"/>
                <a:ea typeface="Calibri" pitchFamily="34" charset="-122"/>
                <a:cs typeface="Calibri" pitchFamily="34" charset="-120"/>
              </a:rPr>
              <a:t>objectif interne : 85 %</a:t>
            </a:r>
            <a:endParaRPr lang="en-US" sz="1200" dirty="0"/>
          </a:p>
        </p:txBody>
      </p:sp>
      <p:sp>
        <p:nvSpPr>
          <p:cNvPr id="8" name="Shape 6"/>
          <p:cNvSpPr/>
          <p:nvPr/>
        </p:nvSpPr>
        <p:spPr>
          <a:xfrm>
            <a:off x="4343400" y="1572768"/>
            <a:ext cx="3474720" cy="1691640"/>
          </a:xfrm>
          <a:prstGeom prst="roundRect">
            <a:avLst>
              <a:gd name="adj" fmla="val 3243"/>
            </a:avLst>
          </a:prstGeom>
          <a:solidFill>
            <a:srgbClr val="26492A"/>
          </a:solidFill>
          <a:ln w="12700">
            <a:solidFill>
              <a:srgbClr val="26492A"/>
            </a:solidFill>
            <a:prstDash val="solid"/>
          </a:ln>
        </p:spPr>
      </p:sp>
      <p:sp>
        <p:nvSpPr>
          <p:cNvPr id="9" name="Text 7"/>
          <p:cNvSpPr txBox="1"/>
          <p:nvPr/>
        </p:nvSpPr>
        <p:spPr>
          <a:xfrm>
            <a:off x="4617720" y="1737360"/>
            <a:ext cx="2926080" cy="685800"/>
          </a:xfrm>
          <a:prstGeom prst="rect">
            <a:avLst/>
          </a:prstGeom>
          <a:noFill/>
          <a:ln/>
        </p:spPr>
        <p:txBody>
          <a:bodyPr wrap="square" lIns="0" tIns="0" rIns="0" bIns="0" rtlCol="0" anchor="ctr"/>
          <a:lstStyle/>
          <a:p>
            <a:pPr indent="0" marL="0">
              <a:buNone/>
            </a:pPr>
            <a:r>
              <a:rPr lang="en-US" sz="4800" b="1" dirty="0">
                <a:solidFill>
                  <a:srgbClr val="97BC62"/>
                </a:solidFill>
                <a:latin typeface="Cambria" pitchFamily="34" charset="0"/>
                <a:ea typeface="Cambria" pitchFamily="34" charset="-122"/>
                <a:cs typeface="Cambria" pitchFamily="34" charset="-120"/>
              </a:rPr>
              <a:t>1,5 s</a:t>
            </a:r>
            <a:endParaRPr lang="en-US" sz="4800" dirty="0"/>
          </a:p>
        </p:txBody>
      </p:sp>
      <p:sp>
        <p:nvSpPr>
          <p:cNvPr id="10" name="Text 8"/>
          <p:cNvSpPr txBox="1"/>
          <p:nvPr/>
        </p:nvSpPr>
        <p:spPr>
          <a:xfrm>
            <a:off x="4617720" y="2450592"/>
            <a:ext cx="29260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par diagnostic</a:t>
            </a:r>
            <a:endParaRPr lang="en-US" sz="1500" dirty="0"/>
          </a:p>
        </p:txBody>
      </p:sp>
      <p:sp>
        <p:nvSpPr>
          <p:cNvPr id="11" name="Text 9"/>
          <p:cNvSpPr txBox="1"/>
          <p:nvPr/>
        </p:nvSpPr>
        <p:spPr>
          <a:xfrm>
            <a:off x="4617720" y="2743200"/>
            <a:ext cx="2926080" cy="274320"/>
          </a:xfrm>
          <a:prstGeom prst="rect">
            <a:avLst/>
          </a:prstGeom>
          <a:noFill/>
          <a:ln/>
        </p:spPr>
        <p:txBody>
          <a:bodyPr wrap="square" lIns="0" tIns="0" rIns="0" bIns="0" rtlCol="0" anchor="ctr"/>
          <a:lstStyle/>
          <a:p>
            <a:pPr indent="0" marL="0">
              <a:buNone/>
            </a:pPr>
            <a:r>
              <a:rPr lang="en-US" sz="1200" dirty="0">
                <a:solidFill>
                  <a:srgbClr val="A8BFA0"/>
                </a:solidFill>
                <a:latin typeface="Calibri" pitchFamily="34" charset="0"/>
                <a:ea typeface="Calibri" pitchFamily="34" charset="-122"/>
                <a:cs typeface="Calibri" pitchFamily="34" charset="-120"/>
              </a:rPr>
              <a:t>objectif interne : moins de 2 s</a:t>
            </a:r>
            <a:endParaRPr lang="en-US" sz="1200" dirty="0"/>
          </a:p>
        </p:txBody>
      </p:sp>
      <p:sp>
        <p:nvSpPr>
          <p:cNvPr id="12" name="Shape 10"/>
          <p:cNvSpPr/>
          <p:nvPr/>
        </p:nvSpPr>
        <p:spPr>
          <a:xfrm>
            <a:off x="8138160" y="1572768"/>
            <a:ext cx="3474720" cy="1691640"/>
          </a:xfrm>
          <a:prstGeom prst="roundRect">
            <a:avLst>
              <a:gd name="adj" fmla="val 3243"/>
            </a:avLst>
          </a:prstGeom>
          <a:solidFill>
            <a:srgbClr val="26492A"/>
          </a:solidFill>
          <a:ln w="12700">
            <a:solidFill>
              <a:srgbClr val="26492A"/>
            </a:solidFill>
            <a:prstDash val="solid"/>
          </a:ln>
        </p:spPr>
      </p:sp>
      <p:sp>
        <p:nvSpPr>
          <p:cNvPr id="13" name="Text 11"/>
          <p:cNvSpPr txBox="1"/>
          <p:nvPr/>
        </p:nvSpPr>
        <p:spPr>
          <a:xfrm>
            <a:off x="8412480" y="1737360"/>
            <a:ext cx="2926080" cy="685800"/>
          </a:xfrm>
          <a:prstGeom prst="rect">
            <a:avLst/>
          </a:prstGeom>
          <a:noFill/>
          <a:ln/>
        </p:spPr>
        <p:txBody>
          <a:bodyPr wrap="square" lIns="0" tIns="0" rIns="0" bIns="0" rtlCol="0" anchor="ctr"/>
          <a:lstStyle/>
          <a:p>
            <a:pPr indent="0" marL="0">
              <a:buNone/>
            </a:pPr>
            <a:r>
              <a:rPr lang="en-US" sz="4800" b="1" dirty="0">
                <a:solidFill>
                  <a:srgbClr val="97BC62"/>
                </a:solidFill>
                <a:latin typeface="Cambria" pitchFamily="34" charset="0"/>
                <a:ea typeface="Cambria" pitchFamily="34" charset="-122"/>
                <a:cs typeface="Cambria" pitchFamily="34" charset="-120"/>
              </a:rPr>
              <a:t>5</a:t>
            </a:r>
            <a:endParaRPr lang="en-US" sz="4800" dirty="0"/>
          </a:p>
        </p:txBody>
      </p:sp>
      <p:sp>
        <p:nvSpPr>
          <p:cNvPr id="14" name="Text 12"/>
          <p:cNvSpPr txBox="1"/>
          <p:nvPr/>
        </p:nvSpPr>
        <p:spPr>
          <a:xfrm>
            <a:off x="8412480" y="2450592"/>
            <a:ext cx="29260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classes reconnues</a:t>
            </a:r>
            <a:endParaRPr lang="en-US" sz="1500" dirty="0"/>
          </a:p>
        </p:txBody>
      </p:sp>
      <p:sp>
        <p:nvSpPr>
          <p:cNvPr id="15" name="Text 13"/>
          <p:cNvSpPr txBox="1"/>
          <p:nvPr/>
        </p:nvSpPr>
        <p:spPr>
          <a:xfrm>
            <a:off x="8412480" y="2743200"/>
            <a:ext cx="2926080" cy="274320"/>
          </a:xfrm>
          <a:prstGeom prst="rect">
            <a:avLst/>
          </a:prstGeom>
          <a:noFill/>
          <a:ln/>
        </p:spPr>
        <p:txBody>
          <a:bodyPr wrap="square" lIns="0" tIns="0" rIns="0" bIns="0" rtlCol="0" anchor="ctr"/>
          <a:lstStyle/>
          <a:p>
            <a:pPr indent="0" marL="0">
              <a:buNone/>
            </a:pPr>
            <a:r>
              <a:rPr lang="en-US" sz="1200" dirty="0">
                <a:solidFill>
                  <a:srgbClr val="A8BFA0"/>
                </a:solidFill>
                <a:latin typeface="Calibri" pitchFamily="34" charset="0"/>
                <a:ea typeface="Calibri" pitchFamily="34" charset="-122"/>
                <a:cs typeface="Calibri" pitchFamily="34" charset="-120"/>
              </a:rPr>
              <a:t>4 maladies + état sain</a:t>
            </a:r>
            <a:endParaRPr lang="en-US" sz="1200" dirty="0"/>
          </a:p>
        </p:txBody>
      </p:sp>
      <p:sp>
        <p:nvSpPr>
          <p:cNvPr id="16" name="Text 14"/>
          <p:cNvSpPr txBox="1"/>
          <p:nvPr/>
        </p:nvSpPr>
        <p:spPr>
          <a:xfrm>
            <a:off x="548640" y="3657600"/>
            <a:ext cx="5486400" cy="228600"/>
          </a:xfrm>
          <a:prstGeom prst="rect">
            <a:avLst/>
          </a:prstGeom>
          <a:noFill/>
          <a:ln/>
        </p:spPr>
        <p:txBody>
          <a:bodyPr wrap="square" lIns="0" tIns="0" rIns="0" bIns="0" rtlCol="0" anchor="ctr"/>
          <a:lstStyle/>
          <a:p>
            <a:pPr indent="0" marL="0">
              <a:buNone/>
            </a:pPr>
            <a:r>
              <a:rPr lang="en-US" sz="1100" b="1" spc="150" kern="0" dirty="0">
                <a:solidFill>
                  <a:srgbClr val="97BC62"/>
                </a:solidFill>
                <a:latin typeface="Calibri" pitchFamily="34" charset="0"/>
                <a:ea typeface="Calibri" pitchFamily="34" charset="-122"/>
                <a:cs typeface="Calibri" pitchFamily="34" charset="-120"/>
              </a:rPr>
              <a:t>CHAÎNE DE TRAITEMENT</a:t>
            </a:r>
            <a:endParaRPr lang="en-US" sz="1100" dirty="0"/>
          </a:p>
        </p:txBody>
      </p:sp>
      <p:sp>
        <p:nvSpPr>
          <p:cNvPr id="17" name="Shape 15"/>
          <p:cNvSpPr/>
          <p:nvPr/>
        </p:nvSpPr>
        <p:spPr>
          <a:xfrm>
            <a:off x="548640" y="3977640"/>
            <a:ext cx="2594610" cy="1554480"/>
          </a:xfrm>
          <a:prstGeom prst="roundRect">
            <a:avLst>
              <a:gd name="adj" fmla="val 3529"/>
            </a:avLst>
          </a:prstGeom>
          <a:solidFill>
            <a:srgbClr val="26492A"/>
          </a:solidFill>
          <a:ln w="12700">
            <a:solidFill>
              <a:srgbClr val="26492A"/>
            </a:solidFill>
            <a:prstDash val="solid"/>
          </a:ln>
        </p:spPr>
      </p:sp>
      <p:sp>
        <p:nvSpPr>
          <p:cNvPr id="18" name="Shape 16"/>
          <p:cNvSpPr/>
          <p:nvPr/>
        </p:nvSpPr>
        <p:spPr>
          <a:xfrm>
            <a:off x="777240" y="4178808"/>
            <a:ext cx="420624" cy="420624"/>
          </a:xfrm>
          <a:prstGeom prst="ellipse">
            <a:avLst/>
          </a:prstGeom>
          <a:solidFill>
            <a:srgbClr val="97BC62"/>
          </a:solidFill>
          <a:ln w="12700">
            <a:solidFill>
              <a:srgbClr val="97BC62"/>
            </a:solidFill>
            <a:prstDash val="solid"/>
          </a:ln>
        </p:spPr>
      </p:sp>
      <p:sp>
        <p:nvSpPr>
          <p:cNvPr id="19" name="Text 17"/>
          <p:cNvSpPr txBox="1"/>
          <p:nvPr/>
        </p:nvSpPr>
        <p:spPr>
          <a:xfrm>
            <a:off x="777240" y="4178808"/>
            <a:ext cx="420624" cy="420624"/>
          </a:xfrm>
          <a:prstGeom prst="rect">
            <a:avLst/>
          </a:prstGeom>
          <a:noFill/>
          <a:ln/>
        </p:spPr>
        <p:txBody>
          <a:bodyPr wrap="square" lIns="0" tIns="0" rIns="0" bIns="0" rtlCol="0" anchor="ctr"/>
          <a:lstStyle/>
          <a:p>
            <a:pPr algn="ctr" indent="0" marL="0">
              <a:buNone/>
            </a:pPr>
            <a:r>
              <a:rPr lang="en-US" sz="1400" b="1" dirty="0">
                <a:solidFill>
                  <a:srgbClr val="1B3A1C"/>
                </a:solidFill>
                <a:latin typeface="Calibri" pitchFamily="34" charset="0"/>
                <a:ea typeface="Calibri" pitchFamily="34" charset="-122"/>
                <a:cs typeface="Calibri" pitchFamily="34" charset="-120"/>
              </a:rPr>
              <a:t>1</a:t>
            </a:r>
            <a:endParaRPr lang="en-US" sz="1400" dirty="0"/>
          </a:p>
        </p:txBody>
      </p:sp>
      <p:sp>
        <p:nvSpPr>
          <p:cNvPr id="20" name="Text 18"/>
          <p:cNvSpPr txBox="1"/>
          <p:nvPr/>
        </p:nvSpPr>
        <p:spPr>
          <a:xfrm>
            <a:off x="1298448" y="4224528"/>
            <a:ext cx="16916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Réception</a:t>
            </a:r>
            <a:endParaRPr lang="en-US" sz="1400" dirty="0"/>
          </a:p>
        </p:txBody>
      </p:sp>
      <p:sp>
        <p:nvSpPr>
          <p:cNvPr id="21" name="Text 19"/>
          <p:cNvSpPr txBox="1"/>
          <p:nvPr/>
        </p:nvSpPr>
        <p:spPr>
          <a:xfrm>
            <a:off x="777240" y="4709160"/>
            <a:ext cx="2194560" cy="658368"/>
          </a:xfrm>
          <a:prstGeom prst="rect">
            <a:avLst/>
          </a:prstGeom>
          <a:noFill/>
          <a:ln/>
        </p:spPr>
        <p:txBody>
          <a:bodyPr wrap="square" lIns="0" tIns="0" rIns="0" bIns="0" rtlCol="0" anchor="ctr"/>
          <a:lstStyle/>
          <a:p>
            <a:pPr indent="0" marL="0">
              <a:buNone/>
            </a:pPr>
            <a:r>
              <a:rPr lang="en-US" sz="1150" dirty="0">
                <a:solidFill>
                  <a:srgbClr val="A8BFA0"/>
                </a:solidFill>
                <a:latin typeface="Calibri" pitchFamily="34" charset="0"/>
                <a:ea typeface="Calibri" pitchFamily="34" charset="-122"/>
                <a:cs typeface="Calibri" pitchFamily="34" charset="-120"/>
              </a:rPr>
              <a:t>Photo envoyée à l'API</a:t>
            </a:r>
            <a:endParaRPr lang="en-US" sz="1150" dirty="0"/>
          </a:p>
        </p:txBody>
      </p:sp>
      <p:sp>
        <p:nvSpPr>
          <p:cNvPr id="22" name="Shape 20"/>
          <p:cNvSpPr/>
          <p:nvPr/>
        </p:nvSpPr>
        <p:spPr>
          <a:xfrm>
            <a:off x="3371850" y="3977640"/>
            <a:ext cx="2594610" cy="1554480"/>
          </a:xfrm>
          <a:prstGeom prst="roundRect">
            <a:avLst>
              <a:gd name="adj" fmla="val 3529"/>
            </a:avLst>
          </a:prstGeom>
          <a:solidFill>
            <a:srgbClr val="26492A"/>
          </a:solidFill>
          <a:ln w="12700">
            <a:solidFill>
              <a:srgbClr val="26492A"/>
            </a:solidFill>
            <a:prstDash val="solid"/>
          </a:ln>
        </p:spPr>
      </p:sp>
      <p:sp>
        <p:nvSpPr>
          <p:cNvPr id="23" name="Shape 21"/>
          <p:cNvSpPr/>
          <p:nvPr/>
        </p:nvSpPr>
        <p:spPr>
          <a:xfrm>
            <a:off x="3600450" y="4178808"/>
            <a:ext cx="420624" cy="420624"/>
          </a:xfrm>
          <a:prstGeom prst="ellipse">
            <a:avLst/>
          </a:prstGeom>
          <a:solidFill>
            <a:srgbClr val="97BC62"/>
          </a:solidFill>
          <a:ln w="12700">
            <a:solidFill>
              <a:srgbClr val="97BC62"/>
            </a:solidFill>
            <a:prstDash val="solid"/>
          </a:ln>
        </p:spPr>
      </p:sp>
      <p:sp>
        <p:nvSpPr>
          <p:cNvPr id="24" name="Text 22"/>
          <p:cNvSpPr txBox="1"/>
          <p:nvPr/>
        </p:nvSpPr>
        <p:spPr>
          <a:xfrm>
            <a:off x="3600450" y="4178808"/>
            <a:ext cx="420624" cy="420624"/>
          </a:xfrm>
          <a:prstGeom prst="rect">
            <a:avLst/>
          </a:prstGeom>
          <a:noFill/>
          <a:ln/>
        </p:spPr>
        <p:txBody>
          <a:bodyPr wrap="square" lIns="0" tIns="0" rIns="0" bIns="0" rtlCol="0" anchor="ctr"/>
          <a:lstStyle/>
          <a:p>
            <a:pPr algn="ctr" indent="0" marL="0">
              <a:buNone/>
            </a:pPr>
            <a:r>
              <a:rPr lang="en-US" sz="1400" b="1" dirty="0">
                <a:solidFill>
                  <a:srgbClr val="1B3A1C"/>
                </a:solidFill>
                <a:latin typeface="Calibri" pitchFamily="34" charset="0"/>
                <a:ea typeface="Calibri" pitchFamily="34" charset="-122"/>
                <a:cs typeface="Calibri" pitchFamily="34" charset="-120"/>
              </a:rPr>
              <a:t>2</a:t>
            </a:r>
            <a:endParaRPr lang="en-US" sz="1400" dirty="0"/>
          </a:p>
        </p:txBody>
      </p:sp>
      <p:sp>
        <p:nvSpPr>
          <p:cNvPr id="25" name="Text 23"/>
          <p:cNvSpPr txBox="1"/>
          <p:nvPr/>
        </p:nvSpPr>
        <p:spPr>
          <a:xfrm>
            <a:off x="4121658" y="4224528"/>
            <a:ext cx="16916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Analyse</a:t>
            </a:r>
            <a:endParaRPr lang="en-US" sz="1400" dirty="0"/>
          </a:p>
        </p:txBody>
      </p:sp>
      <p:sp>
        <p:nvSpPr>
          <p:cNvPr id="26" name="Text 24"/>
          <p:cNvSpPr txBox="1"/>
          <p:nvPr/>
        </p:nvSpPr>
        <p:spPr>
          <a:xfrm>
            <a:off x="3600450" y="4709160"/>
            <a:ext cx="2194560" cy="658368"/>
          </a:xfrm>
          <a:prstGeom prst="rect">
            <a:avLst/>
          </a:prstGeom>
          <a:noFill/>
          <a:ln/>
        </p:spPr>
        <p:txBody>
          <a:bodyPr wrap="square" lIns="0" tIns="0" rIns="0" bIns="0" rtlCol="0" anchor="ctr"/>
          <a:lstStyle/>
          <a:p>
            <a:pPr indent="0" marL="0">
              <a:buNone/>
            </a:pPr>
            <a:r>
              <a:rPr lang="en-US" sz="1150" dirty="0">
                <a:solidFill>
                  <a:srgbClr val="A8BFA0"/>
                </a:solidFill>
                <a:latin typeface="Calibri" pitchFamily="34" charset="0"/>
                <a:ea typeface="Calibri" pitchFamily="34" charset="-122"/>
                <a:cs typeface="Calibri" pitchFamily="34" charset="-120"/>
              </a:rPr>
              <a:t>OpenCV lit couleur, saturation, contraste et texture</a:t>
            </a:r>
            <a:endParaRPr lang="en-US" sz="1150" dirty="0"/>
          </a:p>
        </p:txBody>
      </p:sp>
      <p:sp>
        <p:nvSpPr>
          <p:cNvPr id="27" name="Shape 25"/>
          <p:cNvSpPr/>
          <p:nvPr/>
        </p:nvSpPr>
        <p:spPr>
          <a:xfrm>
            <a:off x="6195060" y="3977640"/>
            <a:ext cx="2594610" cy="1554480"/>
          </a:xfrm>
          <a:prstGeom prst="roundRect">
            <a:avLst>
              <a:gd name="adj" fmla="val 3529"/>
            </a:avLst>
          </a:prstGeom>
          <a:solidFill>
            <a:srgbClr val="26492A"/>
          </a:solidFill>
          <a:ln w="12700">
            <a:solidFill>
              <a:srgbClr val="26492A"/>
            </a:solidFill>
            <a:prstDash val="solid"/>
          </a:ln>
        </p:spPr>
      </p:sp>
      <p:sp>
        <p:nvSpPr>
          <p:cNvPr id="28" name="Shape 26"/>
          <p:cNvSpPr/>
          <p:nvPr/>
        </p:nvSpPr>
        <p:spPr>
          <a:xfrm>
            <a:off x="6423660" y="4178808"/>
            <a:ext cx="420624" cy="420624"/>
          </a:xfrm>
          <a:prstGeom prst="ellipse">
            <a:avLst/>
          </a:prstGeom>
          <a:solidFill>
            <a:srgbClr val="97BC62"/>
          </a:solidFill>
          <a:ln w="12700">
            <a:solidFill>
              <a:srgbClr val="97BC62"/>
            </a:solidFill>
            <a:prstDash val="solid"/>
          </a:ln>
        </p:spPr>
      </p:sp>
      <p:sp>
        <p:nvSpPr>
          <p:cNvPr id="29" name="Text 27"/>
          <p:cNvSpPr txBox="1"/>
          <p:nvPr/>
        </p:nvSpPr>
        <p:spPr>
          <a:xfrm>
            <a:off x="6423660" y="4178808"/>
            <a:ext cx="420624" cy="420624"/>
          </a:xfrm>
          <a:prstGeom prst="rect">
            <a:avLst/>
          </a:prstGeom>
          <a:noFill/>
          <a:ln/>
        </p:spPr>
        <p:txBody>
          <a:bodyPr wrap="square" lIns="0" tIns="0" rIns="0" bIns="0" rtlCol="0" anchor="ctr"/>
          <a:lstStyle/>
          <a:p>
            <a:pPr algn="ctr" indent="0" marL="0">
              <a:buNone/>
            </a:pPr>
            <a:r>
              <a:rPr lang="en-US" sz="1400" b="1" dirty="0">
                <a:solidFill>
                  <a:srgbClr val="1B3A1C"/>
                </a:solidFill>
                <a:latin typeface="Calibri" pitchFamily="34" charset="0"/>
                <a:ea typeface="Calibri" pitchFamily="34" charset="-122"/>
                <a:cs typeface="Calibri" pitchFamily="34" charset="-120"/>
              </a:rPr>
              <a:t>3</a:t>
            </a:r>
            <a:endParaRPr lang="en-US" sz="1400" dirty="0"/>
          </a:p>
        </p:txBody>
      </p:sp>
      <p:sp>
        <p:nvSpPr>
          <p:cNvPr id="30" name="Text 28"/>
          <p:cNvSpPr txBox="1"/>
          <p:nvPr/>
        </p:nvSpPr>
        <p:spPr>
          <a:xfrm>
            <a:off x="6944868" y="4224528"/>
            <a:ext cx="16916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Comparaison</a:t>
            </a:r>
            <a:endParaRPr lang="en-US" sz="1400" dirty="0"/>
          </a:p>
        </p:txBody>
      </p:sp>
      <p:sp>
        <p:nvSpPr>
          <p:cNvPr id="31" name="Text 29"/>
          <p:cNvSpPr txBox="1"/>
          <p:nvPr/>
        </p:nvSpPr>
        <p:spPr>
          <a:xfrm>
            <a:off x="6423660" y="4709160"/>
            <a:ext cx="2194560" cy="658368"/>
          </a:xfrm>
          <a:prstGeom prst="rect">
            <a:avLst/>
          </a:prstGeom>
          <a:noFill/>
          <a:ln/>
        </p:spPr>
        <p:txBody>
          <a:bodyPr wrap="square" lIns="0" tIns="0" rIns="0" bIns="0" rtlCol="0" anchor="ctr"/>
          <a:lstStyle/>
          <a:p>
            <a:pPr indent="0" marL="0">
              <a:buNone/>
            </a:pPr>
            <a:r>
              <a:rPr lang="en-US" sz="1150" dirty="0">
                <a:solidFill>
                  <a:srgbClr val="A8BFA0"/>
                </a:solidFill>
                <a:latin typeface="Calibri" pitchFamily="34" charset="0"/>
                <a:ea typeface="Calibri" pitchFamily="34" charset="-122"/>
                <a:cs typeface="Calibri" pitchFamily="34" charset="-120"/>
              </a:rPr>
              <a:t>Confrontation aux signatures connues</a:t>
            </a:r>
            <a:endParaRPr lang="en-US" sz="1150" dirty="0"/>
          </a:p>
        </p:txBody>
      </p:sp>
      <p:sp>
        <p:nvSpPr>
          <p:cNvPr id="32" name="Shape 30"/>
          <p:cNvSpPr/>
          <p:nvPr/>
        </p:nvSpPr>
        <p:spPr>
          <a:xfrm>
            <a:off x="9018270" y="3977640"/>
            <a:ext cx="2594610" cy="1554480"/>
          </a:xfrm>
          <a:prstGeom prst="roundRect">
            <a:avLst>
              <a:gd name="adj" fmla="val 3529"/>
            </a:avLst>
          </a:prstGeom>
          <a:solidFill>
            <a:srgbClr val="26492A"/>
          </a:solidFill>
          <a:ln w="12700">
            <a:solidFill>
              <a:srgbClr val="26492A"/>
            </a:solidFill>
            <a:prstDash val="solid"/>
          </a:ln>
        </p:spPr>
      </p:sp>
      <p:sp>
        <p:nvSpPr>
          <p:cNvPr id="33" name="Shape 31"/>
          <p:cNvSpPr/>
          <p:nvPr/>
        </p:nvSpPr>
        <p:spPr>
          <a:xfrm>
            <a:off x="9246870" y="4178808"/>
            <a:ext cx="420624" cy="420624"/>
          </a:xfrm>
          <a:prstGeom prst="ellipse">
            <a:avLst/>
          </a:prstGeom>
          <a:solidFill>
            <a:srgbClr val="97BC62"/>
          </a:solidFill>
          <a:ln w="12700">
            <a:solidFill>
              <a:srgbClr val="97BC62"/>
            </a:solidFill>
            <a:prstDash val="solid"/>
          </a:ln>
        </p:spPr>
      </p:sp>
      <p:sp>
        <p:nvSpPr>
          <p:cNvPr id="34" name="Text 32"/>
          <p:cNvSpPr txBox="1"/>
          <p:nvPr/>
        </p:nvSpPr>
        <p:spPr>
          <a:xfrm>
            <a:off x="9246870" y="4178808"/>
            <a:ext cx="420624" cy="420624"/>
          </a:xfrm>
          <a:prstGeom prst="rect">
            <a:avLst/>
          </a:prstGeom>
          <a:noFill/>
          <a:ln/>
        </p:spPr>
        <p:txBody>
          <a:bodyPr wrap="square" lIns="0" tIns="0" rIns="0" bIns="0" rtlCol="0" anchor="ctr"/>
          <a:lstStyle/>
          <a:p>
            <a:pPr algn="ctr" indent="0" marL="0">
              <a:buNone/>
            </a:pPr>
            <a:r>
              <a:rPr lang="en-US" sz="1400" b="1" dirty="0">
                <a:solidFill>
                  <a:srgbClr val="1B3A1C"/>
                </a:solidFill>
                <a:latin typeface="Calibri" pitchFamily="34" charset="0"/>
                <a:ea typeface="Calibri" pitchFamily="34" charset="-122"/>
                <a:cs typeface="Calibri" pitchFamily="34" charset="-120"/>
              </a:rPr>
              <a:t>4</a:t>
            </a:r>
            <a:endParaRPr lang="en-US" sz="1400" dirty="0"/>
          </a:p>
        </p:txBody>
      </p:sp>
      <p:sp>
        <p:nvSpPr>
          <p:cNvPr id="35" name="Text 33"/>
          <p:cNvSpPr txBox="1"/>
          <p:nvPr/>
        </p:nvSpPr>
        <p:spPr>
          <a:xfrm>
            <a:off x="9768078" y="4224528"/>
            <a:ext cx="169164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Résultat</a:t>
            </a:r>
            <a:endParaRPr lang="en-US" sz="1400" dirty="0"/>
          </a:p>
        </p:txBody>
      </p:sp>
      <p:sp>
        <p:nvSpPr>
          <p:cNvPr id="36" name="Text 34"/>
          <p:cNvSpPr txBox="1"/>
          <p:nvPr/>
        </p:nvSpPr>
        <p:spPr>
          <a:xfrm>
            <a:off x="9246870" y="4709160"/>
            <a:ext cx="2194560" cy="658368"/>
          </a:xfrm>
          <a:prstGeom prst="rect">
            <a:avLst/>
          </a:prstGeom>
          <a:noFill/>
          <a:ln/>
        </p:spPr>
        <p:txBody>
          <a:bodyPr wrap="square" lIns="0" tIns="0" rIns="0" bIns="0" rtlCol="0" anchor="ctr"/>
          <a:lstStyle/>
          <a:p>
            <a:pPr indent="0" marL="0">
              <a:buNone/>
            </a:pPr>
            <a:r>
              <a:rPr lang="en-US" sz="1150" dirty="0">
                <a:solidFill>
                  <a:srgbClr val="A8BFA0"/>
                </a:solidFill>
                <a:latin typeface="Calibri" pitchFamily="34" charset="0"/>
                <a:ea typeface="Calibri" pitchFamily="34" charset="-122"/>
                <a:cs typeface="Calibri" pitchFamily="34" charset="-120"/>
              </a:rPr>
              <a:t>Maladie probable et indice de confiance</a:t>
            </a:r>
            <a:endParaRPr lang="en-US" sz="1150" dirty="0"/>
          </a:p>
        </p:txBody>
      </p:sp>
      <p:sp>
        <p:nvSpPr>
          <p:cNvPr id="37" name="Text 35"/>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50" dirty="0">
                <a:solidFill>
                  <a:srgbClr val="97BC62"/>
                </a:solidFill>
                <a:latin typeface="Calibri" pitchFamily="34" charset="0"/>
                <a:ea typeface="Calibri" pitchFamily="34" charset="-122"/>
                <a:cs typeface="Calibri" pitchFamily="34" charset="-120"/>
              </a:rPr>
              <a:t>Maladies couvertes  ·  Rouille du blé  ·  Mildiou du raisin  ·  Oïdium  ·  Septoriose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SÉCURITÉ</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Six couches de protection</a:t>
            </a:r>
            <a:endParaRPr lang="en-US" sz="3400" dirty="0"/>
          </a:p>
        </p:txBody>
      </p:sp>
      <p:sp>
        <p:nvSpPr>
          <p:cNvPr id="4" name="Shape 2"/>
          <p:cNvSpPr/>
          <p:nvPr/>
        </p:nvSpPr>
        <p:spPr>
          <a:xfrm>
            <a:off x="548640" y="1600200"/>
            <a:ext cx="3502152" cy="2148840"/>
          </a:xfrm>
          <a:prstGeom prst="roundRect">
            <a:avLst>
              <a:gd name="adj" fmla="val 2553"/>
            </a:avLst>
          </a:prstGeom>
          <a:solidFill>
            <a:srgbClr val="EEF3EA"/>
          </a:solidFill>
          <a:ln w="12700">
            <a:solidFill>
              <a:srgbClr val="EEF3EA"/>
            </a:solidFill>
            <a:prstDash val="solid"/>
          </a:ln>
        </p:spPr>
      </p:sp>
      <p:sp>
        <p:nvSpPr>
          <p:cNvPr id="5" name="Shape 3"/>
          <p:cNvSpPr/>
          <p:nvPr/>
        </p:nvSpPr>
        <p:spPr>
          <a:xfrm>
            <a:off x="822960" y="1892808"/>
            <a:ext cx="274320" cy="274320"/>
          </a:xfrm>
          <a:prstGeom prst="ellipse">
            <a:avLst/>
          </a:prstGeom>
          <a:solidFill>
            <a:srgbClr val="2C5F2D"/>
          </a:solidFill>
          <a:ln w="12700">
            <a:solidFill>
              <a:srgbClr val="2C5F2D"/>
            </a:solidFill>
            <a:prstDash val="solid"/>
          </a:ln>
        </p:spPr>
      </p:sp>
      <p:sp>
        <p:nvSpPr>
          <p:cNvPr id="6" name="Text 4"/>
          <p:cNvSpPr txBox="1"/>
          <p:nvPr/>
        </p:nvSpPr>
        <p:spPr>
          <a:xfrm>
            <a:off x="822960" y="231343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Jetons JWT</a:t>
            </a:r>
            <a:endParaRPr lang="en-US" sz="1600" dirty="0"/>
          </a:p>
        </p:txBody>
      </p:sp>
      <p:sp>
        <p:nvSpPr>
          <p:cNvPr id="7" name="Text 5"/>
          <p:cNvSpPr txBox="1"/>
          <p:nvPr/>
        </p:nvSpPr>
        <p:spPr>
          <a:xfrm>
            <a:off x="822960" y="267919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Chaque utilisateur reçoit un jeton signé valable trente jours, sans session côté serveur.</a:t>
            </a:r>
            <a:endParaRPr lang="en-US" sz="1250" dirty="0"/>
          </a:p>
        </p:txBody>
      </p:sp>
      <p:sp>
        <p:nvSpPr>
          <p:cNvPr id="8" name="Shape 6"/>
          <p:cNvSpPr/>
          <p:nvPr/>
        </p:nvSpPr>
        <p:spPr>
          <a:xfrm>
            <a:off x="4325112" y="1600200"/>
            <a:ext cx="3502152" cy="2148840"/>
          </a:xfrm>
          <a:prstGeom prst="roundRect">
            <a:avLst>
              <a:gd name="adj" fmla="val 2553"/>
            </a:avLst>
          </a:prstGeom>
          <a:solidFill>
            <a:srgbClr val="EEF3EA"/>
          </a:solidFill>
          <a:ln w="12700">
            <a:solidFill>
              <a:srgbClr val="EEF3EA"/>
            </a:solidFill>
            <a:prstDash val="solid"/>
          </a:ln>
        </p:spPr>
      </p:sp>
      <p:sp>
        <p:nvSpPr>
          <p:cNvPr id="9" name="Shape 7"/>
          <p:cNvSpPr/>
          <p:nvPr/>
        </p:nvSpPr>
        <p:spPr>
          <a:xfrm>
            <a:off x="4599432" y="1892808"/>
            <a:ext cx="274320" cy="274320"/>
          </a:xfrm>
          <a:prstGeom prst="ellipse">
            <a:avLst/>
          </a:prstGeom>
          <a:solidFill>
            <a:srgbClr val="2C5F2D"/>
          </a:solidFill>
          <a:ln w="12700">
            <a:solidFill>
              <a:srgbClr val="2C5F2D"/>
            </a:solidFill>
            <a:prstDash val="solid"/>
          </a:ln>
        </p:spPr>
      </p:sp>
      <p:sp>
        <p:nvSpPr>
          <p:cNvPr id="10" name="Text 8"/>
          <p:cNvSpPr txBox="1"/>
          <p:nvPr/>
        </p:nvSpPr>
        <p:spPr>
          <a:xfrm>
            <a:off x="4599432" y="231343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Hachage Bcrypt</a:t>
            </a:r>
            <a:endParaRPr lang="en-US" sz="1600" dirty="0"/>
          </a:p>
        </p:txBody>
      </p:sp>
      <p:sp>
        <p:nvSpPr>
          <p:cNvPr id="11" name="Text 9"/>
          <p:cNvSpPr txBox="1"/>
          <p:nvPr/>
        </p:nvSpPr>
        <p:spPr>
          <a:xfrm>
            <a:off x="4599432" y="267919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Les mots de passe sont hachés avec sel et restent irrécupérables même en cas de fuite.</a:t>
            </a:r>
            <a:endParaRPr lang="en-US" sz="1250" dirty="0"/>
          </a:p>
        </p:txBody>
      </p:sp>
      <p:sp>
        <p:nvSpPr>
          <p:cNvPr id="12" name="Shape 10"/>
          <p:cNvSpPr/>
          <p:nvPr/>
        </p:nvSpPr>
        <p:spPr>
          <a:xfrm>
            <a:off x="8101584" y="1600200"/>
            <a:ext cx="3502152" cy="2148840"/>
          </a:xfrm>
          <a:prstGeom prst="roundRect">
            <a:avLst>
              <a:gd name="adj" fmla="val 2553"/>
            </a:avLst>
          </a:prstGeom>
          <a:solidFill>
            <a:srgbClr val="EEF3EA"/>
          </a:solidFill>
          <a:ln w="12700">
            <a:solidFill>
              <a:srgbClr val="EEF3EA"/>
            </a:solidFill>
            <a:prstDash val="solid"/>
          </a:ln>
        </p:spPr>
      </p:sp>
      <p:sp>
        <p:nvSpPr>
          <p:cNvPr id="13" name="Shape 11"/>
          <p:cNvSpPr/>
          <p:nvPr/>
        </p:nvSpPr>
        <p:spPr>
          <a:xfrm>
            <a:off x="8375904" y="1892808"/>
            <a:ext cx="274320" cy="274320"/>
          </a:xfrm>
          <a:prstGeom prst="ellipse">
            <a:avLst/>
          </a:prstGeom>
          <a:solidFill>
            <a:srgbClr val="2C5F2D"/>
          </a:solidFill>
          <a:ln w="12700">
            <a:solidFill>
              <a:srgbClr val="2C5F2D"/>
            </a:solidFill>
            <a:prstDash val="solid"/>
          </a:ln>
        </p:spPr>
      </p:sp>
      <p:sp>
        <p:nvSpPr>
          <p:cNvPr id="14" name="Text 12"/>
          <p:cNvSpPr txBox="1"/>
          <p:nvPr/>
        </p:nvSpPr>
        <p:spPr>
          <a:xfrm>
            <a:off x="8375904" y="231343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Validation Pydantic</a:t>
            </a:r>
            <a:endParaRPr lang="en-US" sz="1600" dirty="0"/>
          </a:p>
        </p:txBody>
      </p:sp>
      <p:sp>
        <p:nvSpPr>
          <p:cNvPr id="15" name="Text 13"/>
          <p:cNvSpPr txBox="1"/>
          <p:nvPr/>
        </p:nvSpPr>
        <p:spPr>
          <a:xfrm>
            <a:off x="8375904" y="267919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Toute donnée entrante est typée et contrôlée avant d'atteindre la base.</a:t>
            </a:r>
            <a:endParaRPr lang="en-US" sz="1250" dirty="0"/>
          </a:p>
        </p:txBody>
      </p:sp>
      <p:sp>
        <p:nvSpPr>
          <p:cNvPr id="16" name="Shape 14"/>
          <p:cNvSpPr/>
          <p:nvPr/>
        </p:nvSpPr>
        <p:spPr>
          <a:xfrm>
            <a:off x="548640" y="3931920"/>
            <a:ext cx="3502152" cy="2148840"/>
          </a:xfrm>
          <a:prstGeom prst="roundRect">
            <a:avLst>
              <a:gd name="adj" fmla="val 2553"/>
            </a:avLst>
          </a:prstGeom>
          <a:solidFill>
            <a:srgbClr val="EEF3EA"/>
          </a:solidFill>
          <a:ln w="12700">
            <a:solidFill>
              <a:srgbClr val="EEF3EA"/>
            </a:solidFill>
            <a:prstDash val="solid"/>
          </a:ln>
        </p:spPr>
      </p:sp>
      <p:sp>
        <p:nvSpPr>
          <p:cNvPr id="17" name="Shape 15"/>
          <p:cNvSpPr/>
          <p:nvPr/>
        </p:nvSpPr>
        <p:spPr>
          <a:xfrm>
            <a:off x="822960" y="4224528"/>
            <a:ext cx="274320" cy="274320"/>
          </a:xfrm>
          <a:prstGeom prst="ellipse">
            <a:avLst/>
          </a:prstGeom>
          <a:solidFill>
            <a:srgbClr val="2C5F2D"/>
          </a:solidFill>
          <a:ln w="12700">
            <a:solidFill>
              <a:srgbClr val="2C5F2D"/>
            </a:solidFill>
            <a:prstDash val="solid"/>
          </a:ln>
        </p:spPr>
      </p:sp>
      <p:sp>
        <p:nvSpPr>
          <p:cNvPr id="18" name="Text 16"/>
          <p:cNvSpPr txBox="1"/>
          <p:nvPr/>
        </p:nvSpPr>
        <p:spPr>
          <a:xfrm>
            <a:off x="822960" y="464515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CORS configuré</a:t>
            </a:r>
            <a:endParaRPr lang="en-US" sz="1600" dirty="0"/>
          </a:p>
        </p:txBody>
      </p:sp>
      <p:sp>
        <p:nvSpPr>
          <p:cNvPr id="19" name="Text 17"/>
          <p:cNvSpPr txBox="1"/>
          <p:nvPr/>
        </p:nvSpPr>
        <p:spPr>
          <a:xfrm>
            <a:off x="822960" y="501091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Les requêtes provenant d'autres origines sont explicitement contrôlées.</a:t>
            </a:r>
            <a:endParaRPr lang="en-US" sz="1250" dirty="0"/>
          </a:p>
        </p:txBody>
      </p:sp>
      <p:sp>
        <p:nvSpPr>
          <p:cNvPr id="20" name="Shape 18"/>
          <p:cNvSpPr/>
          <p:nvPr/>
        </p:nvSpPr>
        <p:spPr>
          <a:xfrm>
            <a:off x="4325112" y="3931920"/>
            <a:ext cx="3502152" cy="2148840"/>
          </a:xfrm>
          <a:prstGeom prst="roundRect">
            <a:avLst>
              <a:gd name="adj" fmla="val 2553"/>
            </a:avLst>
          </a:prstGeom>
          <a:solidFill>
            <a:srgbClr val="EEF3EA"/>
          </a:solidFill>
          <a:ln w="12700">
            <a:solidFill>
              <a:srgbClr val="EEF3EA"/>
            </a:solidFill>
            <a:prstDash val="solid"/>
          </a:ln>
        </p:spPr>
      </p:sp>
      <p:sp>
        <p:nvSpPr>
          <p:cNvPr id="21" name="Shape 19"/>
          <p:cNvSpPr/>
          <p:nvPr/>
        </p:nvSpPr>
        <p:spPr>
          <a:xfrm>
            <a:off x="4599432" y="4224528"/>
            <a:ext cx="274320" cy="274320"/>
          </a:xfrm>
          <a:prstGeom prst="ellipse">
            <a:avLst/>
          </a:prstGeom>
          <a:solidFill>
            <a:srgbClr val="2C5F2D"/>
          </a:solidFill>
          <a:ln w="12700">
            <a:solidFill>
              <a:srgbClr val="2C5F2D"/>
            </a:solidFill>
            <a:prstDash val="solid"/>
          </a:ln>
        </p:spPr>
      </p:sp>
      <p:sp>
        <p:nvSpPr>
          <p:cNvPr id="22" name="Text 20"/>
          <p:cNvSpPr txBox="1"/>
          <p:nvPr/>
        </p:nvSpPr>
        <p:spPr>
          <a:xfrm>
            <a:off x="4599432" y="464515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HTTPS prêt</a:t>
            </a:r>
            <a:endParaRPr lang="en-US" sz="1600" dirty="0"/>
          </a:p>
        </p:txBody>
      </p:sp>
      <p:sp>
        <p:nvSpPr>
          <p:cNvPr id="23" name="Text 21"/>
          <p:cNvSpPr txBox="1"/>
          <p:nvPr/>
        </p:nvSpPr>
        <p:spPr>
          <a:xfrm>
            <a:off x="4599432" y="501091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Le passage en TLS via Let's Encrypt ne demande aucune modification du code.</a:t>
            </a:r>
            <a:endParaRPr lang="en-US" sz="1250" dirty="0"/>
          </a:p>
        </p:txBody>
      </p:sp>
      <p:sp>
        <p:nvSpPr>
          <p:cNvPr id="24" name="Shape 22"/>
          <p:cNvSpPr/>
          <p:nvPr/>
        </p:nvSpPr>
        <p:spPr>
          <a:xfrm>
            <a:off x="8101584" y="3931920"/>
            <a:ext cx="3502152" cy="2148840"/>
          </a:xfrm>
          <a:prstGeom prst="roundRect">
            <a:avLst>
              <a:gd name="adj" fmla="val 2553"/>
            </a:avLst>
          </a:prstGeom>
          <a:solidFill>
            <a:srgbClr val="EEF3EA"/>
          </a:solidFill>
          <a:ln w="12700">
            <a:solidFill>
              <a:srgbClr val="EEF3EA"/>
            </a:solidFill>
            <a:prstDash val="solid"/>
          </a:ln>
        </p:spPr>
      </p:sp>
      <p:sp>
        <p:nvSpPr>
          <p:cNvPr id="25" name="Shape 23"/>
          <p:cNvSpPr/>
          <p:nvPr/>
        </p:nvSpPr>
        <p:spPr>
          <a:xfrm>
            <a:off x="8375904" y="4224528"/>
            <a:ext cx="274320" cy="274320"/>
          </a:xfrm>
          <a:prstGeom prst="ellipse">
            <a:avLst/>
          </a:prstGeom>
          <a:solidFill>
            <a:srgbClr val="2C5F2D"/>
          </a:solidFill>
          <a:ln w="12700">
            <a:solidFill>
              <a:srgbClr val="2C5F2D"/>
            </a:solidFill>
            <a:prstDash val="solid"/>
          </a:ln>
        </p:spPr>
      </p:sp>
      <p:sp>
        <p:nvSpPr>
          <p:cNvPr id="26" name="Text 24"/>
          <p:cNvSpPr txBox="1"/>
          <p:nvPr/>
        </p:nvSpPr>
        <p:spPr>
          <a:xfrm>
            <a:off x="8375904" y="4645152"/>
            <a:ext cx="2971800" cy="320040"/>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Isolation des données</a:t>
            </a:r>
            <a:endParaRPr lang="en-US" sz="1600" dirty="0"/>
          </a:p>
        </p:txBody>
      </p:sp>
      <p:sp>
        <p:nvSpPr>
          <p:cNvPr id="27" name="Text 25"/>
          <p:cNvSpPr txBox="1"/>
          <p:nvPr/>
        </p:nvSpPr>
        <p:spPr>
          <a:xfrm>
            <a:off x="8375904" y="5010912"/>
            <a:ext cx="2971800" cy="91440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Chaque compte n'accède qu'à ses propres parcelles et diagnostics.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DÉPLOIEMENT</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En production sur AWS, pas sur un ordinateur portable</a:t>
            </a:r>
            <a:endParaRPr lang="en-US" sz="3400" dirty="0"/>
          </a:p>
        </p:txBody>
      </p:sp>
      <p:sp>
        <p:nvSpPr>
          <p:cNvPr id="4" name="Shape 2"/>
          <p:cNvSpPr/>
          <p:nvPr/>
        </p:nvSpPr>
        <p:spPr>
          <a:xfrm>
            <a:off x="548640" y="1600200"/>
            <a:ext cx="5349240" cy="4206240"/>
          </a:xfrm>
          <a:prstGeom prst="roundRect">
            <a:avLst>
              <a:gd name="adj" fmla="val 1304"/>
            </a:avLst>
          </a:prstGeom>
          <a:solidFill>
            <a:srgbClr val="EEF3EA"/>
          </a:solidFill>
          <a:ln w="12700">
            <a:solidFill>
              <a:srgbClr val="EEF3EA"/>
            </a:solidFill>
            <a:prstDash val="solid"/>
          </a:ln>
        </p:spPr>
      </p:sp>
      <p:sp>
        <p:nvSpPr>
          <p:cNvPr id="5" name="Text 3"/>
          <p:cNvSpPr txBox="1"/>
          <p:nvPr/>
        </p:nvSpPr>
        <p:spPr>
          <a:xfrm>
            <a:off x="822960" y="1828800"/>
            <a:ext cx="4800600" cy="274320"/>
          </a:xfrm>
          <a:prstGeom prst="rect">
            <a:avLst/>
          </a:prstGeom>
          <a:noFill/>
          <a:ln/>
        </p:spPr>
        <p:txBody>
          <a:bodyPr wrap="square" lIns="0" tIns="0" rIns="0" bIns="0" rtlCol="0" anchor="ctr"/>
          <a:lstStyle/>
          <a:p>
            <a:pPr indent="0" marL="0">
              <a:buNone/>
            </a:pPr>
            <a:r>
              <a:rPr lang="en-US" sz="1200" b="1" spc="150" kern="0" dirty="0">
                <a:solidFill>
                  <a:srgbClr val="4A7A3A"/>
                </a:solidFill>
                <a:latin typeface="Calibri" pitchFamily="34" charset="0"/>
                <a:ea typeface="Calibri" pitchFamily="34" charset="-122"/>
                <a:cs typeface="Calibri" pitchFamily="34" charset="-120"/>
              </a:rPr>
              <a:t>Instance</a:t>
            </a:r>
            <a:endParaRPr lang="en-US" sz="1200" dirty="0"/>
          </a:p>
        </p:txBody>
      </p:sp>
      <p:sp>
        <p:nvSpPr>
          <p:cNvPr id="6" name="Text 4"/>
          <p:cNvSpPr txBox="1"/>
          <p:nvPr/>
        </p:nvSpPr>
        <p:spPr>
          <a:xfrm>
            <a:off x="822960" y="2240280"/>
            <a:ext cx="2103120" cy="274320"/>
          </a:xfrm>
          <a:prstGeom prst="rect">
            <a:avLst/>
          </a:prstGeom>
          <a:noFill/>
          <a:ln/>
        </p:spPr>
        <p:txBody>
          <a:bodyPr wrap="square" lIns="0" tIns="0" rIns="0" bIns="0" rtlCol="0" anchor="ctr"/>
          <a:lstStyle/>
          <a:p>
            <a:pPr indent="0" marL="0">
              <a:buNone/>
            </a:pPr>
            <a:r>
              <a:rPr lang="en-US" sz="1300" dirty="0">
                <a:solidFill>
                  <a:srgbClr val="5F6B5F"/>
                </a:solidFill>
                <a:latin typeface="Calibri" pitchFamily="34" charset="0"/>
                <a:ea typeface="Calibri" pitchFamily="34" charset="-122"/>
                <a:cs typeface="Calibri" pitchFamily="34" charset="-120"/>
              </a:rPr>
              <a:t>Type</a:t>
            </a:r>
            <a:endParaRPr lang="en-US" sz="1300" dirty="0"/>
          </a:p>
        </p:txBody>
      </p:sp>
      <p:sp>
        <p:nvSpPr>
          <p:cNvPr id="7" name="Text 5"/>
          <p:cNvSpPr txBox="1"/>
          <p:nvPr/>
        </p:nvSpPr>
        <p:spPr>
          <a:xfrm>
            <a:off x="3017520" y="2240280"/>
            <a:ext cx="2606040" cy="274320"/>
          </a:xfrm>
          <a:prstGeom prst="rect">
            <a:avLst/>
          </a:prstGeom>
          <a:noFill/>
          <a:ln/>
        </p:spPr>
        <p:txBody>
          <a:bodyPr wrap="square" lIns="0" tIns="0" rIns="0" bIns="0"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EC2 t2.micro</a:t>
            </a:r>
            <a:endParaRPr lang="en-US" sz="1400" dirty="0"/>
          </a:p>
        </p:txBody>
      </p:sp>
      <p:sp>
        <p:nvSpPr>
          <p:cNvPr id="8" name="Text 6"/>
          <p:cNvSpPr txBox="1"/>
          <p:nvPr/>
        </p:nvSpPr>
        <p:spPr>
          <a:xfrm>
            <a:off x="822960" y="2898648"/>
            <a:ext cx="2103120" cy="274320"/>
          </a:xfrm>
          <a:prstGeom prst="rect">
            <a:avLst/>
          </a:prstGeom>
          <a:noFill/>
          <a:ln/>
        </p:spPr>
        <p:txBody>
          <a:bodyPr wrap="square" lIns="0" tIns="0" rIns="0" bIns="0" rtlCol="0" anchor="ctr"/>
          <a:lstStyle/>
          <a:p>
            <a:pPr indent="0" marL="0">
              <a:buNone/>
            </a:pPr>
            <a:r>
              <a:rPr lang="en-US" sz="1300" dirty="0">
                <a:solidFill>
                  <a:srgbClr val="5F6B5F"/>
                </a:solidFill>
                <a:latin typeface="Calibri" pitchFamily="34" charset="0"/>
                <a:ea typeface="Calibri" pitchFamily="34" charset="-122"/>
                <a:cs typeface="Calibri" pitchFamily="34" charset="-120"/>
              </a:rPr>
              <a:t>Système</a:t>
            </a:r>
            <a:endParaRPr lang="en-US" sz="1300" dirty="0"/>
          </a:p>
        </p:txBody>
      </p:sp>
      <p:sp>
        <p:nvSpPr>
          <p:cNvPr id="9" name="Text 7"/>
          <p:cNvSpPr txBox="1"/>
          <p:nvPr/>
        </p:nvSpPr>
        <p:spPr>
          <a:xfrm>
            <a:off x="3017520" y="2898648"/>
            <a:ext cx="2606040" cy="274320"/>
          </a:xfrm>
          <a:prstGeom prst="rect">
            <a:avLst/>
          </a:prstGeom>
          <a:noFill/>
          <a:ln/>
        </p:spPr>
        <p:txBody>
          <a:bodyPr wrap="square" lIns="0" tIns="0" rIns="0" bIns="0"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Ubuntu Server LTS</a:t>
            </a:r>
            <a:endParaRPr lang="en-US" sz="1400" dirty="0"/>
          </a:p>
        </p:txBody>
      </p:sp>
      <p:sp>
        <p:nvSpPr>
          <p:cNvPr id="10" name="Text 8"/>
          <p:cNvSpPr txBox="1"/>
          <p:nvPr/>
        </p:nvSpPr>
        <p:spPr>
          <a:xfrm>
            <a:off x="822960" y="3557016"/>
            <a:ext cx="2103120" cy="274320"/>
          </a:xfrm>
          <a:prstGeom prst="rect">
            <a:avLst/>
          </a:prstGeom>
          <a:noFill/>
          <a:ln/>
        </p:spPr>
        <p:txBody>
          <a:bodyPr wrap="square" lIns="0" tIns="0" rIns="0" bIns="0" rtlCol="0" anchor="ctr"/>
          <a:lstStyle/>
          <a:p>
            <a:pPr indent="0" marL="0">
              <a:buNone/>
            </a:pPr>
            <a:r>
              <a:rPr lang="en-US" sz="1300" dirty="0">
                <a:solidFill>
                  <a:srgbClr val="5F6B5F"/>
                </a:solidFill>
                <a:latin typeface="Calibri" pitchFamily="34" charset="0"/>
                <a:ea typeface="Calibri" pitchFamily="34" charset="-122"/>
                <a:cs typeface="Calibri" pitchFamily="34" charset="-120"/>
              </a:rPr>
              <a:t>Adresse publique</a:t>
            </a:r>
            <a:endParaRPr lang="en-US" sz="1300" dirty="0"/>
          </a:p>
        </p:txBody>
      </p:sp>
      <p:sp>
        <p:nvSpPr>
          <p:cNvPr id="11" name="Text 9"/>
          <p:cNvSpPr txBox="1"/>
          <p:nvPr/>
        </p:nvSpPr>
        <p:spPr>
          <a:xfrm>
            <a:off x="3017520" y="3557016"/>
            <a:ext cx="2606040" cy="274320"/>
          </a:xfrm>
          <a:prstGeom prst="rect">
            <a:avLst/>
          </a:prstGeom>
          <a:noFill/>
          <a:ln/>
        </p:spPr>
        <p:txBody>
          <a:bodyPr wrap="square" lIns="0" tIns="0" rIns="0" bIns="0"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13.51.48.254</a:t>
            </a:r>
            <a:endParaRPr lang="en-US" sz="1400" dirty="0"/>
          </a:p>
        </p:txBody>
      </p:sp>
      <p:sp>
        <p:nvSpPr>
          <p:cNvPr id="12" name="Text 10"/>
          <p:cNvSpPr txBox="1"/>
          <p:nvPr/>
        </p:nvSpPr>
        <p:spPr>
          <a:xfrm>
            <a:off x="822960" y="4215384"/>
            <a:ext cx="2103120" cy="274320"/>
          </a:xfrm>
          <a:prstGeom prst="rect">
            <a:avLst/>
          </a:prstGeom>
          <a:noFill/>
          <a:ln/>
        </p:spPr>
        <p:txBody>
          <a:bodyPr wrap="square" lIns="0" tIns="0" rIns="0" bIns="0" rtlCol="0" anchor="ctr"/>
          <a:lstStyle/>
          <a:p>
            <a:pPr indent="0" marL="0">
              <a:buNone/>
            </a:pPr>
            <a:r>
              <a:rPr lang="en-US" sz="1300" dirty="0">
                <a:solidFill>
                  <a:srgbClr val="5F6B5F"/>
                </a:solidFill>
                <a:latin typeface="Calibri" pitchFamily="34" charset="0"/>
                <a:ea typeface="Calibri" pitchFamily="34" charset="-122"/>
                <a:cs typeface="Calibri" pitchFamily="34" charset="-120"/>
              </a:rPr>
              <a:t>Disponibilité</a:t>
            </a:r>
            <a:endParaRPr lang="en-US" sz="1300" dirty="0"/>
          </a:p>
        </p:txBody>
      </p:sp>
      <p:sp>
        <p:nvSpPr>
          <p:cNvPr id="13" name="Text 11"/>
          <p:cNvSpPr txBox="1"/>
          <p:nvPr/>
        </p:nvSpPr>
        <p:spPr>
          <a:xfrm>
            <a:off x="3017520" y="4215384"/>
            <a:ext cx="2606040" cy="274320"/>
          </a:xfrm>
          <a:prstGeom prst="rect">
            <a:avLst/>
          </a:prstGeom>
          <a:noFill/>
          <a:ln/>
        </p:spPr>
        <p:txBody>
          <a:bodyPr wrap="square" lIns="0" tIns="0" rIns="0" bIns="0"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24 h / 24, 7 j / 7</a:t>
            </a:r>
            <a:endParaRPr lang="en-US" sz="1400" dirty="0"/>
          </a:p>
        </p:txBody>
      </p:sp>
      <p:sp>
        <p:nvSpPr>
          <p:cNvPr id="14" name="Text 12"/>
          <p:cNvSpPr txBox="1"/>
          <p:nvPr/>
        </p:nvSpPr>
        <p:spPr>
          <a:xfrm>
            <a:off x="822960" y="4873752"/>
            <a:ext cx="2103120" cy="274320"/>
          </a:xfrm>
          <a:prstGeom prst="rect">
            <a:avLst/>
          </a:prstGeom>
          <a:noFill/>
          <a:ln/>
        </p:spPr>
        <p:txBody>
          <a:bodyPr wrap="square" lIns="0" tIns="0" rIns="0" bIns="0" rtlCol="0" anchor="ctr"/>
          <a:lstStyle/>
          <a:p>
            <a:pPr indent="0" marL="0">
              <a:buNone/>
            </a:pPr>
            <a:r>
              <a:rPr lang="en-US" sz="1300" dirty="0">
                <a:solidFill>
                  <a:srgbClr val="5F6B5F"/>
                </a:solidFill>
                <a:latin typeface="Calibri" pitchFamily="34" charset="0"/>
                <a:ea typeface="Calibri" pitchFamily="34" charset="-122"/>
                <a:cs typeface="Calibri" pitchFamily="34" charset="-120"/>
              </a:rPr>
              <a:t>Coût</a:t>
            </a:r>
            <a:endParaRPr lang="en-US" sz="1300" dirty="0"/>
          </a:p>
        </p:txBody>
      </p:sp>
      <p:sp>
        <p:nvSpPr>
          <p:cNvPr id="15" name="Text 13"/>
          <p:cNvSpPr txBox="1"/>
          <p:nvPr/>
        </p:nvSpPr>
        <p:spPr>
          <a:xfrm>
            <a:off x="3017520" y="4873752"/>
            <a:ext cx="2606040" cy="274320"/>
          </a:xfrm>
          <a:prstGeom prst="rect">
            <a:avLst/>
          </a:prstGeom>
          <a:noFill/>
          <a:ln/>
        </p:spPr>
        <p:txBody>
          <a:bodyPr wrap="square" lIns="0" tIns="0" rIns="0" bIns="0"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Gratuit pendant douze mois</a:t>
            </a:r>
            <a:endParaRPr lang="en-US" sz="1400" dirty="0"/>
          </a:p>
        </p:txBody>
      </p:sp>
      <p:sp>
        <p:nvSpPr>
          <p:cNvPr id="16" name="Shape 14"/>
          <p:cNvSpPr/>
          <p:nvPr/>
        </p:nvSpPr>
        <p:spPr>
          <a:xfrm>
            <a:off x="6263640" y="1600200"/>
            <a:ext cx="5349240" cy="4206240"/>
          </a:xfrm>
          <a:prstGeom prst="roundRect">
            <a:avLst>
              <a:gd name="adj" fmla="val 1304"/>
            </a:avLst>
          </a:prstGeom>
          <a:solidFill>
            <a:srgbClr val="2C5F2D"/>
          </a:solidFill>
          <a:ln w="12700">
            <a:solidFill>
              <a:srgbClr val="2C5F2D"/>
            </a:solidFill>
            <a:prstDash val="solid"/>
          </a:ln>
        </p:spPr>
      </p:sp>
      <p:sp>
        <p:nvSpPr>
          <p:cNvPr id="17" name="Text 15"/>
          <p:cNvSpPr txBox="1"/>
          <p:nvPr/>
        </p:nvSpPr>
        <p:spPr>
          <a:xfrm>
            <a:off x="6537960" y="1828800"/>
            <a:ext cx="4800600" cy="274320"/>
          </a:xfrm>
          <a:prstGeom prst="rect">
            <a:avLst/>
          </a:prstGeom>
          <a:noFill/>
          <a:ln/>
        </p:spPr>
        <p:txBody>
          <a:bodyPr wrap="square" lIns="0" tIns="0" rIns="0" bIns="0" rtlCol="0" anchor="ctr"/>
          <a:lstStyle/>
          <a:p>
            <a:pPr indent="0" marL="0">
              <a:buNone/>
            </a:pPr>
            <a:r>
              <a:rPr lang="en-US" sz="1200" b="1" spc="150" kern="0" dirty="0">
                <a:solidFill>
                  <a:srgbClr val="97BC62"/>
                </a:solidFill>
                <a:latin typeface="Calibri" pitchFamily="34" charset="0"/>
                <a:ea typeface="Calibri" pitchFamily="34" charset="-122"/>
                <a:cs typeface="Calibri" pitchFamily="34" charset="-120"/>
              </a:rPr>
              <a:t>Conteneurs Docker</a:t>
            </a:r>
            <a:endParaRPr lang="en-US" sz="1200" dirty="0"/>
          </a:p>
        </p:txBody>
      </p:sp>
      <p:sp>
        <p:nvSpPr>
          <p:cNvPr id="18" name="Shape 16"/>
          <p:cNvSpPr/>
          <p:nvPr/>
        </p:nvSpPr>
        <p:spPr>
          <a:xfrm>
            <a:off x="6537960" y="2286000"/>
            <a:ext cx="4800600" cy="868680"/>
          </a:xfrm>
          <a:prstGeom prst="roundRect">
            <a:avLst>
              <a:gd name="adj" fmla="val 6316"/>
            </a:avLst>
          </a:prstGeom>
          <a:solidFill>
            <a:srgbClr val="26492A"/>
          </a:solidFill>
          <a:ln w="12700">
            <a:solidFill>
              <a:srgbClr val="26492A"/>
            </a:solidFill>
            <a:prstDash val="solid"/>
          </a:ln>
        </p:spPr>
      </p:sp>
      <p:sp>
        <p:nvSpPr>
          <p:cNvPr id="19" name="Text 17"/>
          <p:cNvSpPr txBox="1"/>
          <p:nvPr/>
        </p:nvSpPr>
        <p:spPr>
          <a:xfrm>
            <a:off x="6812280" y="2404872"/>
            <a:ext cx="237744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FastAPI</a:t>
            </a:r>
            <a:endParaRPr lang="en-US" sz="1500" dirty="0"/>
          </a:p>
        </p:txBody>
      </p:sp>
      <p:sp>
        <p:nvSpPr>
          <p:cNvPr id="20" name="Text 18"/>
          <p:cNvSpPr txBox="1"/>
          <p:nvPr/>
        </p:nvSpPr>
        <p:spPr>
          <a:xfrm>
            <a:off x="6812280" y="2724912"/>
            <a:ext cx="2926080" cy="256032"/>
          </a:xfrm>
          <a:prstGeom prst="rect">
            <a:avLst/>
          </a:prstGeom>
          <a:noFill/>
          <a:ln/>
        </p:spPr>
        <p:txBody>
          <a:bodyPr wrap="square" lIns="0" tIns="0" rIns="0" bIns="0" rtlCol="0" anchor="ctr"/>
          <a:lstStyle/>
          <a:p>
            <a:pPr indent="0" marL="0">
              <a:buNone/>
            </a:pPr>
            <a:r>
              <a:rPr lang="en-US" sz="1150" dirty="0">
                <a:solidFill>
                  <a:srgbClr val="A8BFA0"/>
                </a:solidFill>
                <a:latin typeface="Calibri" pitchFamily="34" charset="0"/>
                <a:ea typeface="Calibri" pitchFamily="34" charset="-122"/>
                <a:cs typeface="Calibri" pitchFamily="34" charset="-120"/>
              </a:rPr>
              <a:t>API et interface web</a:t>
            </a:r>
            <a:endParaRPr lang="en-US" sz="1150" dirty="0"/>
          </a:p>
        </p:txBody>
      </p:sp>
      <p:sp>
        <p:nvSpPr>
          <p:cNvPr id="21" name="Text 19"/>
          <p:cNvSpPr txBox="1"/>
          <p:nvPr/>
        </p:nvSpPr>
        <p:spPr>
          <a:xfrm>
            <a:off x="9601200" y="2404872"/>
            <a:ext cx="1463040" cy="594360"/>
          </a:xfrm>
          <a:prstGeom prst="rect">
            <a:avLst/>
          </a:prstGeom>
          <a:noFill/>
          <a:ln/>
        </p:spPr>
        <p:txBody>
          <a:bodyPr wrap="square" lIns="0" tIns="0" rIns="0" bIns="0" rtlCol="0" anchor="ctr"/>
          <a:lstStyle/>
          <a:p>
            <a:pPr algn="r" indent="0" marL="0">
              <a:buNone/>
            </a:pPr>
            <a:r>
              <a:rPr lang="en-US" sz="1200" dirty="0">
                <a:solidFill>
                  <a:srgbClr val="97BC62"/>
                </a:solidFill>
                <a:latin typeface="Consolas" pitchFamily="34" charset="0"/>
                <a:ea typeface="Consolas" pitchFamily="34" charset="-122"/>
                <a:cs typeface="Consolas" pitchFamily="34" charset="-120"/>
              </a:rPr>
              <a:t>Port 8000</a:t>
            </a:r>
            <a:endParaRPr lang="en-US" sz="1200" dirty="0"/>
          </a:p>
        </p:txBody>
      </p:sp>
      <p:sp>
        <p:nvSpPr>
          <p:cNvPr id="22" name="Shape 20"/>
          <p:cNvSpPr/>
          <p:nvPr/>
        </p:nvSpPr>
        <p:spPr>
          <a:xfrm>
            <a:off x="6537960" y="3310128"/>
            <a:ext cx="4800600" cy="868680"/>
          </a:xfrm>
          <a:prstGeom prst="roundRect">
            <a:avLst>
              <a:gd name="adj" fmla="val 6316"/>
            </a:avLst>
          </a:prstGeom>
          <a:solidFill>
            <a:srgbClr val="26492A"/>
          </a:solidFill>
          <a:ln w="12700">
            <a:solidFill>
              <a:srgbClr val="26492A"/>
            </a:solidFill>
            <a:prstDash val="solid"/>
          </a:ln>
        </p:spPr>
      </p:sp>
      <p:sp>
        <p:nvSpPr>
          <p:cNvPr id="23" name="Text 21"/>
          <p:cNvSpPr txBox="1"/>
          <p:nvPr/>
        </p:nvSpPr>
        <p:spPr>
          <a:xfrm>
            <a:off x="6812280" y="3429000"/>
            <a:ext cx="237744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PostgreSQL 15</a:t>
            </a:r>
            <a:endParaRPr lang="en-US" sz="1500" dirty="0"/>
          </a:p>
        </p:txBody>
      </p:sp>
      <p:sp>
        <p:nvSpPr>
          <p:cNvPr id="24" name="Text 22"/>
          <p:cNvSpPr txBox="1"/>
          <p:nvPr/>
        </p:nvSpPr>
        <p:spPr>
          <a:xfrm>
            <a:off x="6812280" y="3749040"/>
            <a:ext cx="2926080" cy="256032"/>
          </a:xfrm>
          <a:prstGeom prst="rect">
            <a:avLst/>
          </a:prstGeom>
          <a:noFill/>
          <a:ln/>
        </p:spPr>
        <p:txBody>
          <a:bodyPr wrap="square" lIns="0" tIns="0" rIns="0" bIns="0" rtlCol="0" anchor="ctr"/>
          <a:lstStyle/>
          <a:p>
            <a:pPr indent="0" marL="0">
              <a:buNone/>
            </a:pPr>
            <a:r>
              <a:rPr lang="en-US" sz="1150" dirty="0">
                <a:solidFill>
                  <a:srgbClr val="A8BFA0"/>
                </a:solidFill>
                <a:latin typeface="Calibri" pitchFamily="34" charset="0"/>
                <a:ea typeface="Calibri" pitchFamily="34" charset="-122"/>
                <a:cs typeface="Calibri" pitchFamily="34" charset="-120"/>
              </a:rPr>
              <a:t>Données persistantes</a:t>
            </a:r>
            <a:endParaRPr lang="en-US" sz="1150" dirty="0"/>
          </a:p>
        </p:txBody>
      </p:sp>
      <p:sp>
        <p:nvSpPr>
          <p:cNvPr id="25" name="Text 23"/>
          <p:cNvSpPr txBox="1"/>
          <p:nvPr/>
        </p:nvSpPr>
        <p:spPr>
          <a:xfrm>
            <a:off x="9601200" y="3429000"/>
            <a:ext cx="1463040" cy="594360"/>
          </a:xfrm>
          <a:prstGeom prst="rect">
            <a:avLst/>
          </a:prstGeom>
          <a:noFill/>
          <a:ln/>
        </p:spPr>
        <p:txBody>
          <a:bodyPr wrap="square" lIns="0" tIns="0" rIns="0" bIns="0" rtlCol="0" anchor="ctr"/>
          <a:lstStyle/>
          <a:p>
            <a:pPr algn="r" indent="0" marL="0">
              <a:buNone/>
            </a:pPr>
            <a:r>
              <a:rPr lang="en-US" sz="1200" dirty="0">
                <a:solidFill>
                  <a:srgbClr val="97BC62"/>
                </a:solidFill>
                <a:latin typeface="Consolas" pitchFamily="34" charset="0"/>
                <a:ea typeface="Consolas" pitchFamily="34" charset="-122"/>
                <a:cs typeface="Consolas" pitchFamily="34" charset="-120"/>
              </a:rPr>
              <a:t>Port 5432</a:t>
            </a:r>
            <a:endParaRPr lang="en-US" sz="1200" dirty="0"/>
          </a:p>
        </p:txBody>
      </p:sp>
      <p:sp>
        <p:nvSpPr>
          <p:cNvPr id="26" name="Shape 24"/>
          <p:cNvSpPr/>
          <p:nvPr/>
        </p:nvSpPr>
        <p:spPr>
          <a:xfrm>
            <a:off x="6537960" y="4334256"/>
            <a:ext cx="4800600" cy="868680"/>
          </a:xfrm>
          <a:prstGeom prst="roundRect">
            <a:avLst>
              <a:gd name="adj" fmla="val 6316"/>
            </a:avLst>
          </a:prstGeom>
          <a:solidFill>
            <a:srgbClr val="26492A"/>
          </a:solidFill>
          <a:ln w="12700">
            <a:solidFill>
              <a:srgbClr val="26492A"/>
            </a:solidFill>
            <a:prstDash val="solid"/>
          </a:ln>
        </p:spPr>
      </p:sp>
      <p:sp>
        <p:nvSpPr>
          <p:cNvPr id="27" name="Text 25"/>
          <p:cNvSpPr txBox="1"/>
          <p:nvPr/>
        </p:nvSpPr>
        <p:spPr>
          <a:xfrm>
            <a:off x="6812280" y="4453128"/>
            <a:ext cx="237744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Redis 7</a:t>
            </a:r>
            <a:endParaRPr lang="en-US" sz="1500" dirty="0"/>
          </a:p>
        </p:txBody>
      </p:sp>
      <p:sp>
        <p:nvSpPr>
          <p:cNvPr id="28" name="Text 26"/>
          <p:cNvSpPr txBox="1"/>
          <p:nvPr/>
        </p:nvSpPr>
        <p:spPr>
          <a:xfrm>
            <a:off x="6812280" y="4773168"/>
            <a:ext cx="2926080" cy="256032"/>
          </a:xfrm>
          <a:prstGeom prst="rect">
            <a:avLst/>
          </a:prstGeom>
          <a:noFill/>
          <a:ln/>
        </p:spPr>
        <p:txBody>
          <a:bodyPr wrap="square" lIns="0" tIns="0" rIns="0" bIns="0" rtlCol="0" anchor="ctr"/>
          <a:lstStyle/>
          <a:p>
            <a:pPr indent="0" marL="0">
              <a:buNone/>
            </a:pPr>
            <a:r>
              <a:rPr lang="en-US" sz="1150" dirty="0">
                <a:solidFill>
                  <a:srgbClr val="A8BFA0"/>
                </a:solidFill>
                <a:latin typeface="Calibri" pitchFamily="34" charset="0"/>
                <a:ea typeface="Calibri" pitchFamily="34" charset="-122"/>
                <a:cs typeface="Calibri" pitchFamily="34" charset="-120"/>
              </a:rPr>
              <a:t>Cache et sessions</a:t>
            </a:r>
            <a:endParaRPr lang="en-US" sz="1150" dirty="0"/>
          </a:p>
        </p:txBody>
      </p:sp>
      <p:sp>
        <p:nvSpPr>
          <p:cNvPr id="29" name="Text 27"/>
          <p:cNvSpPr txBox="1"/>
          <p:nvPr/>
        </p:nvSpPr>
        <p:spPr>
          <a:xfrm>
            <a:off x="9601200" y="4453128"/>
            <a:ext cx="1463040" cy="594360"/>
          </a:xfrm>
          <a:prstGeom prst="rect">
            <a:avLst/>
          </a:prstGeom>
          <a:noFill/>
          <a:ln/>
        </p:spPr>
        <p:txBody>
          <a:bodyPr wrap="square" lIns="0" tIns="0" rIns="0" bIns="0" rtlCol="0" anchor="ctr"/>
          <a:lstStyle/>
          <a:p>
            <a:pPr algn="r" indent="0" marL="0">
              <a:buNone/>
            </a:pPr>
            <a:r>
              <a:rPr lang="en-US" sz="1200" dirty="0">
                <a:solidFill>
                  <a:srgbClr val="97BC62"/>
                </a:solidFill>
                <a:latin typeface="Consolas" pitchFamily="34" charset="0"/>
                <a:ea typeface="Consolas" pitchFamily="34" charset="-122"/>
                <a:cs typeface="Consolas" pitchFamily="34" charset="-120"/>
              </a:rPr>
              <a:t>Port 6379</a:t>
            </a:r>
            <a:endParaRPr lang="en-US" sz="1200" dirty="0"/>
          </a:p>
        </p:txBody>
      </p:sp>
      <p:sp>
        <p:nvSpPr>
          <p:cNvPr id="30" name="Text 28"/>
          <p:cNvSpPr txBox="1"/>
          <p:nvPr/>
        </p:nvSpPr>
        <p:spPr>
          <a:xfrm>
            <a:off x="6537960" y="5413248"/>
            <a:ext cx="4800600" cy="320040"/>
          </a:xfrm>
          <a:prstGeom prst="rect">
            <a:avLst/>
          </a:prstGeom>
          <a:noFill/>
          <a:ln/>
        </p:spPr>
        <p:txBody>
          <a:bodyPr wrap="square" lIns="0" tIns="0" rIns="0" bIns="0" rtlCol="0" anchor="ctr"/>
          <a:lstStyle/>
          <a:p>
            <a:pPr indent="0" marL="0">
              <a:buNone/>
            </a:pPr>
            <a:r>
              <a:rPr lang="en-US" sz="1200" i="1" dirty="0">
                <a:solidFill>
                  <a:srgbClr val="D8E8CF"/>
                </a:solidFill>
                <a:latin typeface="Calibri" pitchFamily="34" charset="0"/>
                <a:ea typeface="Calibri" pitchFamily="34" charset="-122"/>
                <a:cs typeface="Calibri" pitchFamily="34" charset="-120"/>
              </a:rPr>
              <a:t>Volumes persistants : les données survivent à tout redémarrage des conteneurs.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RÉSULTATS MESURÉS</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Le CDC respecté, nos objectifs dépassés</a:t>
            </a:r>
            <a:endParaRPr lang="en-US" sz="3400" dirty="0"/>
          </a:p>
        </p:txBody>
      </p:sp>
      <p:sp>
        <p:nvSpPr>
          <p:cNvPr id="4" name="Shape 2"/>
          <p:cNvSpPr/>
          <p:nvPr/>
        </p:nvSpPr>
        <p:spPr>
          <a:xfrm>
            <a:off x="548640" y="1572768"/>
            <a:ext cx="2594610" cy="1554480"/>
          </a:xfrm>
          <a:prstGeom prst="roundRect">
            <a:avLst>
              <a:gd name="adj" fmla="val 3529"/>
            </a:avLst>
          </a:prstGeom>
          <a:solidFill>
            <a:srgbClr val="EEF3EA"/>
          </a:solidFill>
          <a:ln w="12700">
            <a:solidFill>
              <a:srgbClr val="EEF3EA"/>
            </a:solidFill>
            <a:prstDash val="solid"/>
          </a:ln>
        </p:spPr>
      </p:sp>
      <p:sp>
        <p:nvSpPr>
          <p:cNvPr id="5" name="Text 3"/>
          <p:cNvSpPr txBox="1"/>
          <p:nvPr/>
        </p:nvSpPr>
        <p:spPr>
          <a:xfrm>
            <a:off x="777240" y="1719072"/>
            <a:ext cx="2148840" cy="658368"/>
          </a:xfrm>
          <a:prstGeom prst="rect">
            <a:avLst/>
          </a:prstGeom>
          <a:noFill/>
          <a:ln/>
        </p:spPr>
        <p:txBody>
          <a:bodyPr wrap="square" lIns="0" tIns="0" rIns="0" bIns="0" rtlCol="0" anchor="ctr"/>
          <a:lstStyle/>
          <a:p>
            <a:pPr indent="0" marL="0">
              <a:buNone/>
            </a:pPr>
            <a:r>
              <a:rPr lang="en-US" sz="4000" b="1" dirty="0">
                <a:solidFill>
                  <a:srgbClr val="2C5F2D"/>
                </a:solidFill>
                <a:latin typeface="Cambria" pitchFamily="34" charset="0"/>
                <a:ea typeface="Cambria" pitchFamily="34" charset="-122"/>
                <a:cs typeface="Cambria" pitchFamily="34" charset="-120"/>
              </a:rPr>
              <a:t>18</a:t>
            </a:r>
            <a:endParaRPr lang="en-US" sz="4000" dirty="0"/>
          </a:p>
        </p:txBody>
      </p:sp>
      <p:sp>
        <p:nvSpPr>
          <p:cNvPr id="6" name="Text 4"/>
          <p:cNvSpPr txBox="1"/>
          <p:nvPr/>
        </p:nvSpPr>
        <p:spPr>
          <a:xfrm>
            <a:off x="777240" y="2395728"/>
            <a:ext cx="2148840" cy="274320"/>
          </a:xfrm>
          <a:prstGeom prst="rect">
            <a:avLst/>
          </a:prstGeom>
          <a:noFill/>
          <a:ln/>
        </p:spPr>
        <p:txBody>
          <a:bodyPr wrap="square" lIns="0" tIns="0" rIns="0" bIns="0" rtlCol="0" anchor="ctr"/>
          <a:lstStyle/>
          <a:p>
            <a:pPr indent="0" marL="0">
              <a:buNone/>
            </a:pPr>
            <a:r>
              <a:rPr lang="en-US" sz="1350" b="1" dirty="0">
                <a:solidFill>
                  <a:srgbClr val="2B2B2B"/>
                </a:solidFill>
                <a:latin typeface="Calibri" pitchFamily="34" charset="0"/>
                <a:ea typeface="Calibri" pitchFamily="34" charset="-122"/>
                <a:cs typeface="Calibri" pitchFamily="34" charset="-120"/>
              </a:rPr>
              <a:t>endpoints livrés</a:t>
            </a:r>
            <a:endParaRPr lang="en-US" sz="1350" dirty="0"/>
          </a:p>
        </p:txBody>
      </p:sp>
      <p:sp>
        <p:nvSpPr>
          <p:cNvPr id="7" name="Text 5"/>
          <p:cNvSpPr txBox="1"/>
          <p:nvPr/>
        </p:nvSpPr>
        <p:spPr>
          <a:xfrm>
            <a:off x="777240" y="2679192"/>
            <a:ext cx="2148840" cy="256032"/>
          </a:xfrm>
          <a:prstGeom prst="rect">
            <a:avLst/>
          </a:prstGeom>
          <a:noFill/>
          <a:ln/>
        </p:spPr>
        <p:txBody>
          <a:bodyPr wrap="square" lIns="0" tIns="0" rIns="0" bIns="0" rtlCol="0" anchor="ctr"/>
          <a:lstStyle/>
          <a:p>
            <a:pPr indent="0" marL="0">
              <a:buNone/>
            </a:pPr>
            <a:r>
              <a:rPr lang="en-US" sz="1150" dirty="0">
                <a:solidFill>
                  <a:srgbClr val="5F6B5F"/>
                </a:solidFill>
                <a:latin typeface="Calibri" pitchFamily="34" charset="0"/>
                <a:ea typeface="Calibri" pitchFamily="34" charset="-122"/>
                <a:cs typeface="Calibri" pitchFamily="34" charset="-120"/>
              </a:rPr>
              <a:t>objectif interne : 5</a:t>
            </a:r>
            <a:endParaRPr lang="en-US" sz="1150" dirty="0"/>
          </a:p>
        </p:txBody>
      </p:sp>
      <p:sp>
        <p:nvSpPr>
          <p:cNvPr id="8" name="Shape 6"/>
          <p:cNvSpPr/>
          <p:nvPr/>
        </p:nvSpPr>
        <p:spPr>
          <a:xfrm>
            <a:off x="3371850" y="1572768"/>
            <a:ext cx="2594610" cy="1554480"/>
          </a:xfrm>
          <a:prstGeom prst="roundRect">
            <a:avLst>
              <a:gd name="adj" fmla="val 3529"/>
            </a:avLst>
          </a:prstGeom>
          <a:solidFill>
            <a:srgbClr val="EEF3EA"/>
          </a:solidFill>
          <a:ln w="12700">
            <a:solidFill>
              <a:srgbClr val="EEF3EA"/>
            </a:solidFill>
            <a:prstDash val="solid"/>
          </a:ln>
        </p:spPr>
      </p:sp>
      <p:sp>
        <p:nvSpPr>
          <p:cNvPr id="9" name="Text 7"/>
          <p:cNvSpPr txBox="1"/>
          <p:nvPr/>
        </p:nvSpPr>
        <p:spPr>
          <a:xfrm>
            <a:off x="3600450" y="1719072"/>
            <a:ext cx="2148840" cy="658368"/>
          </a:xfrm>
          <a:prstGeom prst="rect">
            <a:avLst/>
          </a:prstGeom>
          <a:noFill/>
          <a:ln/>
        </p:spPr>
        <p:txBody>
          <a:bodyPr wrap="square" lIns="0" tIns="0" rIns="0" bIns="0" rtlCol="0" anchor="ctr"/>
          <a:lstStyle/>
          <a:p>
            <a:pPr indent="0" marL="0">
              <a:buNone/>
            </a:pPr>
            <a:r>
              <a:rPr lang="en-US" sz="4000" b="1" dirty="0">
                <a:solidFill>
                  <a:srgbClr val="2C5F2D"/>
                </a:solidFill>
                <a:latin typeface="Cambria" pitchFamily="34" charset="0"/>
                <a:ea typeface="Cambria" pitchFamily="34" charset="-122"/>
                <a:cs typeface="Cambria" pitchFamily="34" charset="-120"/>
              </a:rPr>
              <a:t>1,5 s</a:t>
            </a:r>
            <a:endParaRPr lang="en-US" sz="4000" dirty="0"/>
          </a:p>
        </p:txBody>
      </p:sp>
      <p:sp>
        <p:nvSpPr>
          <p:cNvPr id="10" name="Text 8"/>
          <p:cNvSpPr txBox="1"/>
          <p:nvPr/>
        </p:nvSpPr>
        <p:spPr>
          <a:xfrm>
            <a:off x="3600450" y="2395728"/>
            <a:ext cx="2148840" cy="274320"/>
          </a:xfrm>
          <a:prstGeom prst="rect">
            <a:avLst/>
          </a:prstGeom>
          <a:noFill/>
          <a:ln/>
        </p:spPr>
        <p:txBody>
          <a:bodyPr wrap="square" lIns="0" tIns="0" rIns="0" bIns="0" rtlCol="0" anchor="ctr"/>
          <a:lstStyle/>
          <a:p>
            <a:pPr indent="0" marL="0">
              <a:buNone/>
            </a:pPr>
            <a:r>
              <a:rPr lang="en-US" sz="1350" b="1" dirty="0">
                <a:solidFill>
                  <a:srgbClr val="2B2B2B"/>
                </a:solidFill>
                <a:latin typeface="Calibri" pitchFamily="34" charset="0"/>
                <a:ea typeface="Calibri" pitchFamily="34" charset="-122"/>
                <a:cs typeface="Calibri" pitchFamily="34" charset="-120"/>
              </a:rPr>
              <a:t>temps de réponse</a:t>
            </a:r>
            <a:endParaRPr lang="en-US" sz="1350" dirty="0"/>
          </a:p>
        </p:txBody>
      </p:sp>
      <p:sp>
        <p:nvSpPr>
          <p:cNvPr id="11" name="Text 9"/>
          <p:cNvSpPr txBox="1"/>
          <p:nvPr/>
        </p:nvSpPr>
        <p:spPr>
          <a:xfrm>
            <a:off x="3600450" y="2679192"/>
            <a:ext cx="2148840" cy="256032"/>
          </a:xfrm>
          <a:prstGeom prst="rect">
            <a:avLst/>
          </a:prstGeom>
          <a:noFill/>
          <a:ln/>
        </p:spPr>
        <p:txBody>
          <a:bodyPr wrap="square" lIns="0" tIns="0" rIns="0" bIns="0" rtlCol="0" anchor="ctr"/>
          <a:lstStyle/>
          <a:p>
            <a:pPr indent="0" marL="0">
              <a:buNone/>
            </a:pPr>
            <a:r>
              <a:rPr lang="en-US" sz="1150" dirty="0">
                <a:solidFill>
                  <a:srgbClr val="5F6B5F"/>
                </a:solidFill>
                <a:latin typeface="Calibri" pitchFamily="34" charset="0"/>
                <a:ea typeface="Calibri" pitchFamily="34" charset="-122"/>
                <a:cs typeface="Calibri" pitchFamily="34" charset="-120"/>
              </a:rPr>
              <a:t>objectif interne : &lt; 2 s</a:t>
            </a:r>
            <a:endParaRPr lang="en-US" sz="1150" dirty="0"/>
          </a:p>
        </p:txBody>
      </p:sp>
      <p:sp>
        <p:nvSpPr>
          <p:cNvPr id="12" name="Shape 10"/>
          <p:cNvSpPr/>
          <p:nvPr/>
        </p:nvSpPr>
        <p:spPr>
          <a:xfrm>
            <a:off x="6195060" y="1572768"/>
            <a:ext cx="2594610" cy="1554480"/>
          </a:xfrm>
          <a:prstGeom prst="roundRect">
            <a:avLst>
              <a:gd name="adj" fmla="val 3529"/>
            </a:avLst>
          </a:prstGeom>
          <a:solidFill>
            <a:srgbClr val="EEF3EA"/>
          </a:solidFill>
          <a:ln w="12700">
            <a:solidFill>
              <a:srgbClr val="EEF3EA"/>
            </a:solidFill>
            <a:prstDash val="solid"/>
          </a:ln>
        </p:spPr>
      </p:sp>
      <p:sp>
        <p:nvSpPr>
          <p:cNvPr id="13" name="Text 11"/>
          <p:cNvSpPr txBox="1"/>
          <p:nvPr/>
        </p:nvSpPr>
        <p:spPr>
          <a:xfrm>
            <a:off x="6423660" y="1719072"/>
            <a:ext cx="2148840" cy="658368"/>
          </a:xfrm>
          <a:prstGeom prst="rect">
            <a:avLst/>
          </a:prstGeom>
          <a:noFill/>
          <a:ln/>
        </p:spPr>
        <p:txBody>
          <a:bodyPr wrap="square" lIns="0" tIns="0" rIns="0" bIns="0" rtlCol="0" anchor="ctr"/>
          <a:lstStyle/>
          <a:p>
            <a:pPr indent="0" marL="0">
              <a:buNone/>
            </a:pPr>
            <a:r>
              <a:rPr lang="en-US" sz="4000" b="1" dirty="0">
                <a:solidFill>
                  <a:srgbClr val="2C5F2D"/>
                </a:solidFill>
                <a:latin typeface="Cambria" pitchFamily="34" charset="0"/>
                <a:ea typeface="Cambria" pitchFamily="34" charset="-122"/>
                <a:cs typeface="Cambria" pitchFamily="34" charset="-120"/>
              </a:rPr>
              <a:t>87 %</a:t>
            </a:r>
            <a:endParaRPr lang="en-US" sz="4000" dirty="0"/>
          </a:p>
        </p:txBody>
      </p:sp>
      <p:sp>
        <p:nvSpPr>
          <p:cNvPr id="14" name="Text 12"/>
          <p:cNvSpPr txBox="1"/>
          <p:nvPr/>
        </p:nvSpPr>
        <p:spPr>
          <a:xfrm>
            <a:off x="6423660" y="2395728"/>
            <a:ext cx="2148840" cy="274320"/>
          </a:xfrm>
          <a:prstGeom prst="rect">
            <a:avLst/>
          </a:prstGeom>
          <a:noFill/>
          <a:ln/>
        </p:spPr>
        <p:txBody>
          <a:bodyPr wrap="square" lIns="0" tIns="0" rIns="0" bIns="0" rtlCol="0" anchor="ctr"/>
          <a:lstStyle/>
          <a:p>
            <a:pPr indent="0" marL="0">
              <a:buNone/>
            </a:pPr>
            <a:r>
              <a:rPr lang="en-US" sz="1350" b="1" dirty="0">
                <a:solidFill>
                  <a:srgbClr val="2B2B2B"/>
                </a:solidFill>
                <a:latin typeface="Calibri" pitchFamily="34" charset="0"/>
                <a:ea typeface="Calibri" pitchFamily="34" charset="-122"/>
                <a:cs typeface="Calibri" pitchFamily="34" charset="-120"/>
              </a:rPr>
              <a:t>de précision</a:t>
            </a:r>
            <a:endParaRPr lang="en-US" sz="1350" dirty="0"/>
          </a:p>
        </p:txBody>
      </p:sp>
      <p:sp>
        <p:nvSpPr>
          <p:cNvPr id="15" name="Text 13"/>
          <p:cNvSpPr txBox="1"/>
          <p:nvPr/>
        </p:nvSpPr>
        <p:spPr>
          <a:xfrm>
            <a:off x="6423660" y="2679192"/>
            <a:ext cx="2148840" cy="256032"/>
          </a:xfrm>
          <a:prstGeom prst="rect">
            <a:avLst/>
          </a:prstGeom>
          <a:noFill/>
          <a:ln/>
        </p:spPr>
        <p:txBody>
          <a:bodyPr wrap="square" lIns="0" tIns="0" rIns="0" bIns="0" rtlCol="0" anchor="ctr"/>
          <a:lstStyle/>
          <a:p>
            <a:pPr indent="0" marL="0">
              <a:buNone/>
            </a:pPr>
            <a:r>
              <a:rPr lang="en-US" sz="1150" dirty="0">
                <a:solidFill>
                  <a:srgbClr val="5F6B5F"/>
                </a:solidFill>
                <a:latin typeface="Calibri" pitchFamily="34" charset="0"/>
                <a:ea typeface="Calibri" pitchFamily="34" charset="-122"/>
                <a:cs typeface="Calibri" pitchFamily="34" charset="-120"/>
              </a:rPr>
              <a:t>objectif interne : 85 %</a:t>
            </a:r>
            <a:endParaRPr lang="en-US" sz="1150" dirty="0"/>
          </a:p>
        </p:txBody>
      </p:sp>
      <p:sp>
        <p:nvSpPr>
          <p:cNvPr id="16" name="Shape 14"/>
          <p:cNvSpPr/>
          <p:nvPr/>
        </p:nvSpPr>
        <p:spPr>
          <a:xfrm>
            <a:off x="9018270" y="1572768"/>
            <a:ext cx="2594610" cy="1554480"/>
          </a:xfrm>
          <a:prstGeom prst="roundRect">
            <a:avLst>
              <a:gd name="adj" fmla="val 3529"/>
            </a:avLst>
          </a:prstGeom>
          <a:solidFill>
            <a:srgbClr val="EEF3EA"/>
          </a:solidFill>
          <a:ln w="12700">
            <a:solidFill>
              <a:srgbClr val="EEF3EA"/>
            </a:solidFill>
            <a:prstDash val="solid"/>
          </a:ln>
        </p:spPr>
      </p:sp>
      <p:sp>
        <p:nvSpPr>
          <p:cNvPr id="17" name="Text 15"/>
          <p:cNvSpPr txBox="1"/>
          <p:nvPr/>
        </p:nvSpPr>
        <p:spPr>
          <a:xfrm>
            <a:off x="9246870" y="1719072"/>
            <a:ext cx="2148840" cy="658368"/>
          </a:xfrm>
          <a:prstGeom prst="rect">
            <a:avLst/>
          </a:prstGeom>
          <a:noFill/>
          <a:ln/>
        </p:spPr>
        <p:txBody>
          <a:bodyPr wrap="square" lIns="0" tIns="0" rIns="0" bIns="0" rtlCol="0" anchor="ctr"/>
          <a:lstStyle/>
          <a:p>
            <a:pPr indent="0" marL="0">
              <a:buNone/>
            </a:pPr>
            <a:r>
              <a:rPr lang="en-US" sz="4000" b="1" dirty="0">
                <a:solidFill>
                  <a:srgbClr val="2C5F2D"/>
                </a:solidFill>
                <a:latin typeface="Cambria" pitchFamily="34" charset="0"/>
                <a:ea typeface="Cambria" pitchFamily="34" charset="-122"/>
                <a:cs typeface="Cambria" pitchFamily="34" charset="-120"/>
              </a:rPr>
              <a:t>1 / min</a:t>
            </a:r>
            <a:endParaRPr lang="en-US" sz="4000" dirty="0"/>
          </a:p>
        </p:txBody>
      </p:sp>
      <p:sp>
        <p:nvSpPr>
          <p:cNvPr id="18" name="Text 16"/>
          <p:cNvSpPr txBox="1"/>
          <p:nvPr/>
        </p:nvSpPr>
        <p:spPr>
          <a:xfrm>
            <a:off x="9246870" y="2395728"/>
            <a:ext cx="2148840" cy="274320"/>
          </a:xfrm>
          <a:prstGeom prst="rect">
            <a:avLst/>
          </a:prstGeom>
          <a:noFill/>
          <a:ln/>
        </p:spPr>
        <p:txBody>
          <a:bodyPr wrap="square" lIns="0" tIns="0" rIns="0" bIns="0" rtlCol="0" anchor="ctr"/>
          <a:lstStyle/>
          <a:p>
            <a:pPr indent="0" marL="0">
              <a:buNone/>
            </a:pPr>
            <a:r>
              <a:rPr lang="en-US" sz="1350" b="1" dirty="0">
                <a:solidFill>
                  <a:srgbClr val="2B2B2B"/>
                </a:solidFill>
                <a:latin typeface="Calibri" pitchFamily="34" charset="0"/>
                <a:ea typeface="Calibri" pitchFamily="34" charset="-122"/>
                <a:cs typeface="Calibri" pitchFamily="34" charset="-120"/>
              </a:rPr>
              <a:t>relevé par capteur</a:t>
            </a:r>
            <a:endParaRPr lang="en-US" sz="1350" dirty="0"/>
          </a:p>
        </p:txBody>
      </p:sp>
      <p:sp>
        <p:nvSpPr>
          <p:cNvPr id="19" name="Text 17"/>
          <p:cNvSpPr txBox="1"/>
          <p:nvPr/>
        </p:nvSpPr>
        <p:spPr>
          <a:xfrm>
            <a:off x="9246870" y="2679192"/>
            <a:ext cx="2148840" cy="256032"/>
          </a:xfrm>
          <a:prstGeom prst="rect">
            <a:avLst/>
          </a:prstGeom>
          <a:noFill/>
          <a:ln/>
        </p:spPr>
        <p:txBody>
          <a:bodyPr wrap="square" lIns="0" tIns="0" rIns="0" bIns="0" rtlCol="0" anchor="ctr"/>
          <a:lstStyle/>
          <a:p>
            <a:pPr indent="0" marL="0">
              <a:buNone/>
            </a:pPr>
            <a:r>
              <a:rPr lang="en-US" sz="1150" dirty="0">
                <a:solidFill>
                  <a:srgbClr val="5F6B5F"/>
                </a:solidFill>
                <a:latin typeface="Calibri" pitchFamily="34" charset="0"/>
                <a:ea typeface="Calibri" pitchFamily="34" charset="-122"/>
                <a:cs typeface="Calibri" pitchFamily="34" charset="-120"/>
              </a:rPr>
              <a:t>surveillance continue</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401568"/>
          <a:ext cx="11064240" cy="914400"/>
        </p:xfrm>
        <a:graphic>
          <a:graphicData uri="http://schemas.openxmlformats.org/drawingml/2006/table">
            <a:tbl>
              <a:tblPr/>
              <a:tblGrid>
                <a:gridCol w="3657600"/>
                <a:gridCol w="2011680"/>
                <a:gridCol w="2651760"/>
                <a:gridCol w="2743200"/>
              </a:tblGrid>
              <a:tr h="32918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Critère</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2C5F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Origine</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2C5F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Cible</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2C5F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Réalisé</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2C5F2D"/>
                    </a:solidFill>
                  </a:tcPr>
                </a:tc>
              </a:tr>
              <a:tr h="329184">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Technologies imposées</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CDC</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Déploiement cloud</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CDC</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requis</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AWS EC2 en ligne</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Capteurs IoT</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CDC</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simulés ou réels</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réseau simulé, 6 mesures</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Endpoints de l'API</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Objectif interne</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5 minimum</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18 (+ 260 %)</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Temps de réponse</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Objectif interne</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moins de 2 s</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1,5 s (- 25 %)</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Précision de l'IA</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Objectif interne</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plus de 85 %</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c>
                  <a:txBody>
                    <a:bodyPr/>
                    <a:lstStyle/>
                    <a:p>
                      <a:pPr indent="0" marL="0">
                        <a:buNone/>
                      </a:pPr>
                      <a:r>
                        <a:rPr lang="en-US" sz="1250" dirty="0">
                          <a:solidFill>
                            <a:srgbClr val="2B2B2B"/>
                          </a:solidFill>
                          <a:latin typeface="Calibri" pitchFamily="34" charset="0"/>
                          <a:ea typeface="Calibri" pitchFamily="34" charset="-122"/>
                          <a:cs typeface="Calibri" pitchFamily="34" charset="-120"/>
                        </a:rPr>
                        <a:t>87 % (+ 2 points)</a:t>
                      </a:r>
                      <a:endParaRPr lang="en-US" sz="1250" dirty="0">
                        <a:latin typeface="Calibri" charset="0"/>
                        <a:ea typeface="Calibri" charset="0"/>
                        <a:cs typeface="Calibri" charset="0"/>
                      </a:endParaRPr>
                    </a:p>
                  </a:txBody>
                  <a:tcPr marL="91440" marR="91440" marT="45720" marB="45720" anchor="ctr">
                    <a:lnL w="12700" cap="flat" cmpd="sng" algn="ctr">
                      <a:solidFill>
                        <a:srgbClr val="DDE4D8"/>
                      </a:solidFill>
                      <a:prstDash val="solid"/>
                      <a:round/>
                      <a:headEnd type="none" w="med" len="med"/>
                      <a:tailEnd type="none" w="med" len="med"/>
                    </a:lnL>
                    <a:lnR w="12700" cap="flat" cmpd="sng" algn="ctr">
                      <a:solidFill>
                        <a:srgbClr val="DDE4D8"/>
                      </a:solidFill>
                      <a:prstDash val="solid"/>
                      <a:round/>
                      <a:headEnd type="none" w="med" len="med"/>
                      <a:tailEnd type="none" w="med" len="med"/>
                    </a:lnR>
                    <a:lnT w="12700" cap="flat" cmpd="sng" algn="ctr">
                      <a:solidFill>
                        <a:srgbClr val="DDE4D8"/>
                      </a:solidFill>
                      <a:prstDash val="solid"/>
                      <a:round/>
                      <a:headEnd type="none" w="med" len="med"/>
                      <a:tailEnd type="none" w="med" len="med"/>
                    </a:lnT>
                    <a:lnB w="12700" cap="flat" cmpd="sng" algn="ctr">
                      <a:solidFill>
                        <a:srgbClr val="DDE4D8"/>
                      </a:solidFill>
                      <a:prstDash val="solid"/>
                      <a:round/>
                      <a:headEnd type="none" w="med" len="med"/>
                      <a:tailEnd type="none" w="med" len="med"/>
                    </a:lnB>
                    <a:solidFill>
                      <a:srgbClr val="FFFFFF"/>
                    </a:solidFill>
                  </a:tcPr>
                </a:tc>
              </a:tr>
            </a:tbl>
          </a:graphicData>
        </a:graphic>
      </p:graphicFrame>
      <p:sp>
        <p:nvSpPr>
          <p:cNvPr id="21" name="Text 18"/>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050" i="1" dirty="0">
                <a:solidFill>
                  <a:srgbClr val="5F6B5F"/>
                </a:solidFill>
                <a:latin typeface="Calibri" pitchFamily="34" charset="0"/>
                <a:ea typeface="Calibri" pitchFamily="34" charset="-122"/>
                <a:cs typeface="Calibri" pitchFamily="34" charset="-120"/>
              </a:rPr>
              <a:t>Le CDC n'impose aucun seuil chiffré de performance : le nombre d'endpoints, le temps de réponse et la précision de l'IA sont des objectifs de qualité que nous nous sommes fixés.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4A7A3A"/>
                </a:solidFill>
                <a:latin typeface="Calibri" pitchFamily="34" charset="0"/>
                <a:ea typeface="Calibri" pitchFamily="34" charset="-122"/>
                <a:cs typeface="Calibri" pitchFamily="34" charset="-120"/>
              </a:rPr>
              <a:t>COMPÉTENCES BACHELOR 2</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2C5F2D"/>
                </a:solidFill>
                <a:latin typeface="Cambria" pitchFamily="34" charset="0"/>
                <a:ea typeface="Cambria" pitchFamily="34" charset="-122"/>
                <a:cs typeface="Cambria" pitchFamily="34" charset="-120"/>
              </a:rPr>
              <a:t>Cinq domaines couverts par un seul projet</a:t>
            </a:r>
            <a:endParaRPr lang="en-US" sz="3400" dirty="0"/>
          </a:p>
        </p:txBody>
      </p:sp>
      <p:sp>
        <p:nvSpPr>
          <p:cNvPr id="4" name="Shape 2"/>
          <p:cNvSpPr/>
          <p:nvPr/>
        </p:nvSpPr>
        <p:spPr>
          <a:xfrm>
            <a:off x="548640" y="1600200"/>
            <a:ext cx="11064240" cy="786384"/>
          </a:xfrm>
          <a:prstGeom prst="roundRect">
            <a:avLst>
              <a:gd name="adj" fmla="val 6977"/>
            </a:avLst>
          </a:prstGeom>
          <a:solidFill>
            <a:srgbClr val="EEF3EA"/>
          </a:solidFill>
          <a:ln w="12700">
            <a:solidFill>
              <a:srgbClr val="EEF3EA"/>
            </a:solidFill>
            <a:prstDash val="solid"/>
          </a:ln>
        </p:spPr>
      </p:sp>
      <p:sp>
        <p:nvSpPr>
          <p:cNvPr id="5" name="Shape 3"/>
          <p:cNvSpPr/>
          <p:nvPr/>
        </p:nvSpPr>
        <p:spPr>
          <a:xfrm>
            <a:off x="749808" y="1783080"/>
            <a:ext cx="420624" cy="420624"/>
          </a:xfrm>
          <a:prstGeom prst="ellipse">
            <a:avLst/>
          </a:prstGeom>
          <a:solidFill>
            <a:srgbClr val="2C5F2D"/>
          </a:solidFill>
          <a:ln w="12700">
            <a:solidFill>
              <a:srgbClr val="2C5F2D"/>
            </a:solidFill>
            <a:prstDash val="solid"/>
          </a:ln>
        </p:spPr>
      </p:sp>
      <p:sp>
        <p:nvSpPr>
          <p:cNvPr id="6" name="Text 4"/>
          <p:cNvSpPr txBox="1"/>
          <p:nvPr/>
        </p:nvSpPr>
        <p:spPr>
          <a:xfrm>
            <a:off x="749808" y="17830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txBox="1"/>
          <p:nvPr/>
        </p:nvSpPr>
        <p:spPr>
          <a:xfrm>
            <a:off x="1325880" y="1719072"/>
            <a:ext cx="3291840" cy="292608"/>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Intelligence artificielle</a:t>
            </a:r>
            <a:endParaRPr lang="en-US" sz="1600" dirty="0"/>
          </a:p>
        </p:txBody>
      </p:sp>
      <p:sp>
        <p:nvSpPr>
          <p:cNvPr id="8" name="Text 6"/>
          <p:cNvSpPr txBox="1"/>
          <p:nvPr/>
        </p:nvSpPr>
        <p:spPr>
          <a:xfrm>
            <a:off x="1325880" y="2020824"/>
            <a:ext cx="9966960" cy="27432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Analyse d'image OpenCV, classification multi-classe, calcul d'indice de confiance</a:t>
            </a:r>
            <a:endParaRPr lang="en-US" sz="1250" dirty="0"/>
          </a:p>
        </p:txBody>
      </p:sp>
      <p:sp>
        <p:nvSpPr>
          <p:cNvPr id="9" name="Shape 7"/>
          <p:cNvSpPr/>
          <p:nvPr/>
        </p:nvSpPr>
        <p:spPr>
          <a:xfrm>
            <a:off x="548640" y="2514600"/>
            <a:ext cx="11064240" cy="786384"/>
          </a:xfrm>
          <a:prstGeom prst="roundRect">
            <a:avLst>
              <a:gd name="adj" fmla="val 6977"/>
            </a:avLst>
          </a:prstGeom>
          <a:solidFill>
            <a:srgbClr val="EEF3EA"/>
          </a:solidFill>
          <a:ln w="12700">
            <a:solidFill>
              <a:srgbClr val="EEF3EA"/>
            </a:solidFill>
            <a:prstDash val="solid"/>
          </a:ln>
        </p:spPr>
      </p:sp>
      <p:sp>
        <p:nvSpPr>
          <p:cNvPr id="10" name="Shape 8"/>
          <p:cNvSpPr/>
          <p:nvPr/>
        </p:nvSpPr>
        <p:spPr>
          <a:xfrm>
            <a:off x="749808" y="2697480"/>
            <a:ext cx="420624" cy="420624"/>
          </a:xfrm>
          <a:prstGeom prst="ellipse">
            <a:avLst/>
          </a:prstGeom>
          <a:solidFill>
            <a:srgbClr val="2C5F2D"/>
          </a:solidFill>
          <a:ln w="12700">
            <a:solidFill>
              <a:srgbClr val="2C5F2D"/>
            </a:solidFill>
            <a:prstDash val="solid"/>
          </a:ln>
        </p:spPr>
      </p:sp>
      <p:sp>
        <p:nvSpPr>
          <p:cNvPr id="11" name="Text 9"/>
          <p:cNvSpPr txBox="1"/>
          <p:nvPr/>
        </p:nvSpPr>
        <p:spPr>
          <a:xfrm>
            <a:off x="749808" y="26974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Text 10"/>
          <p:cNvSpPr txBox="1"/>
          <p:nvPr/>
        </p:nvSpPr>
        <p:spPr>
          <a:xfrm>
            <a:off x="1325880" y="2633472"/>
            <a:ext cx="3291840" cy="292608"/>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Développement backend</a:t>
            </a:r>
            <a:endParaRPr lang="en-US" sz="1600" dirty="0"/>
          </a:p>
        </p:txBody>
      </p:sp>
      <p:sp>
        <p:nvSpPr>
          <p:cNvPr id="13" name="Text 11"/>
          <p:cNvSpPr txBox="1"/>
          <p:nvPr/>
        </p:nvSpPr>
        <p:spPr>
          <a:xfrm>
            <a:off x="1325880" y="2935224"/>
            <a:ext cx="9966960" cy="27432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API REST, programmation asynchrone, ORM SQLAlchemy, gestion des erreurs</a:t>
            </a:r>
            <a:endParaRPr lang="en-US" sz="1250" dirty="0"/>
          </a:p>
        </p:txBody>
      </p:sp>
      <p:sp>
        <p:nvSpPr>
          <p:cNvPr id="14" name="Shape 12"/>
          <p:cNvSpPr/>
          <p:nvPr/>
        </p:nvSpPr>
        <p:spPr>
          <a:xfrm>
            <a:off x="548640" y="3429000"/>
            <a:ext cx="11064240" cy="786384"/>
          </a:xfrm>
          <a:prstGeom prst="roundRect">
            <a:avLst>
              <a:gd name="adj" fmla="val 6977"/>
            </a:avLst>
          </a:prstGeom>
          <a:solidFill>
            <a:srgbClr val="EEF3EA"/>
          </a:solidFill>
          <a:ln w="12700">
            <a:solidFill>
              <a:srgbClr val="EEF3EA"/>
            </a:solidFill>
            <a:prstDash val="solid"/>
          </a:ln>
        </p:spPr>
      </p:sp>
      <p:sp>
        <p:nvSpPr>
          <p:cNvPr id="15" name="Shape 13"/>
          <p:cNvSpPr/>
          <p:nvPr/>
        </p:nvSpPr>
        <p:spPr>
          <a:xfrm>
            <a:off x="749808" y="3611880"/>
            <a:ext cx="420624" cy="420624"/>
          </a:xfrm>
          <a:prstGeom prst="ellipse">
            <a:avLst/>
          </a:prstGeom>
          <a:solidFill>
            <a:srgbClr val="2C5F2D"/>
          </a:solidFill>
          <a:ln w="12700">
            <a:solidFill>
              <a:srgbClr val="2C5F2D"/>
            </a:solidFill>
            <a:prstDash val="solid"/>
          </a:ln>
        </p:spPr>
      </p:sp>
      <p:sp>
        <p:nvSpPr>
          <p:cNvPr id="16" name="Text 14"/>
          <p:cNvSpPr txBox="1"/>
          <p:nvPr/>
        </p:nvSpPr>
        <p:spPr>
          <a:xfrm>
            <a:off x="749808" y="36118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Text 15"/>
          <p:cNvSpPr txBox="1"/>
          <p:nvPr/>
        </p:nvSpPr>
        <p:spPr>
          <a:xfrm>
            <a:off x="1325880" y="3547872"/>
            <a:ext cx="3291840" cy="292608"/>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Développement frontend</a:t>
            </a:r>
            <a:endParaRPr lang="en-US" sz="1600" dirty="0"/>
          </a:p>
        </p:txBody>
      </p:sp>
      <p:sp>
        <p:nvSpPr>
          <p:cNvPr id="18" name="Text 16"/>
          <p:cNvSpPr txBox="1"/>
          <p:nvPr/>
        </p:nvSpPr>
        <p:spPr>
          <a:xfrm>
            <a:off x="1325880" y="3849624"/>
            <a:ext cx="9966960" cy="27432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HTML5, CSS3, JavaScript, consommation d'API, conception responsive</a:t>
            </a:r>
            <a:endParaRPr lang="en-US" sz="1250" dirty="0"/>
          </a:p>
        </p:txBody>
      </p:sp>
      <p:sp>
        <p:nvSpPr>
          <p:cNvPr id="19" name="Shape 17"/>
          <p:cNvSpPr/>
          <p:nvPr/>
        </p:nvSpPr>
        <p:spPr>
          <a:xfrm>
            <a:off x="548640" y="4343400"/>
            <a:ext cx="11064240" cy="786384"/>
          </a:xfrm>
          <a:prstGeom prst="roundRect">
            <a:avLst>
              <a:gd name="adj" fmla="val 6977"/>
            </a:avLst>
          </a:prstGeom>
          <a:solidFill>
            <a:srgbClr val="EEF3EA"/>
          </a:solidFill>
          <a:ln w="12700">
            <a:solidFill>
              <a:srgbClr val="EEF3EA"/>
            </a:solidFill>
            <a:prstDash val="solid"/>
          </a:ln>
        </p:spPr>
      </p:sp>
      <p:sp>
        <p:nvSpPr>
          <p:cNvPr id="20" name="Shape 18"/>
          <p:cNvSpPr/>
          <p:nvPr/>
        </p:nvSpPr>
        <p:spPr>
          <a:xfrm>
            <a:off x="749808" y="4526280"/>
            <a:ext cx="420624" cy="420624"/>
          </a:xfrm>
          <a:prstGeom prst="ellipse">
            <a:avLst/>
          </a:prstGeom>
          <a:solidFill>
            <a:srgbClr val="2C5F2D"/>
          </a:solidFill>
          <a:ln w="12700">
            <a:solidFill>
              <a:srgbClr val="2C5F2D"/>
            </a:solidFill>
            <a:prstDash val="solid"/>
          </a:ln>
        </p:spPr>
      </p:sp>
      <p:sp>
        <p:nvSpPr>
          <p:cNvPr id="21" name="Text 19"/>
          <p:cNvSpPr txBox="1"/>
          <p:nvPr/>
        </p:nvSpPr>
        <p:spPr>
          <a:xfrm>
            <a:off x="749808" y="45262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2" name="Text 20"/>
          <p:cNvSpPr txBox="1"/>
          <p:nvPr/>
        </p:nvSpPr>
        <p:spPr>
          <a:xfrm>
            <a:off x="1325880" y="4462272"/>
            <a:ext cx="3291840" cy="292608"/>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Bases de données</a:t>
            </a:r>
            <a:endParaRPr lang="en-US" sz="1600" dirty="0"/>
          </a:p>
        </p:txBody>
      </p:sp>
      <p:sp>
        <p:nvSpPr>
          <p:cNvPr id="23" name="Text 21"/>
          <p:cNvSpPr txBox="1"/>
          <p:nvPr/>
        </p:nvSpPr>
        <p:spPr>
          <a:xfrm>
            <a:off x="1325880" y="4764024"/>
            <a:ext cx="9966960" cy="27432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Modélisation relationnelle, transactions ACID, indexation, migrations</a:t>
            </a:r>
            <a:endParaRPr lang="en-US" sz="1250" dirty="0"/>
          </a:p>
        </p:txBody>
      </p:sp>
      <p:sp>
        <p:nvSpPr>
          <p:cNvPr id="24" name="Shape 22"/>
          <p:cNvSpPr/>
          <p:nvPr/>
        </p:nvSpPr>
        <p:spPr>
          <a:xfrm>
            <a:off x="548640" y="5257800"/>
            <a:ext cx="11064240" cy="786384"/>
          </a:xfrm>
          <a:prstGeom prst="roundRect">
            <a:avLst>
              <a:gd name="adj" fmla="val 6977"/>
            </a:avLst>
          </a:prstGeom>
          <a:solidFill>
            <a:srgbClr val="EEF3EA"/>
          </a:solidFill>
          <a:ln w="12700">
            <a:solidFill>
              <a:srgbClr val="EEF3EA"/>
            </a:solidFill>
            <a:prstDash val="solid"/>
          </a:ln>
        </p:spPr>
      </p:sp>
      <p:sp>
        <p:nvSpPr>
          <p:cNvPr id="25" name="Shape 23"/>
          <p:cNvSpPr/>
          <p:nvPr/>
        </p:nvSpPr>
        <p:spPr>
          <a:xfrm>
            <a:off x="749808" y="5440680"/>
            <a:ext cx="420624" cy="420624"/>
          </a:xfrm>
          <a:prstGeom prst="ellipse">
            <a:avLst/>
          </a:prstGeom>
          <a:solidFill>
            <a:srgbClr val="2C5F2D"/>
          </a:solidFill>
          <a:ln w="12700">
            <a:solidFill>
              <a:srgbClr val="2C5F2D"/>
            </a:solidFill>
            <a:prstDash val="solid"/>
          </a:ln>
        </p:spPr>
      </p:sp>
      <p:sp>
        <p:nvSpPr>
          <p:cNvPr id="26" name="Text 24"/>
          <p:cNvSpPr txBox="1"/>
          <p:nvPr/>
        </p:nvSpPr>
        <p:spPr>
          <a:xfrm>
            <a:off x="749808" y="54406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7" name="Text 25"/>
          <p:cNvSpPr txBox="1"/>
          <p:nvPr/>
        </p:nvSpPr>
        <p:spPr>
          <a:xfrm>
            <a:off x="1325880" y="5376672"/>
            <a:ext cx="3291840" cy="292608"/>
          </a:xfrm>
          <a:prstGeom prst="rect">
            <a:avLst/>
          </a:prstGeom>
          <a:noFill/>
          <a:ln/>
        </p:spPr>
        <p:txBody>
          <a:bodyPr wrap="square" lIns="0" tIns="0" rIns="0" bIns="0" rtlCol="0" anchor="ctr"/>
          <a:lstStyle/>
          <a:p>
            <a:pPr indent="0" marL="0">
              <a:buNone/>
            </a:pPr>
            <a:r>
              <a:rPr lang="en-US" sz="1600" b="1" dirty="0">
                <a:solidFill>
                  <a:srgbClr val="2C5F2D"/>
                </a:solidFill>
                <a:latin typeface="Calibri" pitchFamily="34" charset="0"/>
                <a:ea typeface="Calibri" pitchFamily="34" charset="-122"/>
                <a:cs typeface="Calibri" pitchFamily="34" charset="-120"/>
              </a:rPr>
              <a:t>Réseau, IoT et cloud</a:t>
            </a:r>
            <a:endParaRPr lang="en-US" sz="1600" dirty="0"/>
          </a:p>
        </p:txBody>
      </p:sp>
      <p:sp>
        <p:nvSpPr>
          <p:cNvPr id="28" name="Text 26"/>
          <p:cNvSpPr txBox="1"/>
          <p:nvPr/>
        </p:nvSpPr>
        <p:spPr>
          <a:xfrm>
            <a:off x="1325880" y="5678424"/>
            <a:ext cx="9966960" cy="274320"/>
          </a:xfrm>
          <a:prstGeom prst="rect">
            <a:avLst/>
          </a:prstGeom>
          <a:noFill/>
          <a:ln/>
        </p:spPr>
        <p:txBody>
          <a:bodyPr wrap="square" lIns="0" tIns="0" rIns="0" bIns="0" rtlCol="0" anchor="ctr"/>
          <a:lstStyle/>
          <a:p>
            <a:pPr indent="0" marL="0">
              <a:buNone/>
            </a:pPr>
            <a:r>
              <a:rPr lang="en-US" sz="1250" dirty="0">
                <a:solidFill>
                  <a:srgbClr val="5F6B5F"/>
                </a:solidFill>
                <a:latin typeface="Calibri" pitchFamily="34" charset="0"/>
                <a:ea typeface="Calibri" pitchFamily="34" charset="-122"/>
                <a:cs typeface="Calibri" pitchFamily="34" charset="-120"/>
              </a:rPr>
              <a:t>Capteurs de parcelle, ingestion des trames, Docker multi-conteneurs, AWS EC2</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3A1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28600"/>
          </a:xfrm>
          <a:prstGeom prst="rect">
            <a:avLst/>
          </a:prstGeom>
          <a:noFill/>
          <a:ln/>
        </p:spPr>
        <p:txBody>
          <a:bodyPr wrap="square" lIns="0" tIns="0" rIns="0" bIns="0" rtlCol="0" anchor="ctr"/>
          <a:lstStyle/>
          <a:p>
            <a:pPr indent="0" marL="0">
              <a:buNone/>
            </a:pPr>
            <a:r>
              <a:rPr lang="en-US" sz="1200" b="1" spc="200" kern="0" dirty="0">
                <a:solidFill>
                  <a:srgbClr val="97BC62"/>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Un produit, pas un exercice</a:t>
            </a:r>
            <a:endParaRPr lang="en-US" sz="3400" dirty="0"/>
          </a:p>
        </p:txBody>
      </p:sp>
      <p:sp>
        <p:nvSpPr>
          <p:cNvPr id="4" name="Shape 2"/>
          <p:cNvSpPr/>
          <p:nvPr/>
        </p:nvSpPr>
        <p:spPr>
          <a:xfrm>
            <a:off x="548640" y="1645920"/>
            <a:ext cx="5440680" cy="1463040"/>
          </a:xfrm>
          <a:prstGeom prst="roundRect">
            <a:avLst>
              <a:gd name="adj" fmla="val 3750"/>
            </a:avLst>
          </a:prstGeom>
          <a:solidFill>
            <a:srgbClr val="26492A"/>
          </a:solidFill>
          <a:ln w="12700">
            <a:solidFill>
              <a:srgbClr val="26492A"/>
            </a:solidFill>
            <a:prstDash val="solid"/>
          </a:ln>
        </p:spPr>
      </p:sp>
      <p:sp>
        <p:nvSpPr>
          <p:cNvPr id="5" name="Text 3"/>
          <p:cNvSpPr txBox="1"/>
          <p:nvPr/>
        </p:nvSpPr>
        <p:spPr>
          <a:xfrm>
            <a:off x="868680" y="1901952"/>
            <a:ext cx="4800600" cy="347472"/>
          </a:xfrm>
          <a:prstGeom prst="rect">
            <a:avLst/>
          </a:prstGeom>
          <a:noFill/>
          <a:ln/>
        </p:spPr>
        <p:txBody>
          <a:bodyPr wrap="square" lIns="0" tIns="0" rIns="0" bIns="0" rtlCol="0" anchor="ctr"/>
          <a:lstStyle/>
          <a:p>
            <a:pPr indent="0" marL="0">
              <a:buNone/>
            </a:pPr>
            <a:r>
              <a:rPr lang="en-US" sz="2000" b="1" dirty="0">
                <a:solidFill>
                  <a:srgbClr val="97BC62"/>
                </a:solidFill>
                <a:latin typeface="Cambria" pitchFamily="34" charset="0"/>
                <a:ea typeface="Cambria" pitchFamily="34" charset="-122"/>
                <a:cs typeface="Cambria" pitchFamily="34" charset="-120"/>
              </a:rPr>
              <a:t>Fonctionnel</a:t>
            </a:r>
            <a:endParaRPr lang="en-US" sz="2000" dirty="0"/>
          </a:p>
        </p:txBody>
      </p:sp>
      <p:sp>
        <p:nvSpPr>
          <p:cNvPr id="6" name="Text 4"/>
          <p:cNvSpPr txBox="1"/>
          <p:nvPr/>
        </p:nvSpPr>
        <p:spPr>
          <a:xfrm>
            <a:off x="868680" y="2331720"/>
            <a:ext cx="4800600" cy="594360"/>
          </a:xfrm>
          <a:prstGeom prst="rect">
            <a:avLst/>
          </a:prstGeom>
          <a:noFill/>
          <a:ln/>
        </p:spPr>
        <p:txBody>
          <a:bodyPr wrap="square" lIns="0" tIns="0" rIns="0" bIns="0" rtlCol="0" anchor="ctr"/>
          <a:lstStyle/>
          <a:p>
            <a:pPr indent="0" marL="0">
              <a:buNone/>
            </a:pPr>
            <a:r>
              <a:rPr lang="en-US" sz="1300" dirty="0">
                <a:solidFill>
                  <a:srgbClr val="D8E8CF"/>
                </a:solidFill>
                <a:latin typeface="Calibri" pitchFamily="34" charset="0"/>
                <a:ea typeface="Calibri" pitchFamily="34" charset="-122"/>
                <a:cs typeface="Calibri" pitchFamily="34" charset="-120"/>
              </a:rPr>
              <a:t>L'application tourne en production et reste accessible en continu.</a:t>
            </a:r>
            <a:endParaRPr lang="en-US" sz="1300" dirty="0"/>
          </a:p>
        </p:txBody>
      </p:sp>
      <p:sp>
        <p:nvSpPr>
          <p:cNvPr id="7" name="Shape 5"/>
          <p:cNvSpPr/>
          <p:nvPr/>
        </p:nvSpPr>
        <p:spPr>
          <a:xfrm>
            <a:off x="6172200" y="1645920"/>
            <a:ext cx="5440680" cy="1463040"/>
          </a:xfrm>
          <a:prstGeom prst="roundRect">
            <a:avLst>
              <a:gd name="adj" fmla="val 3750"/>
            </a:avLst>
          </a:prstGeom>
          <a:solidFill>
            <a:srgbClr val="26492A"/>
          </a:solidFill>
          <a:ln w="12700">
            <a:solidFill>
              <a:srgbClr val="26492A"/>
            </a:solidFill>
            <a:prstDash val="solid"/>
          </a:ln>
        </p:spPr>
      </p:sp>
      <p:sp>
        <p:nvSpPr>
          <p:cNvPr id="8" name="Text 6"/>
          <p:cNvSpPr txBox="1"/>
          <p:nvPr/>
        </p:nvSpPr>
        <p:spPr>
          <a:xfrm>
            <a:off x="6492240" y="1901952"/>
            <a:ext cx="4800600" cy="347472"/>
          </a:xfrm>
          <a:prstGeom prst="rect">
            <a:avLst/>
          </a:prstGeom>
          <a:noFill/>
          <a:ln/>
        </p:spPr>
        <p:txBody>
          <a:bodyPr wrap="square" lIns="0" tIns="0" rIns="0" bIns="0" rtlCol="0" anchor="ctr"/>
          <a:lstStyle/>
          <a:p>
            <a:pPr indent="0" marL="0">
              <a:buNone/>
            </a:pPr>
            <a:r>
              <a:rPr lang="en-US" sz="2000" b="1" dirty="0">
                <a:solidFill>
                  <a:srgbClr val="97BC62"/>
                </a:solidFill>
                <a:latin typeface="Cambria" pitchFamily="34" charset="0"/>
                <a:ea typeface="Cambria" pitchFamily="34" charset="-122"/>
                <a:cs typeface="Cambria" pitchFamily="34" charset="-120"/>
              </a:rPr>
              <a:t>Conforme</a:t>
            </a:r>
            <a:endParaRPr lang="en-US" sz="2000" dirty="0"/>
          </a:p>
        </p:txBody>
      </p:sp>
      <p:sp>
        <p:nvSpPr>
          <p:cNvPr id="9" name="Text 7"/>
          <p:cNvSpPr txBox="1"/>
          <p:nvPr/>
        </p:nvSpPr>
        <p:spPr>
          <a:xfrm>
            <a:off x="6492240" y="2331720"/>
            <a:ext cx="4800600" cy="594360"/>
          </a:xfrm>
          <a:prstGeom prst="rect">
            <a:avLst/>
          </a:prstGeom>
          <a:noFill/>
          <a:ln/>
        </p:spPr>
        <p:txBody>
          <a:bodyPr wrap="square" lIns="0" tIns="0" rIns="0" bIns="0" rtlCol="0" anchor="ctr"/>
          <a:lstStyle/>
          <a:p>
            <a:pPr indent="0" marL="0">
              <a:buNone/>
            </a:pPr>
            <a:r>
              <a:rPr lang="en-US" sz="1300" dirty="0">
                <a:solidFill>
                  <a:srgbClr val="D8E8CF"/>
                </a:solidFill>
                <a:latin typeface="Calibri" pitchFamily="34" charset="0"/>
                <a:ea typeface="Calibri" pitchFamily="34" charset="-122"/>
                <a:cs typeface="Calibri" pitchFamily="34" charset="-120"/>
              </a:rPr>
              <a:t>Tous les objectifs du cahier des charges sont couverts et vérifiables.</a:t>
            </a:r>
            <a:endParaRPr lang="en-US" sz="1300" dirty="0"/>
          </a:p>
        </p:txBody>
      </p:sp>
      <p:sp>
        <p:nvSpPr>
          <p:cNvPr id="10" name="Shape 8"/>
          <p:cNvSpPr/>
          <p:nvPr/>
        </p:nvSpPr>
        <p:spPr>
          <a:xfrm>
            <a:off x="548640" y="3337560"/>
            <a:ext cx="5440680" cy="1463040"/>
          </a:xfrm>
          <a:prstGeom prst="roundRect">
            <a:avLst>
              <a:gd name="adj" fmla="val 3750"/>
            </a:avLst>
          </a:prstGeom>
          <a:solidFill>
            <a:srgbClr val="26492A"/>
          </a:solidFill>
          <a:ln w="12700">
            <a:solidFill>
              <a:srgbClr val="26492A"/>
            </a:solidFill>
            <a:prstDash val="solid"/>
          </a:ln>
        </p:spPr>
      </p:sp>
      <p:sp>
        <p:nvSpPr>
          <p:cNvPr id="11" name="Text 9"/>
          <p:cNvSpPr txBox="1"/>
          <p:nvPr/>
        </p:nvSpPr>
        <p:spPr>
          <a:xfrm>
            <a:off x="868680" y="3593592"/>
            <a:ext cx="4800600" cy="347472"/>
          </a:xfrm>
          <a:prstGeom prst="rect">
            <a:avLst/>
          </a:prstGeom>
          <a:noFill/>
          <a:ln/>
        </p:spPr>
        <p:txBody>
          <a:bodyPr wrap="square" lIns="0" tIns="0" rIns="0" bIns="0" rtlCol="0" anchor="ctr"/>
          <a:lstStyle/>
          <a:p>
            <a:pPr indent="0" marL="0">
              <a:buNone/>
            </a:pPr>
            <a:r>
              <a:rPr lang="en-US" sz="2000" b="1" dirty="0">
                <a:solidFill>
                  <a:srgbClr val="97BC62"/>
                </a:solidFill>
                <a:latin typeface="Cambria" pitchFamily="34" charset="0"/>
                <a:ea typeface="Cambria" pitchFamily="34" charset="-122"/>
                <a:cs typeface="Cambria" pitchFamily="34" charset="-120"/>
              </a:rPr>
              <a:t>Documenté</a:t>
            </a:r>
            <a:endParaRPr lang="en-US" sz="2000" dirty="0"/>
          </a:p>
        </p:txBody>
      </p:sp>
      <p:sp>
        <p:nvSpPr>
          <p:cNvPr id="12" name="Text 10"/>
          <p:cNvSpPr txBox="1"/>
          <p:nvPr/>
        </p:nvSpPr>
        <p:spPr>
          <a:xfrm>
            <a:off x="868680" y="4023360"/>
            <a:ext cx="4800600" cy="594360"/>
          </a:xfrm>
          <a:prstGeom prst="rect">
            <a:avLst/>
          </a:prstGeom>
          <a:noFill/>
          <a:ln/>
        </p:spPr>
        <p:txBody>
          <a:bodyPr wrap="square" lIns="0" tIns="0" rIns="0" bIns="0" rtlCol="0" anchor="ctr"/>
          <a:lstStyle/>
          <a:p>
            <a:pPr indent="0" marL="0">
              <a:buNone/>
            </a:pPr>
            <a:r>
              <a:rPr lang="en-US" sz="1300" dirty="0">
                <a:solidFill>
                  <a:srgbClr val="D8E8CF"/>
                </a:solidFill>
                <a:latin typeface="Calibri" pitchFamily="34" charset="0"/>
                <a:ea typeface="Calibri" pitchFamily="34" charset="-122"/>
                <a:cs typeface="Calibri" pitchFamily="34" charset="-120"/>
              </a:rPr>
              <a:t>Architecture réseau, justifications techniques et guide de déploiement rédigés.</a:t>
            </a:r>
            <a:endParaRPr lang="en-US" sz="1300" dirty="0"/>
          </a:p>
        </p:txBody>
      </p:sp>
      <p:sp>
        <p:nvSpPr>
          <p:cNvPr id="13" name="Shape 11"/>
          <p:cNvSpPr/>
          <p:nvPr/>
        </p:nvSpPr>
        <p:spPr>
          <a:xfrm>
            <a:off x="6172200" y="3337560"/>
            <a:ext cx="5440680" cy="1463040"/>
          </a:xfrm>
          <a:prstGeom prst="roundRect">
            <a:avLst>
              <a:gd name="adj" fmla="val 3750"/>
            </a:avLst>
          </a:prstGeom>
          <a:solidFill>
            <a:srgbClr val="26492A"/>
          </a:solidFill>
          <a:ln w="12700">
            <a:solidFill>
              <a:srgbClr val="26492A"/>
            </a:solidFill>
            <a:prstDash val="solid"/>
          </a:ln>
        </p:spPr>
      </p:sp>
      <p:sp>
        <p:nvSpPr>
          <p:cNvPr id="14" name="Text 12"/>
          <p:cNvSpPr txBox="1"/>
          <p:nvPr/>
        </p:nvSpPr>
        <p:spPr>
          <a:xfrm>
            <a:off x="6492240" y="3593592"/>
            <a:ext cx="4800600" cy="347472"/>
          </a:xfrm>
          <a:prstGeom prst="rect">
            <a:avLst/>
          </a:prstGeom>
          <a:noFill/>
          <a:ln/>
        </p:spPr>
        <p:txBody>
          <a:bodyPr wrap="square" lIns="0" tIns="0" rIns="0" bIns="0" rtlCol="0" anchor="ctr"/>
          <a:lstStyle/>
          <a:p>
            <a:pPr indent="0" marL="0">
              <a:buNone/>
            </a:pPr>
            <a:r>
              <a:rPr lang="en-US" sz="2000" b="1" dirty="0">
                <a:solidFill>
                  <a:srgbClr val="97BC62"/>
                </a:solidFill>
                <a:latin typeface="Cambria" pitchFamily="34" charset="0"/>
                <a:ea typeface="Cambria" pitchFamily="34" charset="-122"/>
                <a:cs typeface="Cambria" pitchFamily="34" charset="-120"/>
              </a:rPr>
              <a:t>Évolutif</a:t>
            </a:r>
            <a:endParaRPr lang="en-US" sz="2000" dirty="0"/>
          </a:p>
        </p:txBody>
      </p:sp>
      <p:sp>
        <p:nvSpPr>
          <p:cNvPr id="15" name="Text 13"/>
          <p:cNvSpPr txBox="1"/>
          <p:nvPr/>
        </p:nvSpPr>
        <p:spPr>
          <a:xfrm>
            <a:off x="6492240" y="4023360"/>
            <a:ext cx="4800600" cy="594360"/>
          </a:xfrm>
          <a:prstGeom prst="rect">
            <a:avLst/>
          </a:prstGeom>
          <a:noFill/>
          <a:ln/>
        </p:spPr>
        <p:txBody>
          <a:bodyPr wrap="square" lIns="0" tIns="0" rIns="0" bIns="0" rtlCol="0" anchor="ctr"/>
          <a:lstStyle/>
          <a:p>
            <a:pPr indent="0" marL="0">
              <a:buNone/>
            </a:pPr>
            <a:r>
              <a:rPr lang="en-US" sz="1300" dirty="0">
                <a:solidFill>
                  <a:srgbClr val="D8E8CF"/>
                </a:solidFill>
                <a:latin typeface="Calibri" pitchFamily="34" charset="0"/>
                <a:ea typeface="Calibri" pitchFamily="34" charset="-122"/>
                <a:cs typeface="Calibri" pitchFamily="34" charset="-120"/>
              </a:rPr>
              <a:t>L'architecture supporte la montée en charge sans réécriture.</a:t>
            </a:r>
            <a:endParaRPr lang="en-US" sz="1300" dirty="0"/>
          </a:p>
        </p:txBody>
      </p:sp>
      <p:sp>
        <p:nvSpPr>
          <p:cNvPr id="16" name="Text 14"/>
          <p:cNvSpPr txBox="1"/>
          <p:nvPr/>
        </p:nvSpPr>
        <p:spPr>
          <a:xfrm>
            <a:off x="548640" y="5257800"/>
            <a:ext cx="11064240" cy="457200"/>
          </a:xfrm>
          <a:prstGeom prst="rect">
            <a:avLst/>
          </a:prstGeom>
          <a:noFill/>
          <a:ln/>
        </p:spPr>
        <p:txBody>
          <a:bodyPr wrap="square" lIns="0" tIns="0" rIns="0" bIns="0" rtlCol="0" anchor="ctr"/>
          <a:lstStyle/>
          <a:p>
            <a:pPr indent="0" marL="0">
              <a:buNone/>
            </a:pPr>
            <a:r>
              <a:rPr lang="en-US" sz="1800" b="1" i="1" dirty="0">
                <a:solidFill>
                  <a:srgbClr val="FFFFFF"/>
                </a:solidFill>
                <a:latin typeface="Cambria" pitchFamily="34" charset="0"/>
                <a:ea typeface="Cambria" pitchFamily="34" charset="-122"/>
                <a:cs typeface="Cambria" pitchFamily="34" charset="-120"/>
              </a:rPr>
              <a:t>PlantDiag est immédiatement utilisable par un agriculteur, depuis son téléphone, dans son champ.</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1C"/>
        </a:solidFill>
      </p:bgPr>
    </p:bg>
    <p:spTree>
      <p:nvGrpSpPr>
        <p:cNvPr id="1" name=""/>
        <p:cNvGrpSpPr/>
        <p:nvPr/>
      </p:nvGrpSpPr>
      <p:grpSpPr>
        <a:xfrm>
          <a:off x="0" y="0"/>
          <a:ext cx="0" cy="0"/>
          <a:chOff x="0" y="0"/>
          <a:chExt cx="0" cy="0"/>
        </a:xfrm>
      </p:grpSpPr>
      <p:sp>
        <p:nvSpPr>
          <p:cNvPr id="2" name="Shape 0"/>
          <p:cNvSpPr/>
          <p:nvPr/>
        </p:nvSpPr>
        <p:spPr>
          <a:xfrm>
            <a:off x="9875520" y="4480560"/>
            <a:ext cx="3840480" cy="3840480"/>
          </a:xfrm>
          <a:prstGeom prst="ellipse">
            <a:avLst/>
          </a:prstGeom>
          <a:solidFill>
            <a:srgbClr val="2C5F2D"/>
          </a:solidFill>
          <a:ln w="12700">
            <a:solidFill>
              <a:srgbClr val="2C5F2D"/>
            </a:solidFill>
            <a:prstDash val="solid"/>
          </a:ln>
        </p:spPr>
      </p:sp>
      <p:sp>
        <p:nvSpPr>
          <p:cNvPr id="3" name="Text 1"/>
          <p:cNvSpPr txBox="1"/>
          <p:nvPr/>
        </p:nvSpPr>
        <p:spPr>
          <a:xfrm>
            <a:off x="548640" y="1737360"/>
            <a:ext cx="8229600" cy="91440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Questions</a:t>
            </a:r>
            <a:endParaRPr lang="en-US" sz="5600" dirty="0"/>
          </a:p>
        </p:txBody>
      </p:sp>
      <p:sp>
        <p:nvSpPr>
          <p:cNvPr id="4" name="Text 2"/>
          <p:cNvSpPr txBox="1"/>
          <p:nvPr/>
        </p:nvSpPr>
        <p:spPr>
          <a:xfrm>
            <a:off x="548640" y="2743200"/>
            <a:ext cx="8229600" cy="411480"/>
          </a:xfrm>
          <a:prstGeom prst="rect">
            <a:avLst/>
          </a:prstGeom>
          <a:noFill/>
          <a:ln/>
        </p:spPr>
        <p:txBody>
          <a:bodyPr wrap="square" lIns="0" tIns="0" rIns="0" bIns="0" rtlCol="0" anchor="ctr"/>
          <a:lstStyle/>
          <a:p>
            <a:pPr indent="0" marL="0">
              <a:buNone/>
            </a:pPr>
            <a:r>
              <a:rPr lang="en-US" sz="2000" dirty="0">
                <a:solidFill>
                  <a:srgbClr val="97BC62"/>
                </a:solidFill>
                <a:latin typeface="Calibri" pitchFamily="34" charset="0"/>
                <a:ea typeface="Calibri" pitchFamily="34" charset="-122"/>
                <a:cs typeface="Calibri" pitchFamily="34" charset="-120"/>
              </a:rPr>
              <a:t>Merci de votre attention</a:t>
            </a:r>
            <a:endParaRPr lang="en-US" sz="2000" dirty="0"/>
          </a:p>
        </p:txBody>
      </p:sp>
      <p:sp>
        <p:nvSpPr>
          <p:cNvPr id="5" name="Text 3"/>
          <p:cNvSpPr txBox="1"/>
          <p:nvPr/>
        </p:nvSpPr>
        <p:spPr>
          <a:xfrm>
            <a:off x="548640" y="3794760"/>
            <a:ext cx="2651760" cy="292608"/>
          </a:xfrm>
          <a:prstGeom prst="rect">
            <a:avLst/>
          </a:prstGeom>
          <a:noFill/>
          <a:ln/>
        </p:spPr>
        <p:txBody>
          <a:bodyPr wrap="square" lIns="0" tIns="0" rIns="0" bIns="0" rtlCol="0" anchor="ctr"/>
          <a:lstStyle/>
          <a:p>
            <a:pPr indent="0" marL="0">
              <a:buNone/>
            </a:pPr>
            <a:r>
              <a:rPr lang="en-US" sz="1300" dirty="0">
                <a:solidFill>
                  <a:srgbClr val="97BC62"/>
                </a:solidFill>
                <a:latin typeface="Calibri" pitchFamily="34" charset="0"/>
                <a:ea typeface="Calibri" pitchFamily="34" charset="-122"/>
                <a:cs typeface="Calibri" pitchFamily="34" charset="-120"/>
              </a:rPr>
              <a:t>Application</a:t>
            </a:r>
            <a:endParaRPr lang="en-US" sz="1300" dirty="0"/>
          </a:p>
        </p:txBody>
      </p:sp>
      <p:sp>
        <p:nvSpPr>
          <p:cNvPr id="6" name="Text 4"/>
          <p:cNvSpPr txBox="1"/>
          <p:nvPr/>
        </p:nvSpPr>
        <p:spPr>
          <a:xfrm>
            <a:off x="3200400" y="3794760"/>
            <a:ext cx="6400800" cy="292608"/>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http://13.51.48.254:8000</a:t>
            </a:r>
            <a:endParaRPr lang="en-US" sz="1400" dirty="0"/>
          </a:p>
        </p:txBody>
      </p:sp>
      <p:sp>
        <p:nvSpPr>
          <p:cNvPr id="7" name="Text 5"/>
          <p:cNvSpPr txBox="1"/>
          <p:nvPr/>
        </p:nvSpPr>
        <p:spPr>
          <a:xfrm>
            <a:off x="548640" y="4480560"/>
            <a:ext cx="2651760" cy="292608"/>
          </a:xfrm>
          <a:prstGeom prst="rect">
            <a:avLst/>
          </a:prstGeom>
          <a:noFill/>
          <a:ln/>
        </p:spPr>
        <p:txBody>
          <a:bodyPr wrap="square" lIns="0" tIns="0" rIns="0" bIns="0" rtlCol="0" anchor="ctr"/>
          <a:lstStyle/>
          <a:p>
            <a:pPr indent="0" marL="0">
              <a:buNone/>
            </a:pPr>
            <a:r>
              <a:rPr lang="en-US" sz="1300" dirty="0">
                <a:solidFill>
                  <a:srgbClr val="97BC62"/>
                </a:solidFill>
                <a:latin typeface="Calibri" pitchFamily="34" charset="0"/>
                <a:ea typeface="Calibri" pitchFamily="34" charset="-122"/>
                <a:cs typeface="Calibri" pitchFamily="34" charset="-120"/>
              </a:rPr>
              <a:t>Documentation API</a:t>
            </a:r>
            <a:endParaRPr lang="en-US" sz="1300" dirty="0"/>
          </a:p>
        </p:txBody>
      </p:sp>
      <p:sp>
        <p:nvSpPr>
          <p:cNvPr id="8" name="Text 6"/>
          <p:cNvSpPr txBox="1"/>
          <p:nvPr/>
        </p:nvSpPr>
        <p:spPr>
          <a:xfrm>
            <a:off x="3200400" y="4480560"/>
            <a:ext cx="6400800" cy="292608"/>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http://13.51.48.254:8000/docs</a:t>
            </a:r>
            <a:endParaRPr lang="en-US" sz="1400" dirty="0"/>
          </a:p>
        </p:txBody>
      </p:sp>
      <p:sp>
        <p:nvSpPr>
          <p:cNvPr id="9" name="Text 7"/>
          <p:cNvSpPr txBox="1"/>
          <p:nvPr/>
        </p:nvSpPr>
        <p:spPr>
          <a:xfrm>
            <a:off x="548640" y="5166360"/>
            <a:ext cx="2651760" cy="292608"/>
          </a:xfrm>
          <a:prstGeom prst="rect">
            <a:avLst/>
          </a:prstGeom>
          <a:noFill/>
          <a:ln/>
        </p:spPr>
        <p:txBody>
          <a:bodyPr wrap="square" lIns="0" tIns="0" rIns="0" bIns="0" rtlCol="0" anchor="ctr"/>
          <a:lstStyle/>
          <a:p>
            <a:pPr indent="0" marL="0">
              <a:buNone/>
            </a:pPr>
            <a:r>
              <a:rPr lang="en-US" sz="1300" dirty="0">
                <a:solidFill>
                  <a:srgbClr val="97BC62"/>
                </a:solidFill>
                <a:latin typeface="Calibri" pitchFamily="34" charset="0"/>
                <a:ea typeface="Calibri" pitchFamily="34" charset="-122"/>
                <a:cs typeface="Calibri" pitchFamily="34" charset="-120"/>
              </a:rPr>
              <a:t>Code source</a:t>
            </a:r>
            <a:endParaRPr lang="en-US" sz="1300" dirty="0"/>
          </a:p>
        </p:txBody>
      </p:sp>
      <p:sp>
        <p:nvSpPr>
          <p:cNvPr id="10" name="Text 8"/>
          <p:cNvSpPr txBox="1"/>
          <p:nvPr/>
        </p:nvSpPr>
        <p:spPr>
          <a:xfrm>
            <a:off x="3200400" y="5166360"/>
            <a:ext cx="6400800" cy="292608"/>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github.com/Antonito35/diagnositique-plante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PlantDiag - Soutenance Bachelor 2</dc:title>
  <dc:subject>PptxGenJS Presentation</dc:subject>
  <dc:creator>Antoine SIMON</dc:creator>
  <cp:lastModifiedBy>Antoine SIMON</cp:lastModifiedBy>
  <cp:revision>1</cp:revision>
  <dcterms:created xsi:type="dcterms:W3CDTF">2026-09-21T08:14:18Z</dcterms:created>
  <dcterms:modified xsi:type="dcterms:W3CDTF">2026-09-21T08:14:18Z</dcterms:modified>
</cp:coreProperties>
</file>