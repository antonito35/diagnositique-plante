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0" r:id="rId14"/>
    <p:sldId id="272" r:id="rId15"/>
    <p:sldId id="271"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4021" autoAdjust="0"/>
  </p:normalViewPr>
  <p:slideViewPr>
    <p:cSldViewPr snapToGrid="0" snapToObjects="1">
      <p:cViewPr varScale="1">
        <p:scale>
          <a:sx n="61" d="100"/>
          <a:sy n="61" d="100"/>
        </p:scale>
        <p:origin x="1493"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59602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m'appelle Antoine SIMON et je presente PlantDiag, un systeme de diagnostic agricole par intelligence artificielle, realise dans le cadre du Bachelor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Les agriculteurs ont un vrai problème. Quand une maladie touche une culture, il faut la reconnaître vite. Sinon, on peut perdre toute la récolte.</a:t>
            </a:r>
          </a:p>
          <a:p>
            <a:r>
              <a:rPr lang="fr-FR" sz="1200" kern="1200" dirty="0">
                <a:solidFill>
                  <a:schemeClr val="tx1"/>
                </a:solidFill>
                <a:effectLst/>
                <a:latin typeface="+mn-lt"/>
                <a:ea typeface="+mn-ea"/>
                <a:cs typeface="+mn-cs"/>
              </a:rPr>
              <a:t>Aujourd'hui, il y a deux solutions. Soit on regarde soi-même, mais c'est long et pas très fiable. Soit on appelle un technicien, mais ça prend du temps et ça coûte cher. Pour les petites et moyennes fermes, il n'existe rien de simple.</a:t>
            </a:r>
          </a:p>
          <a:p>
            <a:r>
              <a:rPr lang="fr-FR" sz="1200" kern="1200" dirty="0">
                <a:solidFill>
                  <a:schemeClr val="tx1"/>
                </a:solidFill>
                <a:effectLst/>
                <a:latin typeface="+mn-lt"/>
                <a:ea typeface="+mn-ea"/>
                <a:cs typeface="+mn-cs"/>
              </a:rPr>
              <a:t>Notre solution : on prend une photo d'une feuille, et on obtient tout de suite un diagnostic. En plus, des capteurs surveillent les champs en continu.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 </a:t>
            </a:r>
          </a:p>
          <a:p>
            <a:r>
              <a:rPr lang="fr-FR" sz="1200" kern="1200" dirty="0">
                <a:solidFill>
                  <a:schemeClr val="tx1"/>
                </a:solidFill>
                <a:effectLst/>
                <a:latin typeface="+mn-lt"/>
                <a:ea typeface="+mn-ea"/>
                <a:cs typeface="+mn-cs"/>
              </a:rPr>
              <a:t>Le cahier des charges demandait cinq choses : une application qui marche sur téléphone et sur ordinateur, une fonction d'intelligence artificielle, une mise en ligne sur le cloud, un réseau de capteurs connectés, et l'utilisation de trois technologies précises, bien documentées.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Passons à la démonstration. L'application est en ligne, à l'adresse affichée à l'écran.</a:t>
            </a:r>
          </a:p>
          <a:p>
            <a:r>
              <a:rPr lang="fr-FR" sz="1200" kern="1200" dirty="0">
                <a:solidFill>
                  <a:schemeClr val="tx1"/>
                </a:solidFill>
                <a:effectLst/>
                <a:latin typeface="+mn-lt"/>
                <a:ea typeface="+mn-ea"/>
                <a:cs typeface="+mn-cs"/>
              </a:rPr>
              <a:t>D'abord, je crée une parcelle : je donne un nom de champ et un type de culture. Elle est enregistrée tout de suite.</a:t>
            </a:r>
          </a:p>
          <a:p>
            <a:r>
              <a:rPr lang="fr-FR" sz="1200" kern="1200" dirty="0">
                <a:solidFill>
                  <a:schemeClr val="tx1"/>
                </a:solidFill>
                <a:effectLst/>
                <a:latin typeface="+mn-lt"/>
                <a:ea typeface="+mn-ea"/>
                <a:cs typeface="+mn-cs"/>
              </a:rPr>
              <a:t>Ensuite, dans l'onglet Diagnostic, j'envoie une photo de feuille. L'analyse dure environ une seconde et demie. On voit la maladie trouvée, le niveau de confiance, la gravité, et les traitements conseillés.</a:t>
            </a:r>
          </a:p>
          <a:p>
            <a:r>
              <a:rPr lang="fr-FR" sz="1200" kern="1200" dirty="0">
                <a:solidFill>
                  <a:schemeClr val="tx1"/>
                </a:solidFill>
                <a:effectLst/>
                <a:latin typeface="+mn-lt"/>
                <a:ea typeface="+mn-ea"/>
                <a:cs typeface="+mn-cs"/>
              </a:rPr>
              <a:t>Dans l'onglet Capteurs, voici le réseau. Chaque parcelle a son propre boîtier, qui envoie six mesures. On voit combien de capteurs sont en ligne, et combien de données ont été reçues depuis le début. Les chiffres changent chaque minute.</a:t>
            </a:r>
          </a:p>
          <a:p>
            <a:r>
              <a:rPr lang="fr-FR" sz="1200" kern="1200" dirty="0">
                <a:solidFill>
                  <a:schemeClr val="tx1"/>
                </a:solidFill>
                <a:effectLst/>
                <a:latin typeface="+mn-lt"/>
                <a:ea typeface="+mn-ea"/>
                <a:cs typeface="+mn-cs"/>
              </a:rPr>
              <a:t>Dans l'onglet Alertes, tout se rassemble. Le serveur compare les données des capteurs, le dernier diagnostic et la météo. Il classe ensuite les alertes selon leur gravité.</a:t>
            </a:r>
          </a:p>
          <a:p>
            <a:r>
              <a:rPr lang="fr-FR" sz="1200" kern="1200" dirty="0">
                <a:solidFill>
                  <a:schemeClr val="tx1"/>
                </a:solidFill>
                <a:effectLst/>
                <a:latin typeface="+mn-lt"/>
                <a:ea typeface="+mn-ea"/>
                <a:cs typeface="+mn-cs"/>
              </a:rPr>
              <a:t>Enfin, la météo : je peux chercher une ville, voir la météo des cinq jours à venir, et garder mes villes préférées en favoris.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Pour résumer, il y a six fonctions : le diagnostic par photo, les capteurs, la gestion des parcelles, l'historique, la météo en direct, et les alertes.</a:t>
            </a:r>
          </a:p>
          <a:p>
            <a:r>
              <a:rPr lang="fr-FR" sz="1200" kern="1200" dirty="0">
                <a:solidFill>
                  <a:schemeClr val="tx1"/>
                </a:solidFill>
                <a:effectLst/>
                <a:latin typeface="+mn-lt"/>
                <a:ea typeface="+mn-ea"/>
                <a:cs typeface="+mn-cs"/>
              </a:rPr>
              <a:t>Tout est enregistré dans une base de données. Rien n'est perdu, même si on ferme le navigateur.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L'architecture commence sur le terrain. Chaque parcelle a un capteur, qui envoie ses mesures à l'API.</a:t>
            </a:r>
          </a:p>
          <a:p>
            <a:r>
              <a:rPr lang="fr-FR" sz="1200" kern="1200" dirty="0">
                <a:solidFill>
                  <a:schemeClr val="tx1"/>
                </a:solidFill>
                <a:effectLst/>
                <a:latin typeface="+mn-lt"/>
                <a:ea typeface="+mn-ea"/>
                <a:cs typeface="+mn-cs"/>
              </a:rPr>
              <a:t>Ensuite, il y a quatre niveaux. </a:t>
            </a:r>
          </a:p>
          <a:p>
            <a:r>
              <a:rPr lang="fr-FR" sz="1200" kern="1200" dirty="0">
                <a:solidFill>
                  <a:schemeClr val="tx1"/>
                </a:solidFill>
                <a:effectLst/>
                <a:latin typeface="+mn-lt"/>
                <a:ea typeface="+mn-ea"/>
                <a:cs typeface="+mn-cs"/>
              </a:rPr>
              <a:t>Premier niveau : l'affichage, avec le site qui s'adapte à tous les écrans. </a:t>
            </a:r>
          </a:p>
          <a:p>
            <a:r>
              <a:rPr lang="fr-FR" sz="1200" kern="1200" dirty="0">
                <a:solidFill>
                  <a:schemeClr val="tx1"/>
                </a:solidFill>
                <a:effectLst/>
                <a:latin typeface="+mn-lt"/>
                <a:ea typeface="+mn-ea"/>
                <a:cs typeface="+mn-cs"/>
              </a:rPr>
              <a:t>Deuxième niveau : le cœur du système, l'API </a:t>
            </a:r>
            <a:r>
              <a:rPr lang="fr-FR" sz="1200" kern="1200" dirty="0" err="1">
                <a:solidFill>
                  <a:schemeClr val="tx1"/>
                </a:solidFill>
                <a:effectLst/>
                <a:latin typeface="+mn-lt"/>
                <a:ea typeface="+mn-ea"/>
                <a:cs typeface="+mn-cs"/>
              </a:rPr>
              <a:t>FastAPI</a:t>
            </a:r>
            <a:r>
              <a:rPr lang="fr-FR" sz="1200" kern="1200" dirty="0">
                <a:solidFill>
                  <a:schemeClr val="tx1"/>
                </a:solidFill>
                <a:effectLst/>
                <a:latin typeface="+mn-lt"/>
                <a:ea typeface="+mn-ea"/>
                <a:cs typeface="+mn-cs"/>
              </a:rPr>
              <a:t>, qui gère toute la logique. </a:t>
            </a:r>
          </a:p>
          <a:p>
            <a:r>
              <a:rPr lang="fr-FR" sz="1200" kern="1200" dirty="0">
                <a:solidFill>
                  <a:schemeClr val="tx1"/>
                </a:solidFill>
                <a:effectLst/>
                <a:latin typeface="+mn-lt"/>
                <a:ea typeface="+mn-ea"/>
                <a:cs typeface="+mn-cs"/>
              </a:rPr>
              <a:t>Troisième niveau : les données, avec PostgreSQL pour stocker et Redis pour aller plus vite.</a:t>
            </a:r>
          </a:p>
          <a:p>
            <a:r>
              <a:rPr lang="fr-FR" sz="1200" kern="1200" dirty="0">
                <a:solidFill>
                  <a:schemeClr val="tx1"/>
                </a:solidFill>
                <a:effectLst/>
                <a:latin typeface="+mn-lt"/>
                <a:ea typeface="+mn-ea"/>
                <a:cs typeface="+mn-cs"/>
              </a:rPr>
              <a:t>Quatrième niveau : les services extérieurs, notre modèle d'intelligence artificielle et Open-</a:t>
            </a:r>
            <a:r>
              <a:rPr lang="fr-FR" sz="1200" kern="1200" dirty="0" err="1">
                <a:solidFill>
                  <a:schemeClr val="tx1"/>
                </a:solidFill>
                <a:effectLst/>
                <a:latin typeface="+mn-lt"/>
                <a:ea typeface="+mn-ea"/>
                <a:cs typeface="+mn-cs"/>
              </a:rPr>
              <a:t>Meteo</a:t>
            </a:r>
            <a:r>
              <a:rPr lang="fr-FR" sz="1200" kern="1200" dirty="0">
                <a:solidFill>
                  <a:schemeClr val="tx1"/>
                </a:solidFill>
                <a:effectLst/>
                <a:latin typeface="+mn-lt"/>
                <a:ea typeface="+mn-ea"/>
                <a:cs typeface="+mn-cs"/>
              </a:rPr>
              <a:t> pour la météo.</a:t>
            </a:r>
          </a:p>
          <a:p>
            <a:r>
              <a:rPr lang="fr-FR" sz="1200" kern="1200" dirty="0">
                <a:solidFill>
                  <a:schemeClr val="tx1"/>
                </a:solidFill>
                <a:effectLst/>
                <a:latin typeface="+mn-lt"/>
                <a:ea typeface="+mn-ea"/>
                <a:cs typeface="+mn-cs"/>
              </a:rPr>
              <a:t>Le trajet d'un diagnostic est simple : la photo part du navigateur, va vers l'API, est analysée par le modèle d'intelligence artificielle, le résultat est enregistré, puis renvoyé à l'écran.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Parlons maintenant des capteurs. C'est grâce à eux que la surveillance est continue.</a:t>
            </a:r>
          </a:p>
          <a:p>
            <a:r>
              <a:rPr lang="fr-FR" sz="1200" kern="1200" dirty="0">
                <a:solidFill>
                  <a:schemeClr val="tx1"/>
                </a:solidFill>
                <a:effectLst/>
                <a:latin typeface="+mn-lt"/>
                <a:ea typeface="+mn-ea"/>
                <a:cs typeface="+mn-cs"/>
              </a:rPr>
              <a:t>Chaque boîtier mesure six choses : l'humidité et la température du sol, la température et l'humidité de l'air, l'eau sur les feuilles, et le niveau de sa batterie. Il envoie ces mesures à l'API une fois par minute.</a:t>
            </a:r>
          </a:p>
          <a:p>
            <a:r>
              <a:rPr lang="fr-FR" sz="1200" kern="1200" dirty="0">
                <a:solidFill>
                  <a:schemeClr val="tx1"/>
                </a:solidFill>
                <a:effectLst/>
                <a:latin typeface="+mn-lt"/>
                <a:ea typeface="+mn-ea"/>
                <a:cs typeface="+mn-cs"/>
              </a:rPr>
              <a:t>Le serveur détecte aussi le manque d'eau, le trop-plein d'eau, une batterie faible, et un capteur qui ne répond plus depuis quinze minutes.</a:t>
            </a:r>
          </a:p>
          <a:p>
            <a:r>
              <a:rPr lang="fr-FR" sz="1200" kern="1200" dirty="0">
                <a:solidFill>
                  <a:schemeClr val="tx1"/>
                </a:solidFill>
                <a:effectLst/>
                <a:latin typeface="+mn-lt"/>
                <a:ea typeface="+mn-ea"/>
                <a:cs typeface="+mn-cs"/>
              </a:rPr>
              <a:t>Pour l'instant, ces capteurs sont simulés par un programme dédié Mais ils utilisent le même langage que de vrais capteurs. Donc les remplacer par de vrais boîtiers ne demanderait aucun changement dans l'API.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a:t>
            </a:r>
            <a:r>
              <a:rPr lang="fr-FR" sz="1200" kern="1200" dirty="0" err="1">
                <a:solidFill>
                  <a:schemeClr val="tx1"/>
                </a:solidFill>
                <a:effectLst/>
                <a:latin typeface="+mn-lt"/>
                <a:ea typeface="+mn-ea"/>
                <a:cs typeface="+mn-cs"/>
              </a:rPr>
              <a:t>FastAPI</a:t>
            </a:r>
            <a:r>
              <a:rPr lang="fr-FR" sz="1200" kern="1200" dirty="0">
                <a:solidFill>
                  <a:schemeClr val="tx1"/>
                </a:solidFill>
                <a:effectLst/>
                <a:latin typeface="+mn-lt"/>
                <a:ea typeface="+mn-ea"/>
                <a:cs typeface="+mn-cs"/>
              </a:rPr>
              <a:t> pour le serveur : il est rapide, vérifie les données automatiquement, et crée sa documentation tout seul. Pas Node.js, car Python est le langage le plus utilisé pour analyser des images.</a:t>
            </a:r>
          </a:p>
          <a:p>
            <a:r>
              <a:rPr lang="fr-FR" sz="1200" kern="1200" dirty="0">
                <a:solidFill>
                  <a:schemeClr val="tx1"/>
                </a:solidFill>
                <a:effectLst/>
                <a:latin typeface="+mn-lt"/>
                <a:ea typeface="+mn-ea"/>
                <a:cs typeface="+mn-cs"/>
              </a:rPr>
              <a:t>-PostgreSQL pour les données : il garantit des données fiables et bien organisées. Pas MongoDB, car les liens entre utilisateur, parcelle, diagnostic et mesure sont clairs et structurés.</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-Docker et AWS pour l’infrastructure : le conteneur fonctionne de la même façon en test et en production. Pas </a:t>
            </a:r>
            <a:r>
              <a:rPr lang="fr-FR" sz="1200" kern="1200" dirty="0" err="1">
                <a:solidFill>
                  <a:schemeClr val="tx1"/>
                </a:solidFill>
                <a:effectLst/>
                <a:latin typeface="+mn-lt"/>
                <a:ea typeface="+mn-ea"/>
                <a:cs typeface="+mn-cs"/>
              </a:rPr>
              <a:t>Kubernetes</a:t>
            </a:r>
            <a:r>
              <a:rPr lang="fr-FR" sz="1200" kern="1200" dirty="0">
                <a:solidFill>
                  <a:schemeClr val="tx1"/>
                </a:solidFill>
                <a:effectLst/>
                <a:latin typeface="+mn-lt"/>
                <a:ea typeface="+mn-ea"/>
                <a:cs typeface="+mn-cs"/>
              </a:rPr>
              <a:t>, ce serait trop lourd pour une première version.</a:t>
            </a:r>
            <a:br>
              <a:rPr lang="fr-FR" sz="1200" kern="1200" dirty="0">
                <a:solidFill>
                  <a:schemeClr val="tx1"/>
                </a:solidFill>
                <a:effectLst/>
                <a:latin typeface="+mn-lt"/>
                <a:ea typeface="+mn-ea"/>
                <a:cs typeface="+mn-cs"/>
              </a:rPr>
            </a:br>
            <a:br>
              <a:rPr lang="fr-FR" sz="1200" kern="1200" dirty="0">
                <a:solidFill>
                  <a:schemeClr val="tx1"/>
                </a:solidFill>
                <a:effectLst/>
                <a:latin typeface="+mn-lt"/>
                <a:ea typeface="+mn-ea"/>
                <a:cs typeface="+mn-cs"/>
              </a:rPr>
            </a:br>
            <a:r>
              <a:rPr lang="en-US" sz="1200" i="1" dirty="0" err="1">
                <a:solidFill>
                  <a:srgbClr val="5F6B5F"/>
                </a:solidFill>
                <a:latin typeface="Calibri" pitchFamily="34" charset="0"/>
                <a:ea typeface="Calibri" pitchFamily="34" charset="-122"/>
                <a:cs typeface="Calibri" pitchFamily="34" charset="-120"/>
              </a:rPr>
              <a:t>Pourquoi</a:t>
            </a:r>
            <a:r>
              <a:rPr lang="en-US" sz="1200" i="1" dirty="0">
                <a:solidFill>
                  <a:srgbClr val="5F6B5F"/>
                </a:solidFill>
                <a:latin typeface="Calibri" pitchFamily="34" charset="0"/>
                <a:ea typeface="Calibri" pitchFamily="34" charset="-122"/>
                <a:cs typeface="Calibri" pitchFamily="34" charset="-120"/>
              </a:rPr>
              <a:t> pas Node.js : Python domine la vision par </a:t>
            </a:r>
            <a:r>
              <a:rPr lang="en-US" sz="1200" i="1" dirty="0" err="1">
                <a:solidFill>
                  <a:srgbClr val="5F6B5F"/>
                </a:solidFill>
                <a:latin typeface="Calibri" pitchFamily="34" charset="0"/>
                <a:ea typeface="Calibri" pitchFamily="34" charset="-122"/>
                <a:cs typeface="Calibri" pitchFamily="34" charset="-120"/>
              </a:rPr>
              <a:t>ordinateur</a:t>
            </a:r>
            <a:r>
              <a:rPr lang="en-US" sz="1200" i="1" dirty="0">
                <a:solidFill>
                  <a:srgbClr val="5F6B5F"/>
                </a:solidFill>
                <a:latin typeface="Calibri" pitchFamily="34" charset="0"/>
                <a:ea typeface="Calibri" pitchFamily="34" charset="-122"/>
                <a:cs typeface="Calibri" pitchFamily="34" charset="-120"/>
              </a:rPr>
              <a:t>.</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err="1">
                <a:solidFill>
                  <a:srgbClr val="5F6B5F"/>
                </a:solidFill>
                <a:latin typeface="Calibri" pitchFamily="34" charset="0"/>
                <a:ea typeface="Calibri" pitchFamily="34" charset="-122"/>
                <a:cs typeface="Calibri" pitchFamily="34" charset="-120"/>
              </a:rPr>
              <a:t>Pourquoi</a:t>
            </a:r>
            <a:r>
              <a:rPr lang="en-US" sz="1200" i="1" dirty="0">
                <a:solidFill>
                  <a:srgbClr val="5F6B5F"/>
                </a:solidFill>
                <a:latin typeface="Calibri" pitchFamily="34" charset="0"/>
                <a:ea typeface="Calibri" pitchFamily="34" charset="-122"/>
                <a:cs typeface="Calibri" pitchFamily="34" charset="-120"/>
              </a:rPr>
              <a:t> pas MongoDB : les relations </a:t>
            </a:r>
            <a:r>
              <a:rPr lang="en-US" sz="1200" i="1" dirty="0" err="1">
                <a:solidFill>
                  <a:srgbClr val="5F6B5F"/>
                </a:solidFill>
                <a:latin typeface="Calibri" pitchFamily="34" charset="0"/>
                <a:ea typeface="Calibri" pitchFamily="34" charset="-122"/>
                <a:cs typeface="Calibri" pitchFamily="34" charset="-120"/>
              </a:rPr>
              <a:t>utilisateur</a:t>
            </a:r>
            <a:r>
              <a:rPr lang="en-US" sz="1200" i="1" dirty="0">
                <a:solidFill>
                  <a:srgbClr val="5F6B5F"/>
                </a:solidFill>
                <a:latin typeface="Calibri" pitchFamily="34" charset="0"/>
                <a:ea typeface="Calibri" pitchFamily="34" charset="-122"/>
                <a:cs typeface="Calibri" pitchFamily="34" charset="-120"/>
              </a:rPr>
              <a:t>, </a:t>
            </a:r>
            <a:r>
              <a:rPr lang="en-US" sz="1200" i="1" dirty="0" err="1">
                <a:solidFill>
                  <a:srgbClr val="5F6B5F"/>
                </a:solidFill>
                <a:latin typeface="Calibri" pitchFamily="34" charset="0"/>
                <a:ea typeface="Calibri" pitchFamily="34" charset="-122"/>
                <a:cs typeface="Calibri" pitchFamily="34" charset="-120"/>
              </a:rPr>
              <a:t>parcelle</a:t>
            </a:r>
            <a:r>
              <a:rPr lang="en-US" sz="1200" i="1" dirty="0">
                <a:solidFill>
                  <a:srgbClr val="5F6B5F"/>
                </a:solidFill>
                <a:latin typeface="Calibri" pitchFamily="34" charset="0"/>
                <a:ea typeface="Calibri" pitchFamily="34" charset="-122"/>
                <a:cs typeface="Calibri" pitchFamily="34" charset="-120"/>
              </a:rPr>
              <a:t> et diagnostic </a:t>
            </a:r>
            <a:r>
              <a:rPr lang="en-US" sz="1200" i="1" dirty="0" err="1">
                <a:solidFill>
                  <a:srgbClr val="5F6B5F"/>
                </a:solidFill>
                <a:latin typeface="Calibri" pitchFamily="34" charset="0"/>
                <a:ea typeface="Calibri" pitchFamily="34" charset="-122"/>
                <a:cs typeface="Calibri" pitchFamily="34" charset="-120"/>
              </a:rPr>
              <a:t>sont</a:t>
            </a:r>
            <a:r>
              <a:rPr lang="en-US" sz="1200" i="1" dirty="0">
                <a:solidFill>
                  <a:srgbClr val="5F6B5F"/>
                </a:solidFill>
                <a:latin typeface="Calibri" pitchFamily="34" charset="0"/>
                <a:ea typeface="Calibri" pitchFamily="34" charset="-122"/>
                <a:cs typeface="Calibri" pitchFamily="34" charset="-120"/>
              </a:rPr>
              <a:t> </a:t>
            </a:r>
            <a:r>
              <a:rPr lang="en-US" sz="1200" i="1" dirty="0" err="1">
                <a:solidFill>
                  <a:srgbClr val="5F6B5F"/>
                </a:solidFill>
                <a:latin typeface="Calibri" pitchFamily="34" charset="0"/>
                <a:ea typeface="Calibri" pitchFamily="34" charset="-122"/>
                <a:cs typeface="Calibri" pitchFamily="34" charset="-120"/>
              </a:rPr>
              <a:t>structurées</a:t>
            </a:r>
            <a:r>
              <a:rPr lang="en-US" sz="1200" i="1" dirty="0">
                <a:solidFill>
                  <a:srgbClr val="5F6B5F"/>
                </a:solidFill>
                <a:latin typeface="Calibri" pitchFamily="34" charset="0"/>
                <a:ea typeface="Calibri" pitchFamily="34" charset="-122"/>
                <a:cs typeface="Calibri" pitchFamily="34" charset="-120"/>
              </a:rPr>
              <a:t>.</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err="1">
                <a:solidFill>
                  <a:srgbClr val="5F6B5F"/>
                </a:solidFill>
                <a:latin typeface="Calibri" pitchFamily="34" charset="0"/>
                <a:ea typeface="Calibri" pitchFamily="34" charset="-122"/>
                <a:cs typeface="Calibri" pitchFamily="34" charset="-120"/>
              </a:rPr>
              <a:t>Pourquoi</a:t>
            </a:r>
            <a:r>
              <a:rPr lang="en-US" sz="1200" i="1" dirty="0">
                <a:solidFill>
                  <a:srgbClr val="5F6B5F"/>
                </a:solidFill>
                <a:latin typeface="Calibri" pitchFamily="34" charset="0"/>
                <a:ea typeface="Calibri" pitchFamily="34" charset="-122"/>
                <a:cs typeface="Calibri" pitchFamily="34" charset="-120"/>
              </a:rPr>
              <a:t> pas Kubernetes : </a:t>
            </a:r>
            <a:r>
              <a:rPr lang="en-US" sz="1200" i="1" dirty="0" err="1">
                <a:solidFill>
                  <a:srgbClr val="5F6B5F"/>
                </a:solidFill>
                <a:latin typeface="Calibri" pitchFamily="34" charset="0"/>
                <a:ea typeface="Calibri" pitchFamily="34" charset="-122"/>
                <a:cs typeface="Calibri" pitchFamily="34" charset="-120"/>
              </a:rPr>
              <a:t>surdimensionné</a:t>
            </a:r>
            <a:r>
              <a:rPr lang="en-US" sz="1200" i="1" dirty="0">
                <a:solidFill>
                  <a:srgbClr val="5F6B5F"/>
                </a:solidFill>
                <a:latin typeface="Calibri" pitchFamily="34" charset="0"/>
                <a:ea typeface="Calibri" pitchFamily="34" charset="-122"/>
                <a:cs typeface="Calibri" pitchFamily="34" charset="-120"/>
              </a:rPr>
              <a:t> pour un MVP.</a:t>
            </a:r>
            <a:endParaRPr lang="en-US" sz="1200" dirty="0"/>
          </a:p>
          <a:p>
            <a:endParaRPr lang="fr-FR"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Dix-</a:t>
            </a:r>
            <a:r>
              <a:rPr lang="en-US" dirty="0" err="1"/>
              <a:t>huit</a:t>
            </a:r>
            <a:r>
              <a:rPr lang="en-US" dirty="0"/>
              <a:t> endpoints, </a:t>
            </a:r>
            <a:r>
              <a:rPr lang="en-US" dirty="0" err="1"/>
              <a:t>repartis</a:t>
            </a:r>
            <a:r>
              <a:rPr lang="en-US" dirty="0"/>
              <a:t> </a:t>
            </a:r>
            <a:r>
              <a:rPr lang="en-US" dirty="0" err="1"/>
              <a:t>en</a:t>
            </a:r>
            <a:r>
              <a:rPr lang="en-US" dirty="0"/>
              <a:t> quatre </a:t>
            </a:r>
            <a:r>
              <a:rPr lang="en-US" dirty="0" err="1"/>
              <a:t>familles</a:t>
            </a:r>
            <a:r>
              <a:rPr lang="en-US" dirty="0"/>
              <a:t> : </a:t>
            </a:r>
            <a:r>
              <a:rPr lang="en-US" dirty="0" err="1"/>
              <a:t>l'authentification</a:t>
            </a:r>
            <a:r>
              <a:rPr lang="en-US" dirty="0"/>
              <a:t>, la gestion des </a:t>
            </a:r>
            <a:r>
              <a:rPr lang="en-US" dirty="0" err="1"/>
              <a:t>parcelles</a:t>
            </a:r>
            <a:r>
              <a:rPr lang="en-US" dirty="0"/>
              <a:t>, les </a:t>
            </a:r>
            <a:r>
              <a:rPr lang="en-US" dirty="0" err="1"/>
              <a:t>capteurs</a:t>
            </a:r>
            <a:r>
              <a:rPr lang="en-US" dirty="0"/>
              <a:t> IoT et le diagnostic avec son </a:t>
            </a:r>
            <a:r>
              <a:rPr lang="en-US" dirty="0" err="1"/>
              <a:t>suivi</a:t>
            </a:r>
            <a:r>
              <a:rPr lang="en-US" dirty="0"/>
              <a:t>. Tout est consultable et testable </a:t>
            </a:r>
            <a:r>
              <a:rPr lang="en-US" dirty="0" err="1"/>
              <a:t>en</a:t>
            </a:r>
            <a:r>
              <a:rPr lang="en-US" dirty="0"/>
              <a:t> direct via Swagger a </a:t>
            </a:r>
            <a:r>
              <a:rPr lang="en-US" dirty="0" err="1"/>
              <a:t>l'adresse</a:t>
            </a:r>
            <a:r>
              <a:rPr lang="en-US" dirty="0"/>
              <a:t> slash docs. Les chemins </a:t>
            </a:r>
            <a:r>
              <a:rPr lang="en-US" dirty="0" err="1"/>
              <a:t>sont</a:t>
            </a:r>
            <a:r>
              <a:rPr lang="en-US" dirty="0"/>
              <a:t> </a:t>
            </a:r>
            <a:r>
              <a:rPr lang="en-US" dirty="0" err="1"/>
              <a:t>raccourcis</a:t>
            </a:r>
            <a:r>
              <a:rPr lang="en-US" dirty="0"/>
              <a:t> sur la diapositive : </a:t>
            </a:r>
            <a:r>
              <a:rPr lang="en-US" dirty="0" err="1"/>
              <a:t>ils</a:t>
            </a:r>
            <a:r>
              <a:rPr lang="en-US" dirty="0"/>
              <a:t> </a:t>
            </a:r>
            <a:r>
              <a:rPr lang="en-US" dirty="0" err="1"/>
              <a:t>commencent</a:t>
            </a:r>
            <a:r>
              <a:rPr lang="en-US" dirty="0"/>
              <a:t> </a:t>
            </a:r>
            <a:r>
              <a:rPr lang="en-US" dirty="0" err="1"/>
              <a:t>tous</a:t>
            </a:r>
            <a:r>
              <a:rPr lang="en-US" dirty="0"/>
              <a:t> par slash </a:t>
            </a:r>
            <a:r>
              <a:rPr lang="en-US" dirty="0" err="1"/>
              <a:t>api</a:t>
            </a:r>
            <a:r>
              <a:rPr lang="en-US" dirty="0"/>
              <a:t> slash v1.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C'est un vrai modèle entraîné, pas juste une analyse de couleurs. On part de MobileNetV2, un modèle déjà entraîné sur des millions d'images. On garde ce qu'il sait déjà faire, et on ajoute juste une petite partie qu'on entraîne nous-mêmes pour reconnaître les maladies. L'entraînement a été fait avec </a:t>
            </a:r>
            <a:r>
              <a:rPr lang="fr-FR" sz="1200" kern="1200" dirty="0" err="1">
                <a:solidFill>
                  <a:schemeClr val="tx1"/>
                </a:solidFill>
                <a:effectLst/>
                <a:latin typeface="+mn-lt"/>
                <a:ea typeface="+mn-ea"/>
                <a:cs typeface="+mn-cs"/>
              </a:rPr>
              <a:t>PlantVillage</a:t>
            </a:r>
            <a:r>
              <a:rPr lang="fr-FR" sz="1200" kern="1200" dirty="0">
                <a:solidFill>
                  <a:schemeClr val="tx1"/>
                </a:solidFill>
                <a:effectLst/>
                <a:latin typeface="+mn-lt"/>
                <a:ea typeface="+mn-ea"/>
                <a:cs typeface="+mn-cs"/>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Il y a six niveaux de sécurité. Un jeton de connexion valable trente jours. Les mots de passe sont protégés, jamais stockés en clair. Toutes les données reçues sont vérifiées, même celles des capteurs. Les accès sont contrôlés. Le site peut passer en HTTPS facilement. Et chaque utilisateur ne voit que ses propres données.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fr-FR" sz="1200" b="0" i="0" kern="1200" dirty="0">
                <a:solidFill>
                  <a:schemeClr val="tx1"/>
                </a:solidFill>
                <a:effectLst/>
                <a:latin typeface="+mn-lt"/>
                <a:ea typeface="+mn-ea"/>
                <a:cs typeface="+mn-cs"/>
              </a:rPr>
              <a:t>Le système est déployé sur un serveur AWS EC2 sous Ubuntu, disponible en continu avec une adresse Internet publique. Il est gratuit pendant les douze premiers mois.</a:t>
            </a:r>
          </a:p>
          <a:p>
            <a:pPr rtl="0"/>
            <a:r>
              <a:rPr lang="fr-FR" sz="1200" b="0" i="0" kern="1200" dirty="0">
                <a:solidFill>
                  <a:schemeClr val="tx1"/>
                </a:solidFill>
                <a:effectLst/>
                <a:latin typeface="+mn-lt"/>
                <a:ea typeface="+mn-ea"/>
                <a:cs typeface="+mn-cs"/>
              </a:rPr>
              <a:t>Le serveur fait fonctionner quatre composants en parallèle : l’API </a:t>
            </a:r>
            <a:r>
              <a:rPr lang="fr-FR" sz="1200" b="0" i="0" kern="1200" dirty="0" err="1">
                <a:solidFill>
                  <a:schemeClr val="tx1"/>
                </a:solidFill>
                <a:effectLst/>
                <a:latin typeface="+mn-lt"/>
                <a:ea typeface="+mn-ea"/>
                <a:cs typeface="+mn-cs"/>
              </a:rPr>
              <a:t>FastAPI</a:t>
            </a:r>
            <a:r>
              <a:rPr lang="fr-FR" sz="1200" b="0" i="0" kern="1200" dirty="0">
                <a:solidFill>
                  <a:schemeClr val="tx1"/>
                </a:solidFill>
                <a:effectLst/>
                <a:latin typeface="+mn-lt"/>
                <a:ea typeface="+mn-ea"/>
                <a:cs typeface="+mn-cs"/>
              </a:rPr>
              <a:t>, la base de données PostgreSQL, le cache Redis et le simulateur de capteurs. Les données sont stockées dans des volumes persistants : elles sont donc conservées même après un redémarrage du serveur.</a:t>
            </a:r>
          </a:p>
          <a:p>
            <a:pPr rtl="0"/>
            <a:r>
              <a:rPr lang="fr-FR" sz="1200" b="0" i="0" kern="1200" dirty="0">
                <a:solidFill>
                  <a:schemeClr val="tx1"/>
                </a:solidFill>
                <a:effectLst/>
                <a:latin typeface="+mn-lt"/>
                <a:ea typeface="+mn-ea"/>
                <a:cs typeface="+mn-cs"/>
              </a:rPr>
              <a:t>On est donc sur un véritable système en ligne, et pas simplement sur une démonstration qui fonctionne sur un ordinateur portable.</a:t>
            </a:r>
          </a:p>
          <a:p>
            <a:pPr rtl="0"/>
            <a:r>
              <a:rPr lang="fr-FR" sz="1200" b="0" i="0" kern="1200" dirty="0">
                <a:solidFill>
                  <a:schemeClr val="tx1"/>
                </a:solidFill>
                <a:effectLst/>
                <a:latin typeface="+mn-lt"/>
                <a:ea typeface="+mn-ea"/>
                <a:cs typeface="+mn-cs"/>
              </a:rPr>
              <a:t>Pour la gestion de l’exploitation, on pourrait également permettre à l’utilisateur de sélectionner directement ses parcelles sur une carte, avec un planning prévisionnel et un système d’alertes.</a:t>
            </a:r>
          </a:p>
          <a:p>
            <a:pPr rtl="0"/>
            <a:r>
              <a:rPr lang="fr-FR" sz="1200" b="0" i="0" kern="1200" dirty="0">
                <a:solidFill>
                  <a:schemeClr val="tx1"/>
                </a:solidFill>
                <a:effectLst/>
                <a:latin typeface="+mn-lt"/>
                <a:ea typeface="+mn-ea"/>
                <a:cs typeface="+mn-cs"/>
              </a:rPr>
              <a:t>Enfin, pour faciliter l’utilisation de la plateforme, l’interface pourrait être améliorée avec un menu plus clair et un assistant conversationnel permettant à l’exploitant de dialoguer directement avec le système.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PlantDiag est une solution </a:t>
            </a:r>
            <a:r>
              <a:rPr lang="en-US" dirty="0" err="1"/>
              <a:t>conforme</a:t>
            </a:r>
            <a:r>
              <a:rPr lang="en-US" dirty="0"/>
              <a:t> et evolutive. Mais je voulais surtout le tester </a:t>
            </a:r>
            <a:r>
              <a:rPr lang="en-US" dirty="0" err="1"/>
              <a:t>en</a:t>
            </a:r>
            <a:r>
              <a:rPr lang="en-US" dirty="0"/>
              <a:t> dehors. Mon frere est agriculteur, il l'a teste directement dans sa ferme. Et mon pere, qui est commercial dans le secteur agricole, m'a emmene sur le terrain pour le faire essayer a plusieurs autres agriculteurs. Le retour qui revenait le plus souvent, ce n'est pas le diagnostic en lui-meme : c'est d'avoir toutes leurs donnees centralisees au meme endroit, et surtout la meteo couplee aux risques de maladie, pour pouvoir anticiper avant que le probleme n'apparaisse plutot que de le decouvrir trop tard.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FR" sz="1200" kern="1200" dirty="0">
                <a:solidFill>
                  <a:schemeClr val="tx1"/>
                </a:solidFill>
                <a:effectLst/>
                <a:latin typeface="+mn-lt"/>
                <a:ea typeface="+mn-ea"/>
                <a:cs typeface="+mn-cs"/>
              </a:rPr>
              <a:t>Pour finir, voici quelques pistes d'amélioration.</a:t>
            </a:r>
          </a:p>
          <a:p>
            <a:r>
              <a:rPr lang="fr-FR" sz="1200" kern="1200" dirty="0">
                <a:solidFill>
                  <a:schemeClr val="tx1"/>
                </a:solidFill>
                <a:effectLst/>
                <a:latin typeface="+mn-lt"/>
                <a:ea typeface="+mn-ea"/>
                <a:cs typeface="+mn-cs"/>
              </a:rPr>
              <a:t>Sur le diagnostic, on pourrait indiquer directement le produit à utiliser et le bon moment pour traiter selon la météo, ainsi que la dose de semence recommandée selon la date.</a:t>
            </a:r>
          </a:p>
          <a:p>
            <a:r>
              <a:rPr lang="fr-FR" sz="1200" kern="1200" dirty="0">
                <a:solidFill>
                  <a:schemeClr val="tx1"/>
                </a:solidFill>
                <a:effectLst/>
                <a:latin typeface="+mn-lt"/>
                <a:ea typeface="+mn-ea"/>
                <a:cs typeface="+mn-cs"/>
              </a:rPr>
              <a:t>Sur le pilotage agronomique, on pourrait mettre à jour l'itinéraire technique au jour le jour, et calculer automatiquement l'IFT et le bilan azoté de chaque parcelle.</a:t>
            </a:r>
          </a:p>
          <a:p>
            <a:endParaRPr lang="fr-FR" dirty="0"/>
          </a:p>
        </p:txBody>
      </p:sp>
    </p:spTree>
    <p:extLst>
      <p:ext uri="{BB962C8B-B14F-4D97-AF65-F5344CB8AC3E}">
        <p14:creationId xmlns:p14="http://schemas.microsoft.com/office/powerpoint/2010/main" val="21901253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attention. L'application est accessible a l'adresse indiquee, la documentation Swagger sur slash docs, et le code source complet sur GitHub. Je suis a votre disposition pour vos questions.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1C"/>
        </a:solidFill>
        <a:effectLst/>
      </p:bgPr>
    </p:bg>
    <p:spTree>
      <p:nvGrpSpPr>
        <p:cNvPr id="1" name=""/>
        <p:cNvGrpSpPr/>
        <p:nvPr/>
      </p:nvGrpSpPr>
      <p:grpSpPr>
        <a:xfrm>
          <a:off x="0" y="0"/>
          <a:ext cx="0" cy="0"/>
          <a:chOff x="0" y="0"/>
          <a:chExt cx="0" cy="0"/>
        </a:xfrm>
      </p:grpSpPr>
      <p:sp>
        <p:nvSpPr>
          <p:cNvPr id="2" name="Shape 0"/>
          <p:cNvSpPr/>
          <p:nvPr/>
        </p:nvSpPr>
        <p:spPr>
          <a:xfrm>
            <a:off x="9509760" y="-1371600"/>
            <a:ext cx="4206240" cy="4206240"/>
          </a:xfrm>
          <a:prstGeom prst="ellipse">
            <a:avLst/>
          </a:prstGeom>
          <a:solidFill>
            <a:srgbClr val="2C5F2D"/>
          </a:solidFill>
          <a:ln w="12700">
            <a:solidFill>
              <a:srgbClr val="2C5F2D"/>
            </a:solidFill>
            <a:prstDash val="solid"/>
          </a:ln>
        </p:spPr>
        <p:txBody>
          <a:bodyPr/>
          <a:lstStyle/>
          <a:p>
            <a:endParaRPr lang="fr-FR"/>
          </a:p>
        </p:txBody>
      </p:sp>
      <p:sp>
        <p:nvSpPr>
          <p:cNvPr id="3" name="Shape 1"/>
          <p:cNvSpPr/>
          <p:nvPr/>
        </p:nvSpPr>
        <p:spPr>
          <a:xfrm>
            <a:off x="-1097280" y="4846320"/>
            <a:ext cx="3108960" cy="3108960"/>
          </a:xfrm>
          <a:prstGeom prst="ellipse">
            <a:avLst/>
          </a:prstGeom>
          <a:solidFill>
            <a:srgbClr val="2C5F2D"/>
          </a:solidFill>
          <a:ln w="12700">
            <a:solidFill>
              <a:srgbClr val="2C5F2D"/>
            </a:solidFill>
            <a:prstDash val="solid"/>
          </a:ln>
        </p:spPr>
        <p:txBody>
          <a:bodyPr/>
          <a:lstStyle/>
          <a:p>
            <a:endParaRPr lang="fr-FR"/>
          </a:p>
        </p:txBody>
      </p:sp>
      <p:sp>
        <p:nvSpPr>
          <p:cNvPr id="4" name="Text 2"/>
          <p:cNvSpPr txBox="1"/>
          <p:nvPr/>
        </p:nvSpPr>
        <p:spPr>
          <a:xfrm>
            <a:off x="548640" y="2057400"/>
            <a:ext cx="8686800" cy="1097280"/>
          </a:xfrm>
          <a:prstGeom prst="rect">
            <a:avLst/>
          </a:prstGeom>
          <a:noFill/>
          <a:ln/>
        </p:spPr>
        <p:txBody>
          <a:bodyPr wrap="square" lIns="0" tIns="0" rIns="0" bIns="0" rtlCol="0" anchor="ctr"/>
          <a:lstStyle/>
          <a:p>
            <a:pPr marL="0" indent="0">
              <a:buNone/>
            </a:pPr>
            <a:r>
              <a:rPr lang="en-US" sz="6600" b="1" dirty="0">
                <a:solidFill>
                  <a:srgbClr val="FFFFFF"/>
                </a:solidFill>
                <a:latin typeface="Cambria" pitchFamily="34" charset="0"/>
                <a:ea typeface="Cambria" pitchFamily="34" charset="-122"/>
                <a:cs typeface="Cambria" pitchFamily="34" charset="-120"/>
              </a:rPr>
              <a:t>PlantDiag</a:t>
            </a:r>
            <a:endParaRPr lang="en-US" sz="6600" dirty="0"/>
          </a:p>
        </p:txBody>
      </p:sp>
      <p:sp>
        <p:nvSpPr>
          <p:cNvPr id="5" name="Text 3"/>
          <p:cNvSpPr txBox="1"/>
          <p:nvPr/>
        </p:nvSpPr>
        <p:spPr>
          <a:xfrm>
            <a:off x="548640" y="3200400"/>
            <a:ext cx="8686800" cy="457200"/>
          </a:xfrm>
          <a:prstGeom prst="rect">
            <a:avLst/>
          </a:prstGeom>
          <a:noFill/>
          <a:ln/>
        </p:spPr>
        <p:txBody>
          <a:bodyPr wrap="square" lIns="0" tIns="0" rIns="0" bIns="0" rtlCol="0" anchor="ctr"/>
          <a:lstStyle/>
          <a:p>
            <a:pPr marL="0" indent="0">
              <a:buNone/>
            </a:pPr>
            <a:r>
              <a:rPr lang="en-US" sz="2200" dirty="0">
                <a:solidFill>
                  <a:srgbClr val="97BC62"/>
                </a:solidFill>
                <a:latin typeface="Calibri" pitchFamily="34" charset="0"/>
                <a:ea typeface="Calibri" pitchFamily="34" charset="-122"/>
                <a:cs typeface="Calibri" pitchFamily="34" charset="-120"/>
              </a:rPr>
              <a:t>Diagnostic agricole par intelligence artificielle</a:t>
            </a:r>
            <a:endParaRPr lang="en-US" sz="2200" dirty="0"/>
          </a:p>
        </p:txBody>
      </p:sp>
      <p:sp>
        <p:nvSpPr>
          <p:cNvPr id="6" name="Text 4"/>
          <p:cNvSpPr txBox="1"/>
          <p:nvPr/>
        </p:nvSpPr>
        <p:spPr>
          <a:xfrm>
            <a:off x="548640" y="4892040"/>
            <a:ext cx="548640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Antoine SIMON</a:t>
            </a:r>
            <a:endParaRPr lang="en-US" sz="1600" dirty="0"/>
          </a:p>
        </p:txBody>
      </p:sp>
      <p:sp>
        <p:nvSpPr>
          <p:cNvPr id="7" name="Text 5"/>
          <p:cNvSpPr txBox="1"/>
          <p:nvPr/>
        </p:nvSpPr>
        <p:spPr>
          <a:xfrm>
            <a:off x="548640" y="5230368"/>
            <a:ext cx="7315200" cy="320040"/>
          </a:xfrm>
          <a:prstGeom prst="rect">
            <a:avLst/>
          </a:prstGeom>
          <a:noFill/>
          <a:ln/>
        </p:spPr>
        <p:txBody>
          <a:bodyPr wrap="square" lIns="0" tIns="0" rIns="0" bIns="0" rtlCol="0" anchor="ctr"/>
          <a:lstStyle/>
          <a:p>
            <a:pPr marL="0" indent="0">
              <a:buNone/>
            </a:pPr>
            <a:r>
              <a:rPr lang="en-US" sz="1300" dirty="0" err="1">
                <a:solidFill>
                  <a:srgbClr val="97BC62"/>
                </a:solidFill>
                <a:latin typeface="Calibri" pitchFamily="34" charset="0"/>
                <a:ea typeface="Calibri" pitchFamily="34" charset="-122"/>
                <a:cs typeface="Calibri" pitchFamily="34" charset="-120"/>
              </a:rPr>
              <a:t>Septembre</a:t>
            </a:r>
            <a:r>
              <a:rPr lang="en-US" sz="1300" dirty="0">
                <a:solidFill>
                  <a:srgbClr val="97BC62"/>
                </a:solidFill>
                <a:latin typeface="Calibri" pitchFamily="34" charset="0"/>
                <a:ea typeface="Calibri" pitchFamily="34" charset="-122"/>
                <a:cs typeface="Calibri" pitchFamily="34" charset="-120"/>
              </a:rPr>
              <a: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4A7A3A"/>
                </a:solidFill>
                <a:latin typeface="Calibri" pitchFamily="34" charset="0"/>
                <a:ea typeface="Calibri" pitchFamily="34" charset="-122"/>
                <a:cs typeface="Calibri" pitchFamily="34" charset="-120"/>
              </a:rPr>
              <a:t>CONTEXTE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err="1">
                <a:solidFill>
                  <a:srgbClr val="2C5F2D"/>
                </a:solidFill>
                <a:latin typeface="Cambria" pitchFamily="34" charset="0"/>
                <a:ea typeface="Cambria" pitchFamily="34" charset="-122"/>
                <a:cs typeface="Cambria" pitchFamily="34" charset="-120"/>
              </a:rPr>
              <a:t>Problématique</a:t>
            </a:r>
            <a:endParaRPr lang="en-US" sz="3400" dirty="0"/>
          </a:p>
        </p:txBody>
      </p:sp>
      <p:sp>
        <p:nvSpPr>
          <p:cNvPr id="4" name="Shape 2"/>
          <p:cNvSpPr/>
          <p:nvPr/>
        </p:nvSpPr>
        <p:spPr>
          <a:xfrm>
            <a:off x="548640" y="1600200"/>
            <a:ext cx="6583680" cy="1234440"/>
          </a:xfrm>
          <a:prstGeom prst="roundRect">
            <a:avLst>
              <a:gd name="adj" fmla="val 4444"/>
            </a:avLst>
          </a:prstGeom>
          <a:solidFill>
            <a:srgbClr val="EEF3EA"/>
          </a:solidFill>
          <a:ln w="12700">
            <a:solidFill>
              <a:srgbClr val="EEF3EA"/>
            </a:solidFill>
            <a:prstDash val="solid"/>
          </a:ln>
        </p:spPr>
        <p:txBody>
          <a:bodyPr/>
          <a:lstStyle/>
          <a:p>
            <a:endParaRPr lang="fr-FR"/>
          </a:p>
        </p:txBody>
      </p:sp>
      <p:sp>
        <p:nvSpPr>
          <p:cNvPr id="5" name="Shape 3"/>
          <p:cNvSpPr/>
          <p:nvPr/>
        </p:nvSpPr>
        <p:spPr>
          <a:xfrm>
            <a:off x="777240" y="2011680"/>
            <a:ext cx="420624" cy="420624"/>
          </a:xfrm>
          <a:prstGeom prst="ellipse">
            <a:avLst/>
          </a:prstGeom>
          <a:solidFill>
            <a:srgbClr val="2C5F2D"/>
          </a:solidFill>
          <a:ln w="12700">
            <a:solidFill>
              <a:srgbClr val="2C5F2D"/>
            </a:solidFill>
            <a:prstDash val="solid"/>
          </a:ln>
        </p:spPr>
        <p:txBody>
          <a:bodyPr/>
          <a:lstStyle/>
          <a:p>
            <a:endParaRPr lang="fr-FR"/>
          </a:p>
        </p:txBody>
      </p:sp>
      <p:sp>
        <p:nvSpPr>
          <p:cNvPr id="6" name="Text 4"/>
          <p:cNvSpPr txBox="1"/>
          <p:nvPr/>
        </p:nvSpPr>
        <p:spPr>
          <a:xfrm>
            <a:off x="777240" y="20116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53312" y="1828800"/>
            <a:ext cx="5852160" cy="27432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Identification manuelle</a:t>
            </a:r>
            <a:endParaRPr lang="en-US" sz="1600" dirty="0"/>
          </a:p>
        </p:txBody>
      </p:sp>
      <p:sp>
        <p:nvSpPr>
          <p:cNvPr id="8" name="Text 6"/>
          <p:cNvSpPr txBox="1"/>
          <p:nvPr/>
        </p:nvSpPr>
        <p:spPr>
          <a:xfrm>
            <a:off x="1353312" y="2167128"/>
            <a:ext cx="5852160" cy="530352"/>
          </a:xfrm>
          <a:prstGeom prst="rect">
            <a:avLst/>
          </a:prstGeom>
          <a:noFill/>
          <a:ln/>
        </p:spPr>
        <p:txBody>
          <a:bodyPr wrap="square" lIns="0" tIns="0" rIns="0" bIns="0" rtlCol="0" anchor="ctr"/>
          <a:lstStyle/>
          <a:p>
            <a:pPr marL="0" indent="0">
              <a:buNone/>
            </a:pPr>
            <a:r>
              <a:rPr lang="en-US" sz="1300" dirty="0">
                <a:solidFill>
                  <a:srgbClr val="5F6B5F"/>
                </a:solidFill>
                <a:latin typeface="Calibri" pitchFamily="34" charset="0"/>
                <a:ea typeface="Calibri" pitchFamily="34" charset="-122"/>
                <a:cs typeface="Calibri" pitchFamily="34" charset="-120"/>
              </a:rPr>
              <a:t>Longue et imprécise, elle dépend entièrement de l'expérience de l'agriculteur.</a:t>
            </a:r>
            <a:endParaRPr lang="en-US" sz="1300" dirty="0"/>
          </a:p>
        </p:txBody>
      </p:sp>
      <p:sp>
        <p:nvSpPr>
          <p:cNvPr id="9" name="Shape 7"/>
          <p:cNvSpPr/>
          <p:nvPr/>
        </p:nvSpPr>
        <p:spPr>
          <a:xfrm>
            <a:off x="548640" y="2971800"/>
            <a:ext cx="6583680" cy="1234440"/>
          </a:xfrm>
          <a:prstGeom prst="roundRect">
            <a:avLst>
              <a:gd name="adj" fmla="val 4444"/>
            </a:avLst>
          </a:prstGeom>
          <a:solidFill>
            <a:srgbClr val="EEF3EA"/>
          </a:solidFill>
          <a:ln w="12700">
            <a:solidFill>
              <a:srgbClr val="EEF3EA"/>
            </a:solidFill>
            <a:prstDash val="solid"/>
          </a:ln>
        </p:spPr>
        <p:txBody>
          <a:bodyPr/>
          <a:lstStyle/>
          <a:p>
            <a:endParaRPr lang="fr-FR"/>
          </a:p>
        </p:txBody>
      </p:sp>
      <p:sp>
        <p:nvSpPr>
          <p:cNvPr id="10" name="Shape 8"/>
          <p:cNvSpPr/>
          <p:nvPr/>
        </p:nvSpPr>
        <p:spPr>
          <a:xfrm>
            <a:off x="777240" y="3383280"/>
            <a:ext cx="420624" cy="420624"/>
          </a:xfrm>
          <a:prstGeom prst="ellipse">
            <a:avLst/>
          </a:prstGeom>
          <a:solidFill>
            <a:srgbClr val="2C5F2D"/>
          </a:solidFill>
          <a:ln w="12700">
            <a:solidFill>
              <a:srgbClr val="2C5F2D"/>
            </a:solidFill>
            <a:prstDash val="solid"/>
          </a:ln>
        </p:spPr>
        <p:txBody>
          <a:bodyPr/>
          <a:lstStyle/>
          <a:p>
            <a:endParaRPr lang="fr-FR"/>
          </a:p>
        </p:txBody>
      </p:sp>
      <p:sp>
        <p:nvSpPr>
          <p:cNvPr id="11" name="Text 9"/>
          <p:cNvSpPr txBox="1"/>
          <p:nvPr/>
        </p:nvSpPr>
        <p:spPr>
          <a:xfrm>
            <a:off x="777240" y="33832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353312" y="3200400"/>
            <a:ext cx="5852160" cy="27432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Expertise coûteuse</a:t>
            </a:r>
            <a:endParaRPr lang="en-US" sz="1600" dirty="0"/>
          </a:p>
        </p:txBody>
      </p:sp>
      <p:sp>
        <p:nvSpPr>
          <p:cNvPr id="13" name="Text 11"/>
          <p:cNvSpPr txBox="1"/>
          <p:nvPr/>
        </p:nvSpPr>
        <p:spPr>
          <a:xfrm>
            <a:off x="1353312" y="3538728"/>
            <a:ext cx="5852160" cy="530352"/>
          </a:xfrm>
          <a:prstGeom prst="rect">
            <a:avLst/>
          </a:prstGeom>
          <a:noFill/>
          <a:ln/>
        </p:spPr>
        <p:txBody>
          <a:bodyPr wrap="square" lIns="0" tIns="0" rIns="0" bIns="0" rtlCol="0" anchor="ctr"/>
          <a:lstStyle/>
          <a:p>
            <a:pPr marL="0" indent="0">
              <a:buNone/>
            </a:pPr>
            <a:r>
              <a:rPr lang="en-US" sz="1300" dirty="0">
                <a:solidFill>
                  <a:srgbClr val="5F6B5F"/>
                </a:solidFill>
                <a:latin typeface="Calibri" pitchFamily="34" charset="0"/>
                <a:ea typeface="Calibri" pitchFamily="34" charset="-122"/>
                <a:cs typeface="Calibri" pitchFamily="34" charset="-120"/>
              </a:rPr>
              <a:t>Faire venir un technicien demande du temps et représente un budget réel.</a:t>
            </a:r>
            <a:endParaRPr lang="en-US" sz="1300" dirty="0"/>
          </a:p>
        </p:txBody>
      </p:sp>
      <p:sp>
        <p:nvSpPr>
          <p:cNvPr id="14" name="Shape 12"/>
          <p:cNvSpPr/>
          <p:nvPr/>
        </p:nvSpPr>
        <p:spPr>
          <a:xfrm>
            <a:off x="548640" y="4343400"/>
            <a:ext cx="6583680" cy="1234440"/>
          </a:xfrm>
          <a:prstGeom prst="roundRect">
            <a:avLst>
              <a:gd name="adj" fmla="val 4444"/>
            </a:avLst>
          </a:prstGeom>
          <a:solidFill>
            <a:srgbClr val="EEF3EA"/>
          </a:solidFill>
          <a:ln w="12700">
            <a:solidFill>
              <a:srgbClr val="EEF3EA"/>
            </a:solidFill>
            <a:prstDash val="solid"/>
          </a:ln>
        </p:spPr>
        <p:txBody>
          <a:bodyPr/>
          <a:lstStyle/>
          <a:p>
            <a:endParaRPr lang="fr-FR"/>
          </a:p>
        </p:txBody>
      </p:sp>
      <p:sp>
        <p:nvSpPr>
          <p:cNvPr id="15" name="Shape 13"/>
          <p:cNvSpPr/>
          <p:nvPr/>
        </p:nvSpPr>
        <p:spPr>
          <a:xfrm>
            <a:off x="777240" y="4754880"/>
            <a:ext cx="420624" cy="420624"/>
          </a:xfrm>
          <a:prstGeom prst="ellipse">
            <a:avLst/>
          </a:prstGeom>
          <a:solidFill>
            <a:srgbClr val="2C5F2D"/>
          </a:solidFill>
          <a:ln w="12700">
            <a:solidFill>
              <a:srgbClr val="2C5F2D"/>
            </a:solidFill>
            <a:prstDash val="solid"/>
          </a:ln>
        </p:spPr>
        <p:txBody>
          <a:bodyPr/>
          <a:lstStyle/>
          <a:p>
            <a:endParaRPr lang="fr-FR"/>
          </a:p>
        </p:txBody>
      </p:sp>
      <p:sp>
        <p:nvSpPr>
          <p:cNvPr id="16" name="Text 14"/>
          <p:cNvSpPr txBox="1"/>
          <p:nvPr/>
        </p:nvSpPr>
        <p:spPr>
          <a:xfrm>
            <a:off x="777240" y="47548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353312" y="4572000"/>
            <a:ext cx="5852160" cy="27432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Aucun outil mobile</a:t>
            </a:r>
            <a:endParaRPr lang="en-US" sz="1600" dirty="0"/>
          </a:p>
        </p:txBody>
      </p:sp>
      <p:sp>
        <p:nvSpPr>
          <p:cNvPr id="18" name="Text 16"/>
          <p:cNvSpPr txBox="1"/>
          <p:nvPr/>
        </p:nvSpPr>
        <p:spPr>
          <a:xfrm>
            <a:off x="1353312" y="4910328"/>
            <a:ext cx="5852160" cy="530352"/>
          </a:xfrm>
          <a:prstGeom prst="rect">
            <a:avLst/>
          </a:prstGeom>
          <a:noFill/>
          <a:ln/>
        </p:spPr>
        <p:txBody>
          <a:bodyPr wrap="square" lIns="0" tIns="0" rIns="0" bIns="0" rtlCol="0" anchor="ctr"/>
          <a:lstStyle/>
          <a:p>
            <a:pPr marL="0" indent="0">
              <a:buNone/>
            </a:pPr>
            <a:r>
              <a:rPr lang="en-US" sz="1300" dirty="0">
                <a:solidFill>
                  <a:srgbClr val="5F6B5F"/>
                </a:solidFill>
                <a:latin typeface="Calibri" pitchFamily="34" charset="0"/>
                <a:ea typeface="Calibri" pitchFamily="34" charset="-122"/>
                <a:cs typeface="Calibri" pitchFamily="34" charset="-120"/>
              </a:rPr>
              <a:t>Rien d'accessible pour les petites et </a:t>
            </a:r>
            <a:r>
              <a:rPr lang="en-US" sz="1300" dirty="0" err="1">
                <a:solidFill>
                  <a:srgbClr val="5F6B5F"/>
                </a:solidFill>
                <a:latin typeface="Calibri" pitchFamily="34" charset="0"/>
                <a:ea typeface="Calibri" pitchFamily="34" charset="-122"/>
                <a:cs typeface="Calibri" pitchFamily="34" charset="-120"/>
              </a:rPr>
              <a:t>moyennes</a:t>
            </a:r>
            <a:r>
              <a:rPr lang="en-US" sz="1300">
                <a:solidFill>
                  <a:srgbClr val="5F6B5F"/>
                </a:solidFill>
                <a:latin typeface="Calibri" pitchFamily="34" charset="0"/>
                <a:ea typeface="Calibri" pitchFamily="34" charset="-122"/>
                <a:cs typeface="Calibri" pitchFamily="34" charset="-120"/>
              </a:rPr>
              <a:t> exploitations.</a:t>
            </a:r>
            <a:endParaRPr lang="en-US" sz="1300" dirty="0"/>
          </a:p>
        </p:txBody>
      </p:sp>
      <p:sp>
        <p:nvSpPr>
          <p:cNvPr id="19" name="Shape 17"/>
          <p:cNvSpPr/>
          <p:nvPr/>
        </p:nvSpPr>
        <p:spPr>
          <a:xfrm>
            <a:off x="7406640" y="1600200"/>
            <a:ext cx="4206240" cy="3977640"/>
          </a:xfrm>
          <a:prstGeom prst="roundRect">
            <a:avLst>
              <a:gd name="adj" fmla="val 1379"/>
            </a:avLst>
          </a:prstGeom>
          <a:solidFill>
            <a:srgbClr val="2C5F2D"/>
          </a:solidFill>
          <a:ln w="12700">
            <a:solidFill>
              <a:srgbClr val="2C5F2D"/>
            </a:solidFill>
            <a:prstDash val="solid"/>
          </a:ln>
        </p:spPr>
        <p:txBody>
          <a:bodyPr/>
          <a:lstStyle/>
          <a:p>
            <a:endParaRPr lang="fr-FR"/>
          </a:p>
        </p:txBody>
      </p:sp>
      <p:sp>
        <p:nvSpPr>
          <p:cNvPr id="20" name="Text 18"/>
          <p:cNvSpPr txBox="1"/>
          <p:nvPr/>
        </p:nvSpPr>
        <p:spPr>
          <a:xfrm>
            <a:off x="7726680" y="1920240"/>
            <a:ext cx="356616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NOTRE RÉPONSE</a:t>
            </a:r>
            <a:endParaRPr lang="en-US" sz="1200" dirty="0"/>
          </a:p>
        </p:txBody>
      </p:sp>
      <p:sp>
        <p:nvSpPr>
          <p:cNvPr id="21" name="Text 19"/>
          <p:cNvSpPr txBox="1"/>
          <p:nvPr/>
        </p:nvSpPr>
        <p:spPr>
          <a:xfrm>
            <a:off x="7726680" y="2331720"/>
            <a:ext cx="3566160" cy="1371600"/>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Photographier une feuille, obtenir un diagnostic immédiat.</a:t>
            </a:r>
            <a:endParaRPr lang="en-US" sz="2100" dirty="0"/>
          </a:p>
        </p:txBody>
      </p:sp>
      <p:sp>
        <p:nvSpPr>
          <p:cNvPr id="22" name="Text 20"/>
          <p:cNvSpPr txBox="1"/>
          <p:nvPr/>
        </p:nvSpPr>
        <p:spPr>
          <a:xfrm>
            <a:off x="7726680" y="3749040"/>
            <a:ext cx="3566160" cy="1005840"/>
          </a:xfrm>
          <a:prstGeom prst="rect">
            <a:avLst/>
          </a:prstGeom>
          <a:noFill/>
          <a:ln/>
        </p:spPr>
        <p:txBody>
          <a:bodyPr wrap="square" lIns="0" tIns="0" rIns="0" bIns="0" rtlCol="0" anchor="ctr"/>
          <a:lstStyle/>
          <a:p>
            <a:pPr marL="0" indent="0">
              <a:buNone/>
            </a:pPr>
            <a:r>
              <a:rPr lang="en-US" sz="1300" dirty="0">
                <a:solidFill>
                  <a:srgbClr val="D8E8CF"/>
                </a:solidFill>
                <a:latin typeface="Calibri" pitchFamily="34" charset="0"/>
                <a:ea typeface="Calibri" pitchFamily="34" charset="-122"/>
                <a:cs typeface="Calibri" pitchFamily="34" charset="-120"/>
              </a:rPr>
              <a:t>Une application web mobile utilisable directement depuis le champ, sans installation ni matériel particulier.</a:t>
            </a:r>
            <a:endParaRPr lang="en-US" sz="1300" dirty="0"/>
          </a:p>
        </p:txBody>
      </p:sp>
      <p:sp>
        <p:nvSpPr>
          <p:cNvPr id="23" name="Text 21"/>
          <p:cNvSpPr txBox="1"/>
          <p:nvPr/>
        </p:nvSpPr>
        <p:spPr>
          <a:xfrm>
            <a:off x="7726680" y="4983480"/>
            <a:ext cx="3566160" cy="274320"/>
          </a:xfrm>
          <a:prstGeom prst="rect">
            <a:avLst/>
          </a:prstGeom>
          <a:noFill/>
          <a:ln/>
        </p:spPr>
        <p:txBody>
          <a:bodyPr wrap="square" lIns="0" tIns="0" rIns="0" bIns="0" rtlCol="0" anchor="ctr"/>
          <a:lstStyle/>
          <a:p>
            <a:pPr marL="0" indent="0">
              <a:buNone/>
            </a:pPr>
            <a:r>
              <a:rPr lang="en-US" sz="1300" b="1" i="1" dirty="0">
                <a:solidFill>
                  <a:srgbClr val="97BC62"/>
                </a:solidFill>
                <a:latin typeface="Calibri" pitchFamily="34" charset="0"/>
                <a:ea typeface="Calibri" pitchFamily="34" charset="-122"/>
                <a:cs typeface="Calibri" pitchFamily="34" charset="-120"/>
              </a:rPr>
              <a:t>Simple · Rapide · Accessible · Précis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4A7A3A"/>
                </a:solidFill>
                <a:latin typeface="Calibri" pitchFamily="34" charset="0"/>
                <a:ea typeface="Calibri" pitchFamily="34" charset="-122"/>
                <a:cs typeface="Calibri" pitchFamily="34" charset="-120"/>
              </a:rPr>
              <a:t>CAHIER DES CHARGES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a:solidFill>
                  <a:srgbClr val="2C5F2D"/>
                </a:solidFill>
                <a:latin typeface="Cambria" pitchFamily="34" charset="0"/>
                <a:ea typeface="Cambria" pitchFamily="34" charset="-122"/>
              </a:rPr>
              <a:t>Objectifs</a:t>
            </a:r>
            <a:r>
              <a:rPr lang="en-US" sz="3400" b="1" dirty="0">
                <a:solidFill>
                  <a:srgbClr val="2C5F2D"/>
                </a:solidFill>
                <a:latin typeface="Cambria" pitchFamily="34" charset="0"/>
                <a:ea typeface="Cambria" pitchFamily="34" charset="-122"/>
              </a:rPr>
              <a:t> du cahier des charges</a:t>
            </a:r>
            <a:endParaRPr lang="en-US" sz="3400" dirty="0"/>
          </a:p>
        </p:txBody>
      </p:sp>
      <p:sp>
        <p:nvSpPr>
          <p:cNvPr id="4" name="Shape 2"/>
          <p:cNvSpPr/>
          <p:nvPr/>
        </p:nvSpPr>
        <p:spPr>
          <a:xfrm>
            <a:off x="548640" y="1600200"/>
            <a:ext cx="11064240" cy="621792"/>
          </a:xfrm>
          <a:prstGeom prst="roundRect">
            <a:avLst>
              <a:gd name="adj" fmla="val 8824"/>
            </a:avLst>
          </a:prstGeom>
          <a:solidFill>
            <a:srgbClr val="EEF3EA"/>
          </a:solidFill>
          <a:ln w="12700">
            <a:solidFill>
              <a:srgbClr val="EEF3EA"/>
            </a:solidFill>
            <a:prstDash val="solid"/>
          </a:ln>
        </p:spPr>
        <p:txBody>
          <a:bodyPr/>
          <a:lstStyle/>
          <a:p>
            <a:endParaRPr lang="fr-FR"/>
          </a:p>
        </p:txBody>
      </p:sp>
      <p:sp>
        <p:nvSpPr>
          <p:cNvPr id="5" name="Shape 3"/>
          <p:cNvSpPr/>
          <p:nvPr/>
        </p:nvSpPr>
        <p:spPr>
          <a:xfrm>
            <a:off x="713232" y="1700784"/>
            <a:ext cx="420624" cy="420624"/>
          </a:xfrm>
          <a:prstGeom prst="ellipse">
            <a:avLst/>
          </a:prstGeom>
          <a:solidFill>
            <a:srgbClr val="2C5F2D"/>
          </a:solidFill>
          <a:ln w="12700">
            <a:solidFill>
              <a:srgbClr val="2C5F2D"/>
            </a:solidFill>
            <a:prstDash val="solid"/>
          </a:ln>
        </p:spPr>
        <p:txBody>
          <a:bodyPr/>
          <a:lstStyle/>
          <a:p>
            <a:endParaRPr lang="fr-FR"/>
          </a:p>
        </p:txBody>
      </p:sp>
      <p:sp>
        <p:nvSpPr>
          <p:cNvPr id="6" name="Text 4"/>
          <p:cNvSpPr txBox="1"/>
          <p:nvPr/>
        </p:nvSpPr>
        <p:spPr>
          <a:xfrm>
            <a:off x="713232" y="1700784"/>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298448" y="1764792"/>
            <a:ext cx="7589520" cy="32004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Application </a:t>
            </a:r>
            <a:endParaRPr lang="en-US" sz="1600" dirty="0"/>
          </a:p>
        </p:txBody>
      </p:sp>
      <p:sp>
        <p:nvSpPr>
          <p:cNvPr id="9" name="Shape 7"/>
          <p:cNvSpPr/>
          <p:nvPr/>
        </p:nvSpPr>
        <p:spPr>
          <a:xfrm>
            <a:off x="548640" y="2350008"/>
            <a:ext cx="11064240" cy="621792"/>
          </a:xfrm>
          <a:prstGeom prst="roundRect">
            <a:avLst>
              <a:gd name="adj" fmla="val 8824"/>
            </a:avLst>
          </a:prstGeom>
          <a:solidFill>
            <a:srgbClr val="EEF3EA"/>
          </a:solidFill>
          <a:ln w="12700">
            <a:solidFill>
              <a:srgbClr val="EEF3EA"/>
            </a:solidFill>
            <a:prstDash val="solid"/>
          </a:ln>
        </p:spPr>
        <p:txBody>
          <a:bodyPr/>
          <a:lstStyle/>
          <a:p>
            <a:endParaRPr lang="fr-FR"/>
          </a:p>
        </p:txBody>
      </p:sp>
      <p:sp>
        <p:nvSpPr>
          <p:cNvPr id="10" name="Shape 8"/>
          <p:cNvSpPr/>
          <p:nvPr/>
        </p:nvSpPr>
        <p:spPr>
          <a:xfrm>
            <a:off x="713232" y="2450592"/>
            <a:ext cx="420624" cy="420624"/>
          </a:xfrm>
          <a:prstGeom prst="ellipse">
            <a:avLst/>
          </a:prstGeom>
          <a:solidFill>
            <a:srgbClr val="2C5F2D"/>
          </a:solidFill>
          <a:ln w="12700">
            <a:solidFill>
              <a:srgbClr val="2C5F2D"/>
            </a:solidFill>
            <a:prstDash val="solid"/>
          </a:ln>
        </p:spPr>
        <p:txBody>
          <a:bodyPr/>
          <a:lstStyle/>
          <a:p>
            <a:endParaRPr lang="fr-FR"/>
          </a:p>
        </p:txBody>
      </p:sp>
      <p:sp>
        <p:nvSpPr>
          <p:cNvPr id="11" name="Text 9"/>
          <p:cNvSpPr txBox="1"/>
          <p:nvPr/>
        </p:nvSpPr>
        <p:spPr>
          <a:xfrm>
            <a:off x="713232" y="245059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298448" y="2514600"/>
            <a:ext cx="7589520" cy="32004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Fonctionnalité d'intelligence artificielle</a:t>
            </a:r>
            <a:endParaRPr lang="en-US" sz="1600" dirty="0"/>
          </a:p>
        </p:txBody>
      </p:sp>
      <p:sp>
        <p:nvSpPr>
          <p:cNvPr id="14" name="Shape 12"/>
          <p:cNvSpPr/>
          <p:nvPr/>
        </p:nvSpPr>
        <p:spPr>
          <a:xfrm>
            <a:off x="548640" y="3099816"/>
            <a:ext cx="11064240" cy="621792"/>
          </a:xfrm>
          <a:prstGeom prst="roundRect">
            <a:avLst>
              <a:gd name="adj" fmla="val 8824"/>
            </a:avLst>
          </a:prstGeom>
          <a:solidFill>
            <a:srgbClr val="EEF3EA"/>
          </a:solidFill>
          <a:ln w="12700">
            <a:solidFill>
              <a:srgbClr val="EEF3EA"/>
            </a:solidFill>
            <a:prstDash val="solid"/>
          </a:ln>
        </p:spPr>
        <p:txBody>
          <a:bodyPr/>
          <a:lstStyle/>
          <a:p>
            <a:endParaRPr lang="fr-FR"/>
          </a:p>
        </p:txBody>
      </p:sp>
      <p:sp>
        <p:nvSpPr>
          <p:cNvPr id="15" name="Shape 13"/>
          <p:cNvSpPr/>
          <p:nvPr/>
        </p:nvSpPr>
        <p:spPr>
          <a:xfrm>
            <a:off x="713232" y="3200400"/>
            <a:ext cx="420624" cy="420624"/>
          </a:xfrm>
          <a:prstGeom prst="ellipse">
            <a:avLst/>
          </a:prstGeom>
          <a:solidFill>
            <a:srgbClr val="2C5F2D"/>
          </a:solidFill>
          <a:ln w="12700">
            <a:solidFill>
              <a:srgbClr val="2C5F2D"/>
            </a:solidFill>
            <a:prstDash val="solid"/>
          </a:ln>
        </p:spPr>
        <p:txBody>
          <a:bodyPr/>
          <a:lstStyle/>
          <a:p>
            <a:endParaRPr lang="fr-FR"/>
          </a:p>
        </p:txBody>
      </p:sp>
      <p:sp>
        <p:nvSpPr>
          <p:cNvPr id="16" name="Text 14"/>
          <p:cNvSpPr txBox="1"/>
          <p:nvPr/>
        </p:nvSpPr>
        <p:spPr>
          <a:xfrm>
            <a:off x="713232" y="320040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298448" y="3264408"/>
            <a:ext cx="7589520" cy="32004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Déploiement sur infrastructure cloud</a:t>
            </a:r>
            <a:endParaRPr lang="en-US" sz="1600" dirty="0"/>
          </a:p>
        </p:txBody>
      </p:sp>
      <p:sp>
        <p:nvSpPr>
          <p:cNvPr id="19" name="Shape 17"/>
          <p:cNvSpPr/>
          <p:nvPr/>
        </p:nvSpPr>
        <p:spPr>
          <a:xfrm>
            <a:off x="548640" y="3849624"/>
            <a:ext cx="11064240" cy="621792"/>
          </a:xfrm>
          <a:prstGeom prst="roundRect">
            <a:avLst>
              <a:gd name="adj" fmla="val 8824"/>
            </a:avLst>
          </a:prstGeom>
          <a:solidFill>
            <a:srgbClr val="EEF3EA"/>
          </a:solidFill>
          <a:ln w="12700">
            <a:solidFill>
              <a:srgbClr val="EEF3EA"/>
            </a:solidFill>
            <a:prstDash val="solid"/>
          </a:ln>
        </p:spPr>
        <p:txBody>
          <a:bodyPr/>
          <a:lstStyle/>
          <a:p>
            <a:endParaRPr lang="fr-FR"/>
          </a:p>
        </p:txBody>
      </p:sp>
      <p:sp>
        <p:nvSpPr>
          <p:cNvPr id="20" name="Shape 18"/>
          <p:cNvSpPr/>
          <p:nvPr/>
        </p:nvSpPr>
        <p:spPr>
          <a:xfrm>
            <a:off x="713232" y="3950208"/>
            <a:ext cx="420624" cy="420624"/>
          </a:xfrm>
          <a:prstGeom prst="ellipse">
            <a:avLst/>
          </a:prstGeom>
          <a:solidFill>
            <a:srgbClr val="2C5F2D"/>
          </a:solidFill>
          <a:ln w="12700">
            <a:solidFill>
              <a:srgbClr val="2C5F2D"/>
            </a:solidFill>
            <a:prstDash val="solid"/>
          </a:ln>
        </p:spPr>
        <p:txBody>
          <a:bodyPr/>
          <a:lstStyle/>
          <a:p>
            <a:endParaRPr lang="fr-FR"/>
          </a:p>
        </p:txBody>
      </p:sp>
      <p:sp>
        <p:nvSpPr>
          <p:cNvPr id="21" name="Text 19"/>
          <p:cNvSpPr txBox="1"/>
          <p:nvPr/>
        </p:nvSpPr>
        <p:spPr>
          <a:xfrm>
            <a:off x="713232" y="395020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298448" y="4014216"/>
            <a:ext cx="7589520" cy="32004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Architecture réseau avec capteurs IoT</a:t>
            </a:r>
            <a:endParaRPr lang="en-US" sz="1600" dirty="0"/>
          </a:p>
        </p:txBody>
      </p:sp>
      <p:sp>
        <p:nvSpPr>
          <p:cNvPr id="24" name="Shape 22"/>
          <p:cNvSpPr/>
          <p:nvPr/>
        </p:nvSpPr>
        <p:spPr>
          <a:xfrm>
            <a:off x="548640" y="4599432"/>
            <a:ext cx="11064240" cy="621792"/>
          </a:xfrm>
          <a:prstGeom prst="roundRect">
            <a:avLst>
              <a:gd name="adj" fmla="val 8824"/>
            </a:avLst>
          </a:prstGeom>
          <a:solidFill>
            <a:srgbClr val="EEF3EA"/>
          </a:solidFill>
          <a:ln w="12700">
            <a:solidFill>
              <a:srgbClr val="EEF3EA"/>
            </a:solidFill>
            <a:prstDash val="solid"/>
          </a:ln>
        </p:spPr>
        <p:txBody>
          <a:bodyPr/>
          <a:lstStyle/>
          <a:p>
            <a:endParaRPr lang="fr-FR"/>
          </a:p>
        </p:txBody>
      </p:sp>
      <p:sp>
        <p:nvSpPr>
          <p:cNvPr id="25" name="Shape 23"/>
          <p:cNvSpPr/>
          <p:nvPr/>
        </p:nvSpPr>
        <p:spPr>
          <a:xfrm>
            <a:off x="713232" y="4700016"/>
            <a:ext cx="420624" cy="420624"/>
          </a:xfrm>
          <a:prstGeom prst="ellipse">
            <a:avLst/>
          </a:prstGeom>
          <a:solidFill>
            <a:srgbClr val="2C5F2D"/>
          </a:solidFill>
          <a:ln w="12700">
            <a:solidFill>
              <a:srgbClr val="2C5F2D"/>
            </a:solidFill>
            <a:prstDash val="solid"/>
          </a:ln>
        </p:spPr>
        <p:txBody>
          <a:bodyPr/>
          <a:lstStyle/>
          <a:p>
            <a:endParaRPr lang="fr-FR"/>
          </a:p>
        </p:txBody>
      </p:sp>
      <p:sp>
        <p:nvSpPr>
          <p:cNvPr id="26" name="Text 24"/>
          <p:cNvSpPr txBox="1"/>
          <p:nvPr/>
        </p:nvSpPr>
        <p:spPr>
          <a:xfrm>
            <a:off x="713232" y="47000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298448" y="4764024"/>
            <a:ext cx="7589520" cy="32004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Trois technologies et documentation</a:t>
            </a:r>
            <a:endParaRPr lang="en-US" sz="1600" dirty="0"/>
          </a:p>
        </p:txBody>
      </p:sp>
      <p:sp>
        <p:nvSpPr>
          <p:cNvPr id="30" name="Text 28"/>
          <p:cNvSpPr txBox="1"/>
          <p:nvPr/>
        </p:nvSpPr>
        <p:spPr>
          <a:xfrm>
            <a:off x="868680" y="5605272"/>
            <a:ext cx="1645920" cy="54864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100 %</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4A7A3A"/>
                </a:solidFill>
                <a:latin typeface="Calibri" pitchFamily="34" charset="0"/>
                <a:ea typeface="Calibri" pitchFamily="34" charset="-122"/>
                <a:cs typeface="Calibri" pitchFamily="34" charset="-120"/>
              </a:rPr>
              <a:t>DÉMONSTRATION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err="1">
                <a:solidFill>
                  <a:srgbClr val="2C5F2D"/>
                </a:solidFill>
                <a:latin typeface="Cambria" pitchFamily="34" charset="0"/>
                <a:ea typeface="Cambria" pitchFamily="34" charset="-122"/>
              </a:rPr>
              <a:t>Démonstration</a:t>
            </a:r>
            <a:endParaRPr lang="en-US" sz="3400" dirty="0"/>
          </a:p>
        </p:txBody>
      </p:sp>
      <p:sp>
        <p:nvSpPr>
          <p:cNvPr id="4" name="Shape 2"/>
          <p:cNvSpPr/>
          <p:nvPr/>
        </p:nvSpPr>
        <p:spPr>
          <a:xfrm>
            <a:off x="548640" y="1536192"/>
            <a:ext cx="11064240" cy="868680"/>
          </a:xfrm>
          <a:prstGeom prst="roundRect">
            <a:avLst>
              <a:gd name="adj" fmla="val 6316"/>
            </a:avLst>
          </a:prstGeom>
          <a:solidFill>
            <a:srgbClr val="2C5F2D"/>
          </a:solidFill>
          <a:ln w="12700">
            <a:solidFill>
              <a:srgbClr val="2C5F2D"/>
            </a:solidFill>
            <a:prstDash val="solid"/>
          </a:ln>
        </p:spPr>
        <p:txBody>
          <a:bodyPr/>
          <a:lstStyle/>
          <a:p>
            <a:endParaRPr lang="fr-FR"/>
          </a:p>
        </p:txBody>
      </p:sp>
      <p:sp>
        <p:nvSpPr>
          <p:cNvPr id="5" name="Text 3"/>
          <p:cNvSpPr txBox="1"/>
          <p:nvPr/>
        </p:nvSpPr>
        <p:spPr>
          <a:xfrm>
            <a:off x="868680" y="1536192"/>
            <a:ext cx="6858000" cy="868680"/>
          </a:xfrm>
          <a:prstGeom prst="rect">
            <a:avLst/>
          </a:prstGeom>
          <a:noFill/>
          <a:ln/>
        </p:spPr>
        <p:txBody>
          <a:bodyPr wrap="square" lIns="0" tIns="0" rIns="0" bIns="0" rtlCol="0" anchor="ctr"/>
          <a:lstStyle/>
          <a:p>
            <a:pPr marL="0" indent="0">
              <a:buNone/>
            </a:pPr>
            <a:r>
              <a:rPr lang="en-US" sz="2600" b="1" dirty="0">
                <a:solidFill>
                  <a:srgbClr val="FFFFFF"/>
                </a:solidFill>
                <a:latin typeface="Consolas" pitchFamily="34" charset="0"/>
                <a:ea typeface="Consolas" pitchFamily="34" charset="-122"/>
                <a:cs typeface="Consolas" pitchFamily="34" charset="-120"/>
              </a:rPr>
              <a:t>http://13.51.48.254:8000</a:t>
            </a:r>
            <a:endParaRPr lang="en-US" sz="2600" dirty="0"/>
          </a:p>
        </p:txBody>
      </p:sp>
      <p:sp>
        <p:nvSpPr>
          <p:cNvPr id="6" name="Text 4"/>
          <p:cNvSpPr txBox="1"/>
          <p:nvPr/>
        </p:nvSpPr>
        <p:spPr>
          <a:xfrm>
            <a:off x="7863840" y="1536192"/>
            <a:ext cx="3429000" cy="868680"/>
          </a:xfrm>
          <a:prstGeom prst="rect">
            <a:avLst/>
          </a:prstGeom>
          <a:noFill/>
          <a:ln/>
        </p:spPr>
        <p:txBody>
          <a:bodyPr wrap="square" lIns="0" tIns="0" rIns="0" bIns="0" rtlCol="0" anchor="ctr"/>
          <a:lstStyle/>
          <a:p>
            <a:pPr marL="0" indent="0" algn="r">
              <a:buNone/>
            </a:pPr>
            <a:r>
              <a:rPr lang="en-US" sz="1400" dirty="0">
                <a:solidFill>
                  <a:srgbClr val="97BC62"/>
                </a:solidFill>
                <a:latin typeface="Calibri" pitchFamily="34" charset="0"/>
                <a:ea typeface="Calibri" pitchFamily="34" charset="-122"/>
                <a:cs typeface="Calibri" pitchFamily="34" charset="-120"/>
              </a:rPr>
              <a:t>En ligne 24 h / 24</a:t>
            </a:r>
            <a:endParaRPr lang="en-US" sz="1400" dirty="0"/>
          </a:p>
        </p:txBody>
      </p:sp>
      <p:sp>
        <p:nvSpPr>
          <p:cNvPr id="7" name="Shape 5"/>
          <p:cNvSpPr/>
          <p:nvPr/>
        </p:nvSpPr>
        <p:spPr>
          <a:xfrm>
            <a:off x="548640" y="2606040"/>
            <a:ext cx="3502152" cy="1600200"/>
          </a:xfrm>
          <a:prstGeom prst="roundRect">
            <a:avLst>
              <a:gd name="adj" fmla="val 3429"/>
            </a:avLst>
          </a:prstGeom>
          <a:solidFill>
            <a:srgbClr val="EEF3EA"/>
          </a:solidFill>
          <a:ln w="12700">
            <a:solidFill>
              <a:srgbClr val="EEF3EA"/>
            </a:solidFill>
            <a:prstDash val="solid"/>
          </a:ln>
        </p:spPr>
        <p:txBody>
          <a:bodyPr/>
          <a:lstStyle/>
          <a:p>
            <a:endParaRPr lang="fr-FR"/>
          </a:p>
        </p:txBody>
      </p:sp>
      <p:sp>
        <p:nvSpPr>
          <p:cNvPr id="8" name="Shape 6"/>
          <p:cNvSpPr/>
          <p:nvPr/>
        </p:nvSpPr>
        <p:spPr>
          <a:xfrm>
            <a:off x="804672" y="2862072"/>
            <a:ext cx="420624" cy="420624"/>
          </a:xfrm>
          <a:prstGeom prst="ellipse">
            <a:avLst/>
          </a:prstGeom>
          <a:solidFill>
            <a:srgbClr val="2C5F2D"/>
          </a:solidFill>
          <a:ln w="12700">
            <a:solidFill>
              <a:srgbClr val="2C5F2D"/>
            </a:solidFill>
            <a:prstDash val="solid"/>
          </a:ln>
        </p:spPr>
        <p:txBody>
          <a:bodyPr/>
          <a:lstStyle/>
          <a:p>
            <a:endParaRPr lang="fr-FR"/>
          </a:p>
        </p:txBody>
      </p:sp>
      <p:sp>
        <p:nvSpPr>
          <p:cNvPr id="9" name="Text 7"/>
          <p:cNvSpPr txBox="1"/>
          <p:nvPr/>
        </p:nvSpPr>
        <p:spPr>
          <a:xfrm>
            <a:off x="804672" y="286207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804672" y="3383280"/>
            <a:ext cx="3017520" cy="292608"/>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Créer une parcelle</a:t>
            </a:r>
            <a:endParaRPr lang="en-US" sz="1500" dirty="0"/>
          </a:p>
        </p:txBody>
      </p:sp>
      <p:sp>
        <p:nvSpPr>
          <p:cNvPr id="11" name="Text 9"/>
          <p:cNvSpPr txBox="1"/>
          <p:nvPr/>
        </p:nvSpPr>
        <p:spPr>
          <a:xfrm>
            <a:off x="804672" y="3685032"/>
            <a:ext cx="3017520" cy="411480"/>
          </a:xfrm>
          <a:prstGeom prst="rect">
            <a:avLst/>
          </a:prstGeom>
          <a:noFill/>
          <a:ln/>
        </p:spPr>
        <p:txBody>
          <a:bodyPr wrap="square" lIns="0" tIns="0" rIns="0" bIns="0" rtlCol="0" anchor="ctr"/>
          <a:lstStyle/>
          <a:p>
            <a:pPr marL="0" indent="0">
              <a:buNone/>
            </a:pPr>
            <a:r>
              <a:rPr lang="en-US" sz="1200" dirty="0">
                <a:solidFill>
                  <a:srgbClr val="5F6B5F"/>
                </a:solidFill>
                <a:latin typeface="Calibri" pitchFamily="34" charset="0"/>
                <a:ea typeface="Calibri" pitchFamily="34" charset="-122"/>
                <a:cs typeface="Calibri" pitchFamily="34" charset="-120"/>
              </a:rPr>
              <a:t>Nom du champ et type de culture</a:t>
            </a:r>
            <a:endParaRPr lang="en-US" sz="1200" dirty="0"/>
          </a:p>
        </p:txBody>
      </p:sp>
      <p:sp>
        <p:nvSpPr>
          <p:cNvPr id="12" name="Shape 10"/>
          <p:cNvSpPr/>
          <p:nvPr/>
        </p:nvSpPr>
        <p:spPr>
          <a:xfrm>
            <a:off x="4325112" y="2606040"/>
            <a:ext cx="3502152" cy="1600200"/>
          </a:xfrm>
          <a:prstGeom prst="roundRect">
            <a:avLst>
              <a:gd name="adj" fmla="val 3429"/>
            </a:avLst>
          </a:prstGeom>
          <a:solidFill>
            <a:srgbClr val="EEF3EA"/>
          </a:solidFill>
          <a:ln w="12700">
            <a:solidFill>
              <a:srgbClr val="EEF3EA"/>
            </a:solidFill>
            <a:prstDash val="solid"/>
          </a:ln>
        </p:spPr>
        <p:txBody>
          <a:bodyPr/>
          <a:lstStyle/>
          <a:p>
            <a:endParaRPr lang="fr-FR"/>
          </a:p>
        </p:txBody>
      </p:sp>
      <p:sp>
        <p:nvSpPr>
          <p:cNvPr id="13" name="Shape 11"/>
          <p:cNvSpPr/>
          <p:nvPr/>
        </p:nvSpPr>
        <p:spPr>
          <a:xfrm>
            <a:off x="4581144" y="2862072"/>
            <a:ext cx="420624" cy="420624"/>
          </a:xfrm>
          <a:prstGeom prst="ellipse">
            <a:avLst/>
          </a:prstGeom>
          <a:solidFill>
            <a:srgbClr val="2C5F2D"/>
          </a:solidFill>
          <a:ln w="12700">
            <a:solidFill>
              <a:srgbClr val="2C5F2D"/>
            </a:solidFill>
            <a:prstDash val="solid"/>
          </a:ln>
        </p:spPr>
        <p:txBody>
          <a:bodyPr/>
          <a:lstStyle/>
          <a:p>
            <a:endParaRPr lang="fr-FR"/>
          </a:p>
        </p:txBody>
      </p:sp>
      <p:sp>
        <p:nvSpPr>
          <p:cNvPr id="14" name="Text 12"/>
          <p:cNvSpPr txBox="1"/>
          <p:nvPr/>
        </p:nvSpPr>
        <p:spPr>
          <a:xfrm>
            <a:off x="4581144" y="286207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4581144" y="3383280"/>
            <a:ext cx="3017520" cy="292608"/>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Photographier</a:t>
            </a:r>
            <a:endParaRPr lang="en-US" sz="1500" dirty="0"/>
          </a:p>
        </p:txBody>
      </p:sp>
      <p:sp>
        <p:nvSpPr>
          <p:cNvPr id="16" name="Text 14"/>
          <p:cNvSpPr txBox="1"/>
          <p:nvPr/>
        </p:nvSpPr>
        <p:spPr>
          <a:xfrm>
            <a:off x="4581144" y="3685032"/>
            <a:ext cx="3017520" cy="411480"/>
          </a:xfrm>
          <a:prstGeom prst="rect">
            <a:avLst/>
          </a:prstGeom>
          <a:noFill/>
          <a:ln/>
        </p:spPr>
        <p:txBody>
          <a:bodyPr wrap="square" lIns="0" tIns="0" rIns="0" bIns="0" rtlCol="0" anchor="ctr"/>
          <a:lstStyle/>
          <a:p>
            <a:pPr marL="0" indent="0">
              <a:buNone/>
            </a:pPr>
            <a:r>
              <a:rPr lang="en-US" sz="1200" dirty="0">
                <a:solidFill>
                  <a:srgbClr val="5F6B5F"/>
                </a:solidFill>
                <a:latin typeface="Calibri" pitchFamily="34" charset="0"/>
                <a:ea typeface="Calibri" pitchFamily="34" charset="-122"/>
                <a:cs typeface="Calibri" pitchFamily="34" charset="-120"/>
              </a:rPr>
              <a:t>Galerie ou appareil photo du téléphone</a:t>
            </a:r>
            <a:endParaRPr lang="en-US" sz="1200" dirty="0"/>
          </a:p>
        </p:txBody>
      </p:sp>
      <p:sp>
        <p:nvSpPr>
          <p:cNvPr id="17" name="Shape 15"/>
          <p:cNvSpPr/>
          <p:nvPr/>
        </p:nvSpPr>
        <p:spPr>
          <a:xfrm>
            <a:off x="8101584" y="2606040"/>
            <a:ext cx="3502152" cy="1600200"/>
          </a:xfrm>
          <a:prstGeom prst="roundRect">
            <a:avLst>
              <a:gd name="adj" fmla="val 3429"/>
            </a:avLst>
          </a:prstGeom>
          <a:solidFill>
            <a:srgbClr val="EEF3EA"/>
          </a:solidFill>
          <a:ln w="12700">
            <a:solidFill>
              <a:srgbClr val="EEF3EA"/>
            </a:solidFill>
            <a:prstDash val="solid"/>
          </a:ln>
        </p:spPr>
        <p:txBody>
          <a:bodyPr/>
          <a:lstStyle/>
          <a:p>
            <a:endParaRPr lang="fr-FR"/>
          </a:p>
        </p:txBody>
      </p:sp>
      <p:sp>
        <p:nvSpPr>
          <p:cNvPr id="18" name="Shape 16"/>
          <p:cNvSpPr/>
          <p:nvPr/>
        </p:nvSpPr>
        <p:spPr>
          <a:xfrm>
            <a:off x="8357616" y="2862072"/>
            <a:ext cx="420624" cy="420624"/>
          </a:xfrm>
          <a:prstGeom prst="ellipse">
            <a:avLst/>
          </a:prstGeom>
          <a:solidFill>
            <a:srgbClr val="2C5F2D"/>
          </a:solidFill>
          <a:ln w="12700">
            <a:solidFill>
              <a:srgbClr val="2C5F2D"/>
            </a:solidFill>
            <a:prstDash val="solid"/>
          </a:ln>
        </p:spPr>
        <p:txBody>
          <a:bodyPr/>
          <a:lstStyle/>
          <a:p>
            <a:endParaRPr lang="fr-FR"/>
          </a:p>
        </p:txBody>
      </p:sp>
      <p:sp>
        <p:nvSpPr>
          <p:cNvPr id="19" name="Text 17"/>
          <p:cNvSpPr txBox="1"/>
          <p:nvPr/>
        </p:nvSpPr>
        <p:spPr>
          <a:xfrm>
            <a:off x="8357616" y="286207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357616" y="3383280"/>
            <a:ext cx="3017520" cy="292608"/>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Lire le diagnostic</a:t>
            </a:r>
            <a:endParaRPr lang="en-US" sz="1500" dirty="0"/>
          </a:p>
        </p:txBody>
      </p:sp>
      <p:sp>
        <p:nvSpPr>
          <p:cNvPr id="21" name="Text 19"/>
          <p:cNvSpPr txBox="1"/>
          <p:nvPr/>
        </p:nvSpPr>
        <p:spPr>
          <a:xfrm>
            <a:off x="8357616" y="3685032"/>
            <a:ext cx="3017520" cy="411480"/>
          </a:xfrm>
          <a:prstGeom prst="rect">
            <a:avLst/>
          </a:prstGeom>
          <a:noFill/>
          <a:ln/>
        </p:spPr>
        <p:txBody>
          <a:bodyPr wrap="square" lIns="0" tIns="0" rIns="0" bIns="0" rtlCol="0" anchor="ctr"/>
          <a:lstStyle/>
          <a:p>
            <a:pPr marL="0" indent="0">
              <a:buNone/>
            </a:pPr>
            <a:r>
              <a:rPr lang="en-US" sz="1200" dirty="0">
                <a:solidFill>
                  <a:srgbClr val="5F6B5F"/>
                </a:solidFill>
                <a:latin typeface="Calibri" pitchFamily="34" charset="0"/>
                <a:ea typeface="Calibri" pitchFamily="34" charset="-122"/>
                <a:cs typeface="Calibri" pitchFamily="34" charset="-120"/>
              </a:rPr>
              <a:t>Maladie, sévérité et traitements</a:t>
            </a:r>
            <a:endParaRPr lang="en-US" sz="1200" dirty="0"/>
          </a:p>
        </p:txBody>
      </p:sp>
      <p:sp>
        <p:nvSpPr>
          <p:cNvPr id="22" name="Shape 20"/>
          <p:cNvSpPr/>
          <p:nvPr/>
        </p:nvSpPr>
        <p:spPr>
          <a:xfrm>
            <a:off x="548640" y="4389120"/>
            <a:ext cx="3502152" cy="1600200"/>
          </a:xfrm>
          <a:prstGeom prst="roundRect">
            <a:avLst>
              <a:gd name="adj" fmla="val 3429"/>
            </a:avLst>
          </a:prstGeom>
          <a:solidFill>
            <a:srgbClr val="EEF3EA"/>
          </a:solidFill>
          <a:ln w="12700">
            <a:solidFill>
              <a:srgbClr val="EEF3EA"/>
            </a:solidFill>
            <a:prstDash val="solid"/>
          </a:ln>
        </p:spPr>
        <p:txBody>
          <a:bodyPr/>
          <a:lstStyle/>
          <a:p>
            <a:endParaRPr lang="fr-FR"/>
          </a:p>
        </p:txBody>
      </p:sp>
      <p:sp>
        <p:nvSpPr>
          <p:cNvPr id="23" name="Shape 21"/>
          <p:cNvSpPr/>
          <p:nvPr/>
        </p:nvSpPr>
        <p:spPr>
          <a:xfrm>
            <a:off x="804672" y="4645152"/>
            <a:ext cx="420624" cy="420624"/>
          </a:xfrm>
          <a:prstGeom prst="ellipse">
            <a:avLst/>
          </a:prstGeom>
          <a:solidFill>
            <a:srgbClr val="2C5F2D"/>
          </a:solidFill>
          <a:ln w="12700">
            <a:solidFill>
              <a:srgbClr val="2C5F2D"/>
            </a:solidFill>
            <a:prstDash val="solid"/>
          </a:ln>
        </p:spPr>
        <p:txBody>
          <a:bodyPr/>
          <a:lstStyle/>
          <a:p>
            <a:endParaRPr lang="fr-FR"/>
          </a:p>
        </p:txBody>
      </p:sp>
      <p:sp>
        <p:nvSpPr>
          <p:cNvPr id="24" name="Text 22"/>
          <p:cNvSpPr txBox="1"/>
          <p:nvPr/>
        </p:nvSpPr>
        <p:spPr>
          <a:xfrm>
            <a:off x="804672" y="464515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804672" y="5166360"/>
            <a:ext cx="3017520" cy="292608"/>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Relever les capteurs</a:t>
            </a:r>
            <a:endParaRPr lang="en-US" sz="1500" dirty="0"/>
          </a:p>
        </p:txBody>
      </p:sp>
      <p:sp>
        <p:nvSpPr>
          <p:cNvPr id="26" name="Text 24"/>
          <p:cNvSpPr txBox="1"/>
          <p:nvPr/>
        </p:nvSpPr>
        <p:spPr>
          <a:xfrm>
            <a:off x="804672" y="5468112"/>
            <a:ext cx="3017520" cy="411480"/>
          </a:xfrm>
          <a:prstGeom prst="rect">
            <a:avLst/>
          </a:prstGeom>
          <a:noFill/>
          <a:ln/>
        </p:spPr>
        <p:txBody>
          <a:bodyPr wrap="square" lIns="0" tIns="0" rIns="0" bIns="0" rtlCol="0" anchor="ctr"/>
          <a:lstStyle/>
          <a:p>
            <a:pPr marL="0" indent="0">
              <a:buNone/>
            </a:pPr>
            <a:r>
              <a:rPr lang="en-US" sz="1200" dirty="0">
                <a:solidFill>
                  <a:srgbClr val="5F6B5F"/>
                </a:solidFill>
                <a:latin typeface="Calibri" pitchFamily="34" charset="0"/>
                <a:ea typeface="Calibri" pitchFamily="34" charset="-122"/>
                <a:cs typeface="Calibri" pitchFamily="34" charset="-120"/>
              </a:rPr>
              <a:t>Six mesures par parcelle, en direct</a:t>
            </a:r>
            <a:endParaRPr lang="en-US" sz="1200" dirty="0"/>
          </a:p>
        </p:txBody>
      </p:sp>
      <p:sp>
        <p:nvSpPr>
          <p:cNvPr id="27" name="Shape 25"/>
          <p:cNvSpPr/>
          <p:nvPr/>
        </p:nvSpPr>
        <p:spPr>
          <a:xfrm>
            <a:off x="4325112" y="4389120"/>
            <a:ext cx="3502152" cy="1600200"/>
          </a:xfrm>
          <a:prstGeom prst="roundRect">
            <a:avLst>
              <a:gd name="adj" fmla="val 3429"/>
            </a:avLst>
          </a:prstGeom>
          <a:solidFill>
            <a:srgbClr val="EEF3EA"/>
          </a:solidFill>
          <a:ln w="12700">
            <a:solidFill>
              <a:srgbClr val="EEF3EA"/>
            </a:solidFill>
            <a:prstDash val="solid"/>
          </a:ln>
        </p:spPr>
        <p:txBody>
          <a:bodyPr/>
          <a:lstStyle/>
          <a:p>
            <a:endParaRPr lang="fr-FR"/>
          </a:p>
        </p:txBody>
      </p:sp>
      <p:sp>
        <p:nvSpPr>
          <p:cNvPr id="28" name="Shape 26"/>
          <p:cNvSpPr/>
          <p:nvPr/>
        </p:nvSpPr>
        <p:spPr>
          <a:xfrm>
            <a:off x="4581144" y="4645152"/>
            <a:ext cx="420624" cy="420624"/>
          </a:xfrm>
          <a:prstGeom prst="ellipse">
            <a:avLst/>
          </a:prstGeom>
          <a:solidFill>
            <a:srgbClr val="2C5F2D"/>
          </a:solidFill>
          <a:ln w="12700">
            <a:solidFill>
              <a:srgbClr val="2C5F2D"/>
            </a:solidFill>
            <a:prstDash val="solid"/>
          </a:ln>
        </p:spPr>
        <p:txBody>
          <a:bodyPr/>
          <a:lstStyle/>
          <a:p>
            <a:endParaRPr lang="fr-FR"/>
          </a:p>
        </p:txBody>
      </p:sp>
      <p:sp>
        <p:nvSpPr>
          <p:cNvPr id="29" name="Text 27"/>
          <p:cNvSpPr txBox="1"/>
          <p:nvPr/>
        </p:nvSpPr>
        <p:spPr>
          <a:xfrm>
            <a:off x="4581144" y="464515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581144" y="5166360"/>
            <a:ext cx="3017520" cy="292608"/>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Vérifier les alertes</a:t>
            </a:r>
            <a:endParaRPr lang="en-US" sz="1500" dirty="0"/>
          </a:p>
        </p:txBody>
      </p:sp>
      <p:sp>
        <p:nvSpPr>
          <p:cNvPr id="31" name="Text 29"/>
          <p:cNvSpPr txBox="1"/>
          <p:nvPr/>
        </p:nvSpPr>
        <p:spPr>
          <a:xfrm>
            <a:off x="4581144" y="5468112"/>
            <a:ext cx="3017520" cy="411480"/>
          </a:xfrm>
          <a:prstGeom prst="rect">
            <a:avLst/>
          </a:prstGeom>
          <a:noFill/>
          <a:ln/>
        </p:spPr>
        <p:txBody>
          <a:bodyPr wrap="square" lIns="0" tIns="0" rIns="0" bIns="0" rtlCol="0" anchor="ctr"/>
          <a:lstStyle/>
          <a:p>
            <a:pPr marL="0" indent="0">
              <a:buNone/>
            </a:pPr>
            <a:r>
              <a:rPr lang="en-US" sz="1200" dirty="0">
                <a:solidFill>
                  <a:srgbClr val="5F6B5F"/>
                </a:solidFill>
                <a:latin typeface="Calibri" pitchFamily="34" charset="0"/>
                <a:ea typeface="Calibri" pitchFamily="34" charset="-122"/>
                <a:cs typeface="Calibri" pitchFamily="34" charset="-120"/>
              </a:rPr>
              <a:t>Capteurs, IA et météo croisés</a:t>
            </a:r>
            <a:endParaRPr lang="en-US" sz="1200" dirty="0"/>
          </a:p>
        </p:txBody>
      </p:sp>
      <p:sp>
        <p:nvSpPr>
          <p:cNvPr id="32" name="Shape 30"/>
          <p:cNvSpPr/>
          <p:nvPr/>
        </p:nvSpPr>
        <p:spPr>
          <a:xfrm>
            <a:off x="8101584" y="4389120"/>
            <a:ext cx="3502152" cy="1600200"/>
          </a:xfrm>
          <a:prstGeom prst="roundRect">
            <a:avLst>
              <a:gd name="adj" fmla="val 3429"/>
            </a:avLst>
          </a:prstGeom>
          <a:solidFill>
            <a:srgbClr val="EEF3EA"/>
          </a:solidFill>
          <a:ln w="12700">
            <a:solidFill>
              <a:srgbClr val="EEF3EA"/>
            </a:solidFill>
            <a:prstDash val="solid"/>
          </a:ln>
        </p:spPr>
        <p:txBody>
          <a:bodyPr/>
          <a:lstStyle/>
          <a:p>
            <a:endParaRPr lang="fr-FR"/>
          </a:p>
        </p:txBody>
      </p:sp>
      <p:sp>
        <p:nvSpPr>
          <p:cNvPr id="33" name="Shape 31"/>
          <p:cNvSpPr/>
          <p:nvPr/>
        </p:nvSpPr>
        <p:spPr>
          <a:xfrm>
            <a:off x="8357616" y="4645152"/>
            <a:ext cx="420624" cy="420624"/>
          </a:xfrm>
          <a:prstGeom prst="ellipse">
            <a:avLst/>
          </a:prstGeom>
          <a:solidFill>
            <a:srgbClr val="2C5F2D"/>
          </a:solidFill>
          <a:ln w="12700">
            <a:solidFill>
              <a:srgbClr val="2C5F2D"/>
            </a:solidFill>
            <a:prstDash val="solid"/>
          </a:ln>
        </p:spPr>
        <p:txBody>
          <a:bodyPr/>
          <a:lstStyle/>
          <a:p>
            <a:endParaRPr lang="fr-FR"/>
          </a:p>
        </p:txBody>
      </p:sp>
      <p:sp>
        <p:nvSpPr>
          <p:cNvPr id="34" name="Text 32"/>
          <p:cNvSpPr txBox="1"/>
          <p:nvPr/>
        </p:nvSpPr>
        <p:spPr>
          <a:xfrm>
            <a:off x="8357616" y="4645152"/>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5" name="Text 33"/>
          <p:cNvSpPr txBox="1"/>
          <p:nvPr/>
        </p:nvSpPr>
        <p:spPr>
          <a:xfrm>
            <a:off x="8357616" y="5166360"/>
            <a:ext cx="3017520" cy="292608"/>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Suivre la météo</a:t>
            </a:r>
            <a:endParaRPr lang="en-US" sz="1500" dirty="0"/>
          </a:p>
        </p:txBody>
      </p:sp>
      <p:sp>
        <p:nvSpPr>
          <p:cNvPr id="36" name="Text 34"/>
          <p:cNvSpPr txBox="1"/>
          <p:nvPr/>
        </p:nvSpPr>
        <p:spPr>
          <a:xfrm>
            <a:off x="8357616" y="5468112"/>
            <a:ext cx="3017520" cy="411480"/>
          </a:xfrm>
          <a:prstGeom prst="rect">
            <a:avLst/>
          </a:prstGeom>
          <a:noFill/>
          <a:ln/>
        </p:spPr>
        <p:txBody>
          <a:bodyPr wrap="square" lIns="0" tIns="0" rIns="0" bIns="0" rtlCol="0" anchor="ctr"/>
          <a:lstStyle/>
          <a:p>
            <a:pPr marL="0" indent="0">
              <a:buNone/>
            </a:pPr>
            <a:r>
              <a:rPr lang="en-US" sz="1200" dirty="0">
                <a:solidFill>
                  <a:srgbClr val="5F6B5F"/>
                </a:solidFill>
                <a:latin typeface="Calibri" pitchFamily="34" charset="0"/>
                <a:ea typeface="Calibri" pitchFamily="34" charset="-122"/>
                <a:cs typeface="Calibri" pitchFamily="34" charset="-120"/>
              </a:rPr>
              <a:t>Prévisions locales sur cinq jours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4A7A3A"/>
                </a:solidFill>
                <a:latin typeface="Calibri" pitchFamily="34" charset="0"/>
                <a:ea typeface="Calibri" pitchFamily="34" charset="-122"/>
                <a:cs typeface="Calibri" pitchFamily="34" charset="-120"/>
              </a:rPr>
              <a:t>FONCTIONNALITÉS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err="1">
                <a:solidFill>
                  <a:srgbClr val="2C5F2D"/>
                </a:solidFill>
                <a:latin typeface="Cambria" pitchFamily="34" charset="0"/>
                <a:ea typeface="Cambria" pitchFamily="34" charset="-122"/>
              </a:rPr>
              <a:t>Fonctionnalités</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5" name="Shape 3"/>
          <p:cNvSpPr/>
          <p:nvPr/>
        </p:nvSpPr>
        <p:spPr>
          <a:xfrm>
            <a:off x="822960" y="1892808"/>
            <a:ext cx="274320" cy="274320"/>
          </a:xfrm>
          <a:prstGeom prst="ellipse">
            <a:avLst/>
          </a:prstGeom>
          <a:solidFill>
            <a:srgbClr val="97BC62"/>
          </a:solidFill>
          <a:ln w="12700">
            <a:solidFill>
              <a:srgbClr val="97BC62"/>
            </a:solidFill>
            <a:prstDash val="solid"/>
          </a:ln>
        </p:spPr>
        <p:txBody>
          <a:bodyPr/>
          <a:lstStyle/>
          <a:p>
            <a:endParaRPr lang="fr-FR"/>
          </a:p>
        </p:txBody>
      </p:sp>
      <p:sp>
        <p:nvSpPr>
          <p:cNvPr id="6" name="Text 4"/>
          <p:cNvSpPr txBox="1"/>
          <p:nvPr/>
        </p:nvSpPr>
        <p:spPr>
          <a:xfrm>
            <a:off x="822960" y="231343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Diagnostic par image</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r>
              <a:rPr lang="en-US" sz="1250" dirty="0" err="1">
                <a:solidFill>
                  <a:srgbClr val="5F6B5F"/>
                </a:solidFill>
                <a:latin typeface="Calibri" pitchFamily="34" charset="0"/>
                <a:ea typeface="Calibri" pitchFamily="34" charset="-122"/>
                <a:cs typeface="Calibri" pitchFamily="34" charset="-120"/>
              </a:rPr>
              <a:t>Analyse</a:t>
            </a:r>
            <a:r>
              <a:rPr lang="en-US" sz="1250" dirty="0">
                <a:solidFill>
                  <a:srgbClr val="5F6B5F"/>
                </a:solidFill>
                <a:latin typeface="Calibri" pitchFamily="34" charset="0"/>
                <a:ea typeface="Calibri" pitchFamily="34" charset="-122"/>
                <a:cs typeface="Calibri" pitchFamily="34" charset="-120"/>
              </a:rPr>
              <a:t> </a:t>
            </a:r>
            <a:r>
              <a:rPr lang="en-US" sz="1250" dirty="0" err="1">
                <a:solidFill>
                  <a:srgbClr val="5F6B5F"/>
                </a:solidFill>
                <a:latin typeface="Calibri" pitchFamily="34" charset="0"/>
                <a:ea typeface="Calibri" pitchFamily="34" charset="-122"/>
                <a:cs typeface="Calibri" pitchFamily="34" charset="-120"/>
              </a:rPr>
              <a:t>d’une</a:t>
            </a:r>
            <a:r>
              <a:rPr lang="en-US" sz="1250" dirty="0">
                <a:solidFill>
                  <a:srgbClr val="5F6B5F"/>
                </a:solidFill>
                <a:latin typeface="Calibri" pitchFamily="34" charset="0"/>
                <a:ea typeface="Calibri" pitchFamily="34" charset="-122"/>
                <a:cs typeface="Calibri" pitchFamily="34" charset="-120"/>
              </a:rPr>
              <a:t> photo de </a:t>
            </a:r>
            <a:r>
              <a:rPr lang="en-US" sz="1250" dirty="0" err="1">
                <a:solidFill>
                  <a:srgbClr val="5F6B5F"/>
                </a:solidFill>
                <a:latin typeface="Calibri" pitchFamily="34" charset="0"/>
                <a:ea typeface="Calibri" pitchFamily="34" charset="-122"/>
                <a:cs typeface="Calibri" pitchFamily="34" charset="-120"/>
              </a:rPr>
              <a:t>feuille</a:t>
            </a:r>
            <a:r>
              <a:rPr lang="en-US" sz="1250" dirty="0">
                <a:solidFill>
                  <a:srgbClr val="5F6B5F"/>
                </a:solidFill>
                <a:latin typeface="Calibri" pitchFamily="34" charset="0"/>
                <a:ea typeface="Calibri" pitchFamily="34" charset="-122"/>
                <a:cs typeface="Calibri" pitchFamily="34" charset="-120"/>
              </a:rPr>
              <a:t> et identification</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9" name="Shape 7"/>
          <p:cNvSpPr/>
          <p:nvPr/>
        </p:nvSpPr>
        <p:spPr>
          <a:xfrm>
            <a:off x="4599432" y="1892808"/>
            <a:ext cx="274320" cy="274320"/>
          </a:xfrm>
          <a:prstGeom prst="ellipse">
            <a:avLst/>
          </a:prstGeom>
          <a:solidFill>
            <a:srgbClr val="97BC62"/>
          </a:solidFill>
          <a:ln w="12700">
            <a:solidFill>
              <a:srgbClr val="97BC62"/>
            </a:solidFill>
            <a:prstDash val="solid"/>
          </a:ln>
        </p:spPr>
        <p:txBody>
          <a:bodyPr/>
          <a:lstStyle/>
          <a:p>
            <a:endParaRPr lang="fr-FR"/>
          </a:p>
        </p:txBody>
      </p:sp>
      <p:sp>
        <p:nvSpPr>
          <p:cNvPr id="10" name="Text 8"/>
          <p:cNvSpPr txBox="1"/>
          <p:nvPr/>
        </p:nvSpPr>
        <p:spPr>
          <a:xfrm>
            <a:off x="4599432" y="231343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Capteurs de parcelle</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Six grandeurs relevées chaque minute et remontées à l'API par chaque boîtier.</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13" name="Shape 11"/>
          <p:cNvSpPr/>
          <p:nvPr/>
        </p:nvSpPr>
        <p:spPr>
          <a:xfrm>
            <a:off x="8375904" y="1892808"/>
            <a:ext cx="274320" cy="274320"/>
          </a:xfrm>
          <a:prstGeom prst="ellipse">
            <a:avLst/>
          </a:prstGeom>
          <a:solidFill>
            <a:srgbClr val="97BC62"/>
          </a:solidFill>
          <a:ln w="12700">
            <a:solidFill>
              <a:srgbClr val="97BC62"/>
            </a:solidFill>
            <a:prstDash val="solid"/>
          </a:ln>
        </p:spPr>
        <p:txBody>
          <a:bodyPr/>
          <a:lstStyle/>
          <a:p>
            <a:endParaRPr lang="fr-FR"/>
          </a:p>
        </p:txBody>
      </p:sp>
      <p:sp>
        <p:nvSpPr>
          <p:cNvPr id="14" name="Text 12"/>
          <p:cNvSpPr txBox="1"/>
          <p:nvPr/>
        </p:nvSpPr>
        <p:spPr>
          <a:xfrm>
            <a:off x="8375904" y="231343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Gestion des parcelles</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Créer, modifier et supprimer chaque champ ; tout est écrit en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17" name="Shape 15"/>
          <p:cNvSpPr/>
          <p:nvPr/>
        </p:nvSpPr>
        <p:spPr>
          <a:xfrm>
            <a:off x="822960" y="4224528"/>
            <a:ext cx="274320" cy="274320"/>
          </a:xfrm>
          <a:prstGeom prst="ellipse">
            <a:avLst/>
          </a:prstGeom>
          <a:solidFill>
            <a:srgbClr val="97BC62"/>
          </a:solidFill>
          <a:ln w="12700">
            <a:solidFill>
              <a:srgbClr val="97BC62"/>
            </a:solidFill>
            <a:prstDash val="solid"/>
          </a:ln>
        </p:spPr>
        <p:txBody>
          <a:bodyPr/>
          <a:lstStyle/>
          <a:p>
            <a:endParaRPr lang="fr-FR"/>
          </a:p>
        </p:txBody>
      </p:sp>
      <p:sp>
        <p:nvSpPr>
          <p:cNvPr id="18" name="Text 16"/>
          <p:cNvSpPr txBox="1"/>
          <p:nvPr/>
        </p:nvSpPr>
        <p:spPr>
          <a:xfrm>
            <a:off x="822960" y="464515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Historique complet</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Chaque diagnostic est conservé avec sa date et son indice de confiance.</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21" name="Shape 19"/>
          <p:cNvSpPr/>
          <p:nvPr/>
        </p:nvSpPr>
        <p:spPr>
          <a:xfrm>
            <a:off x="4599432" y="4224528"/>
            <a:ext cx="274320" cy="274320"/>
          </a:xfrm>
          <a:prstGeom prst="ellipse">
            <a:avLst/>
          </a:prstGeom>
          <a:solidFill>
            <a:srgbClr val="97BC62"/>
          </a:solidFill>
          <a:ln w="12700">
            <a:solidFill>
              <a:srgbClr val="97BC62"/>
            </a:solidFill>
            <a:prstDash val="solid"/>
          </a:ln>
        </p:spPr>
        <p:txBody>
          <a:bodyPr/>
          <a:lstStyle/>
          <a:p>
            <a:endParaRPr lang="fr-FR"/>
          </a:p>
        </p:txBody>
      </p:sp>
      <p:sp>
        <p:nvSpPr>
          <p:cNvPr id="22" name="Text 20"/>
          <p:cNvSpPr txBox="1"/>
          <p:nvPr/>
        </p:nvSpPr>
        <p:spPr>
          <a:xfrm>
            <a:off x="4599432" y="464515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Météo temps réel</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Conditions actuelles et prévisions à cinq jours pour la localisation choisie.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25" name="Shape 23"/>
          <p:cNvSpPr/>
          <p:nvPr/>
        </p:nvSpPr>
        <p:spPr>
          <a:xfrm>
            <a:off x="8375904" y="4224528"/>
            <a:ext cx="274320" cy="274320"/>
          </a:xfrm>
          <a:prstGeom prst="ellipse">
            <a:avLst/>
          </a:prstGeom>
          <a:solidFill>
            <a:srgbClr val="97BC62"/>
          </a:solidFill>
          <a:ln w="12700">
            <a:solidFill>
              <a:srgbClr val="97BC62"/>
            </a:solidFill>
            <a:prstDash val="solid"/>
          </a:ln>
        </p:spPr>
        <p:txBody>
          <a:bodyPr/>
          <a:lstStyle/>
          <a:p>
            <a:endParaRPr lang="fr-FR"/>
          </a:p>
        </p:txBody>
      </p:sp>
      <p:sp>
        <p:nvSpPr>
          <p:cNvPr id="26" name="Text 24"/>
          <p:cNvSpPr txBox="1"/>
          <p:nvPr/>
        </p:nvSpPr>
        <p:spPr>
          <a:xfrm>
            <a:off x="8375904" y="464515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Alertes croisées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Relevés des capteurs, diagnostics et météo combinés en une seule liste.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4A7A3A"/>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rPr>
              <a:t>Architecture réseau</a:t>
            </a:r>
            <a:endParaRPr lang="en-US" sz="3400" dirty="0"/>
          </a:p>
        </p:txBody>
      </p:sp>
      <p:sp>
        <p:nvSpPr>
          <p:cNvPr id="4" name="Shape 2"/>
          <p:cNvSpPr/>
          <p:nvPr/>
        </p:nvSpPr>
        <p:spPr>
          <a:xfrm>
            <a:off x="548640" y="1600200"/>
            <a:ext cx="2066544" cy="2606040"/>
          </a:xfrm>
          <a:prstGeom prst="roundRect">
            <a:avLst>
              <a:gd name="adj" fmla="val 2655"/>
            </a:avLst>
          </a:prstGeom>
          <a:solidFill>
            <a:srgbClr val="2C5F2D"/>
          </a:solidFill>
          <a:ln w="12700">
            <a:solidFill>
              <a:srgbClr val="2C5F2D"/>
            </a:solidFill>
            <a:prstDash val="solid"/>
          </a:ln>
        </p:spPr>
        <p:txBody>
          <a:bodyPr/>
          <a:lstStyle/>
          <a:p>
            <a:endParaRPr lang="fr-FR"/>
          </a:p>
        </p:txBody>
      </p:sp>
      <p:sp>
        <p:nvSpPr>
          <p:cNvPr id="5" name="Text 3"/>
          <p:cNvSpPr txBox="1"/>
          <p:nvPr/>
        </p:nvSpPr>
        <p:spPr>
          <a:xfrm>
            <a:off x="731520" y="1828800"/>
            <a:ext cx="1700784" cy="228600"/>
          </a:xfrm>
          <a:prstGeom prst="rect">
            <a:avLst/>
          </a:prstGeom>
          <a:noFill/>
          <a:ln/>
        </p:spPr>
        <p:txBody>
          <a:bodyPr wrap="square" lIns="0" tIns="0" rIns="0" bIns="0" rtlCol="0" anchor="ctr"/>
          <a:lstStyle/>
          <a:p>
            <a:pPr marL="0" indent="0">
              <a:buNone/>
            </a:pPr>
            <a:r>
              <a:rPr lang="en-US" sz="1050" b="1" kern="0" spc="120" dirty="0">
                <a:solidFill>
                  <a:srgbClr val="97BC62"/>
                </a:solidFill>
                <a:latin typeface="Calibri" pitchFamily="34" charset="0"/>
                <a:ea typeface="Calibri" pitchFamily="34" charset="-122"/>
                <a:cs typeface="Calibri" pitchFamily="34" charset="-120"/>
              </a:rPr>
              <a:t>TERRAIN</a:t>
            </a:r>
            <a:endParaRPr lang="en-US" sz="1050" dirty="0"/>
          </a:p>
        </p:txBody>
      </p:sp>
      <p:sp>
        <p:nvSpPr>
          <p:cNvPr id="6" name="Text 4"/>
          <p:cNvSpPr txBox="1"/>
          <p:nvPr/>
        </p:nvSpPr>
        <p:spPr>
          <a:xfrm>
            <a:off x="731520" y="2103120"/>
            <a:ext cx="1700784" cy="41148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Capteurs IoT</a:t>
            </a:r>
            <a:endParaRPr lang="en-US" sz="1700" dirty="0"/>
          </a:p>
        </p:txBody>
      </p:sp>
      <p:sp>
        <p:nvSpPr>
          <p:cNvPr id="7" name="Text 5"/>
          <p:cNvSpPr txBox="1"/>
          <p:nvPr/>
        </p:nvSpPr>
        <p:spPr>
          <a:xfrm>
            <a:off x="731520"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Un boîtier par parcelle</a:t>
            </a:r>
            <a:endParaRPr lang="en-US" sz="1100" dirty="0"/>
          </a:p>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Six grandeurs mesurées</a:t>
            </a:r>
            <a:endParaRPr lang="en-US" sz="1100" dirty="0"/>
          </a:p>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Une trame par minute</a:t>
            </a:r>
            <a:endParaRPr lang="en-US" sz="1100" dirty="0"/>
          </a:p>
        </p:txBody>
      </p:sp>
      <p:sp>
        <p:nvSpPr>
          <p:cNvPr id="8" name="Shape 6"/>
          <p:cNvSpPr/>
          <p:nvPr/>
        </p:nvSpPr>
        <p:spPr>
          <a:xfrm>
            <a:off x="2798064" y="1600200"/>
            <a:ext cx="2066544" cy="2606040"/>
          </a:xfrm>
          <a:prstGeom prst="roundRect">
            <a:avLst>
              <a:gd name="adj" fmla="val 2655"/>
            </a:avLst>
          </a:prstGeom>
          <a:solidFill>
            <a:srgbClr val="EEF3EA"/>
          </a:solidFill>
          <a:ln w="12700">
            <a:solidFill>
              <a:srgbClr val="EEF3EA"/>
            </a:solidFill>
            <a:prstDash val="solid"/>
          </a:ln>
        </p:spPr>
        <p:txBody>
          <a:bodyPr/>
          <a:lstStyle/>
          <a:p>
            <a:endParaRPr lang="fr-FR"/>
          </a:p>
        </p:txBody>
      </p:sp>
      <p:sp>
        <p:nvSpPr>
          <p:cNvPr id="9" name="Text 7"/>
          <p:cNvSpPr txBox="1"/>
          <p:nvPr/>
        </p:nvSpPr>
        <p:spPr>
          <a:xfrm>
            <a:off x="2980944" y="1828800"/>
            <a:ext cx="1700784" cy="228600"/>
          </a:xfrm>
          <a:prstGeom prst="rect">
            <a:avLst/>
          </a:prstGeom>
          <a:noFill/>
          <a:ln/>
        </p:spPr>
        <p:txBody>
          <a:bodyPr wrap="square" lIns="0" tIns="0" rIns="0" bIns="0" rtlCol="0" anchor="ctr"/>
          <a:lstStyle/>
          <a:p>
            <a:pPr marL="0" indent="0">
              <a:buNone/>
            </a:pPr>
            <a:r>
              <a:rPr lang="en-US" sz="1050" b="1" kern="0" spc="120" dirty="0">
                <a:solidFill>
                  <a:srgbClr val="4A7A3A"/>
                </a:solidFill>
                <a:latin typeface="Calibri" pitchFamily="34" charset="0"/>
                <a:ea typeface="Calibri" pitchFamily="34" charset="-122"/>
                <a:cs typeface="Calibri" pitchFamily="34" charset="-120"/>
              </a:rPr>
              <a:t>TIER 1</a:t>
            </a:r>
            <a:endParaRPr lang="en-US" sz="1050" dirty="0"/>
          </a:p>
        </p:txBody>
      </p:sp>
      <p:sp>
        <p:nvSpPr>
          <p:cNvPr id="10" name="Text 8"/>
          <p:cNvSpPr txBox="1"/>
          <p:nvPr/>
        </p:nvSpPr>
        <p:spPr>
          <a:xfrm>
            <a:off x="2980944" y="2103120"/>
            <a:ext cx="1700784" cy="411480"/>
          </a:xfrm>
          <a:prstGeom prst="rect">
            <a:avLst/>
          </a:prstGeom>
          <a:noFill/>
          <a:ln/>
        </p:spPr>
        <p:txBody>
          <a:bodyPr wrap="square" lIns="0" tIns="0" rIns="0" bIns="0" rtlCol="0" anchor="ctr"/>
          <a:lstStyle/>
          <a:p>
            <a:pPr marL="0" indent="0">
              <a:buNone/>
            </a:pPr>
            <a:r>
              <a:rPr lang="en-US" sz="1700" b="1" dirty="0">
                <a:solidFill>
                  <a:srgbClr val="2C5F2D"/>
                </a:solidFill>
                <a:latin typeface="Cambria" pitchFamily="34" charset="0"/>
                <a:ea typeface="Cambria" pitchFamily="34" charset="-122"/>
                <a:cs typeface="Cambria" pitchFamily="34" charset="-120"/>
              </a:rPr>
              <a:t>Présentation</a:t>
            </a:r>
            <a:endParaRPr lang="en-US" sz="1700" dirty="0"/>
          </a:p>
        </p:txBody>
      </p:sp>
      <p:sp>
        <p:nvSpPr>
          <p:cNvPr id="11" name="Text 9"/>
          <p:cNvSpPr txBox="1"/>
          <p:nvPr/>
        </p:nvSpPr>
        <p:spPr>
          <a:xfrm>
            <a:off x="2980944"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HTML, CSS, JavaScript</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Interface responsive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Mobile et ordinateur</a:t>
            </a:r>
            <a:endParaRPr lang="en-US" sz="1100" dirty="0"/>
          </a:p>
        </p:txBody>
      </p:sp>
      <p:sp>
        <p:nvSpPr>
          <p:cNvPr id="12" name="Shape 10"/>
          <p:cNvSpPr/>
          <p:nvPr/>
        </p:nvSpPr>
        <p:spPr>
          <a:xfrm>
            <a:off x="5047488" y="1600200"/>
            <a:ext cx="2066544" cy="2606040"/>
          </a:xfrm>
          <a:prstGeom prst="roundRect">
            <a:avLst>
              <a:gd name="adj" fmla="val 2655"/>
            </a:avLst>
          </a:prstGeom>
          <a:solidFill>
            <a:srgbClr val="EEF3EA"/>
          </a:solidFill>
          <a:ln w="12700">
            <a:solidFill>
              <a:srgbClr val="EEF3EA"/>
            </a:solidFill>
            <a:prstDash val="solid"/>
          </a:ln>
        </p:spPr>
        <p:txBody>
          <a:bodyPr/>
          <a:lstStyle/>
          <a:p>
            <a:endParaRPr lang="fr-FR"/>
          </a:p>
        </p:txBody>
      </p:sp>
      <p:sp>
        <p:nvSpPr>
          <p:cNvPr id="13" name="Text 11"/>
          <p:cNvSpPr txBox="1"/>
          <p:nvPr/>
        </p:nvSpPr>
        <p:spPr>
          <a:xfrm>
            <a:off x="5230368" y="1828800"/>
            <a:ext cx="1700784" cy="228600"/>
          </a:xfrm>
          <a:prstGeom prst="rect">
            <a:avLst/>
          </a:prstGeom>
          <a:noFill/>
          <a:ln/>
        </p:spPr>
        <p:txBody>
          <a:bodyPr wrap="square" lIns="0" tIns="0" rIns="0" bIns="0" rtlCol="0" anchor="ctr"/>
          <a:lstStyle/>
          <a:p>
            <a:pPr marL="0" indent="0">
              <a:buNone/>
            </a:pPr>
            <a:r>
              <a:rPr lang="en-US" sz="1050" b="1" kern="0" spc="120" dirty="0">
                <a:solidFill>
                  <a:srgbClr val="4A7A3A"/>
                </a:solidFill>
                <a:latin typeface="Calibri" pitchFamily="34" charset="0"/>
                <a:ea typeface="Calibri" pitchFamily="34" charset="-122"/>
                <a:cs typeface="Calibri" pitchFamily="34" charset="-120"/>
              </a:rPr>
              <a:t>TIER 2</a:t>
            </a:r>
            <a:endParaRPr lang="en-US" sz="1050" dirty="0"/>
          </a:p>
        </p:txBody>
      </p:sp>
      <p:sp>
        <p:nvSpPr>
          <p:cNvPr id="14" name="Text 12"/>
          <p:cNvSpPr txBox="1"/>
          <p:nvPr/>
        </p:nvSpPr>
        <p:spPr>
          <a:xfrm>
            <a:off x="5230368" y="2103120"/>
            <a:ext cx="1700784" cy="411480"/>
          </a:xfrm>
          <a:prstGeom prst="rect">
            <a:avLst/>
          </a:prstGeom>
          <a:noFill/>
          <a:ln/>
        </p:spPr>
        <p:txBody>
          <a:bodyPr wrap="square" lIns="0" tIns="0" rIns="0" bIns="0" rtlCol="0" anchor="ctr"/>
          <a:lstStyle/>
          <a:p>
            <a:pPr marL="0" indent="0">
              <a:buNone/>
            </a:pPr>
            <a:r>
              <a:rPr lang="en-US" sz="1700" b="1" dirty="0">
                <a:solidFill>
                  <a:srgbClr val="2C5F2D"/>
                </a:solidFill>
                <a:latin typeface="Cambria" pitchFamily="34" charset="0"/>
                <a:ea typeface="Cambria" pitchFamily="34" charset="-122"/>
                <a:cs typeface="Cambria" pitchFamily="34" charset="-120"/>
              </a:rPr>
              <a:t>Métier</a:t>
            </a:r>
            <a:endParaRPr lang="en-US" sz="1700" dirty="0"/>
          </a:p>
        </p:txBody>
      </p:sp>
      <p:sp>
        <p:nvSpPr>
          <p:cNvPr id="15" name="Text 13"/>
          <p:cNvSpPr txBox="1"/>
          <p:nvPr/>
        </p:nvSpPr>
        <p:spPr>
          <a:xfrm>
            <a:off x="5230368"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API REST FastAPI</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Python 3.11 asynchrone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Port 8000</a:t>
            </a:r>
            <a:endParaRPr lang="en-US" sz="1100" dirty="0"/>
          </a:p>
        </p:txBody>
      </p:sp>
      <p:sp>
        <p:nvSpPr>
          <p:cNvPr id="16" name="Shape 14"/>
          <p:cNvSpPr/>
          <p:nvPr/>
        </p:nvSpPr>
        <p:spPr>
          <a:xfrm>
            <a:off x="7296912" y="1600200"/>
            <a:ext cx="2066544" cy="2606040"/>
          </a:xfrm>
          <a:prstGeom prst="roundRect">
            <a:avLst>
              <a:gd name="adj" fmla="val 2655"/>
            </a:avLst>
          </a:prstGeom>
          <a:solidFill>
            <a:srgbClr val="EEF3EA"/>
          </a:solidFill>
          <a:ln w="12700">
            <a:solidFill>
              <a:srgbClr val="EEF3EA"/>
            </a:solidFill>
            <a:prstDash val="solid"/>
          </a:ln>
        </p:spPr>
        <p:txBody>
          <a:bodyPr/>
          <a:lstStyle/>
          <a:p>
            <a:endParaRPr lang="fr-FR"/>
          </a:p>
        </p:txBody>
      </p:sp>
      <p:sp>
        <p:nvSpPr>
          <p:cNvPr id="17" name="Text 15"/>
          <p:cNvSpPr txBox="1"/>
          <p:nvPr/>
        </p:nvSpPr>
        <p:spPr>
          <a:xfrm>
            <a:off x="7479792" y="1828800"/>
            <a:ext cx="1700784" cy="228600"/>
          </a:xfrm>
          <a:prstGeom prst="rect">
            <a:avLst/>
          </a:prstGeom>
          <a:noFill/>
          <a:ln/>
        </p:spPr>
        <p:txBody>
          <a:bodyPr wrap="square" lIns="0" tIns="0" rIns="0" bIns="0" rtlCol="0" anchor="ctr"/>
          <a:lstStyle/>
          <a:p>
            <a:pPr marL="0" indent="0">
              <a:buNone/>
            </a:pPr>
            <a:r>
              <a:rPr lang="en-US" sz="1050" b="1" kern="0" spc="120" dirty="0">
                <a:solidFill>
                  <a:srgbClr val="4A7A3A"/>
                </a:solidFill>
                <a:latin typeface="Calibri" pitchFamily="34" charset="0"/>
                <a:ea typeface="Calibri" pitchFamily="34" charset="-122"/>
                <a:cs typeface="Calibri" pitchFamily="34" charset="-120"/>
              </a:rPr>
              <a:t>TIER 3</a:t>
            </a:r>
            <a:endParaRPr lang="en-US" sz="1050" dirty="0"/>
          </a:p>
        </p:txBody>
      </p:sp>
      <p:sp>
        <p:nvSpPr>
          <p:cNvPr id="18" name="Text 16"/>
          <p:cNvSpPr txBox="1"/>
          <p:nvPr/>
        </p:nvSpPr>
        <p:spPr>
          <a:xfrm>
            <a:off x="7479792" y="2103120"/>
            <a:ext cx="1700784" cy="411480"/>
          </a:xfrm>
          <a:prstGeom prst="rect">
            <a:avLst/>
          </a:prstGeom>
          <a:noFill/>
          <a:ln/>
        </p:spPr>
        <p:txBody>
          <a:bodyPr wrap="square" lIns="0" tIns="0" rIns="0" bIns="0" rtlCol="0" anchor="ctr"/>
          <a:lstStyle/>
          <a:p>
            <a:pPr marL="0" indent="0">
              <a:buNone/>
            </a:pPr>
            <a:r>
              <a:rPr lang="en-US" sz="1700" b="1" dirty="0">
                <a:solidFill>
                  <a:srgbClr val="2C5F2D"/>
                </a:solidFill>
                <a:latin typeface="Cambria" pitchFamily="34" charset="0"/>
                <a:ea typeface="Cambria" pitchFamily="34" charset="-122"/>
                <a:cs typeface="Cambria" pitchFamily="34" charset="-120"/>
              </a:rPr>
              <a:t>Données</a:t>
            </a:r>
            <a:endParaRPr lang="en-US" sz="1700" dirty="0"/>
          </a:p>
        </p:txBody>
      </p:sp>
      <p:sp>
        <p:nvSpPr>
          <p:cNvPr id="19" name="Text 17"/>
          <p:cNvSpPr txBox="1"/>
          <p:nvPr/>
        </p:nvSpPr>
        <p:spPr>
          <a:xfrm>
            <a:off x="7479792"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PostgreSQL 15</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Redis 7 pour le cache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Volumes persistants</a:t>
            </a:r>
            <a:endParaRPr lang="en-US" sz="1100" dirty="0"/>
          </a:p>
        </p:txBody>
      </p:sp>
      <p:sp>
        <p:nvSpPr>
          <p:cNvPr id="20" name="Shape 18"/>
          <p:cNvSpPr/>
          <p:nvPr/>
        </p:nvSpPr>
        <p:spPr>
          <a:xfrm>
            <a:off x="9546336" y="1600200"/>
            <a:ext cx="2066544" cy="2606040"/>
          </a:xfrm>
          <a:prstGeom prst="roundRect">
            <a:avLst>
              <a:gd name="adj" fmla="val 2655"/>
            </a:avLst>
          </a:prstGeom>
          <a:solidFill>
            <a:srgbClr val="EEF3EA"/>
          </a:solidFill>
          <a:ln w="12700">
            <a:solidFill>
              <a:srgbClr val="EEF3EA"/>
            </a:solidFill>
            <a:prstDash val="solid"/>
          </a:ln>
        </p:spPr>
        <p:txBody>
          <a:bodyPr/>
          <a:lstStyle/>
          <a:p>
            <a:endParaRPr lang="fr-FR"/>
          </a:p>
        </p:txBody>
      </p:sp>
      <p:sp>
        <p:nvSpPr>
          <p:cNvPr id="21" name="Text 19"/>
          <p:cNvSpPr txBox="1"/>
          <p:nvPr/>
        </p:nvSpPr>
        <p:spPr>
          <a:xfrm>
            <a:off x="9729216" y="1828800"/>
            <a:ext cx="1700784" cy="228600"/>
          </a:xfrm>
          <a:prstGeom prst="rect">
            <a:avLst/>
          </a:prstGeom>
          <a:noFill/>
          <a:ln/>
        </p:spPr>
        <p:txBody>
          <a:bodyPr wrap="square" lIns="0" tIns="0" rIns="0" bIns="0" rtlCol="0" anchor="ctr"/>
          <a:lstStyle/>
          <a:p>
            <a:pPr marL="0" indent="0">
              <a:buNone/>
            </a:pPr>
            <a:r>
              <a:rPr lang="en-US" sz="1050" b="1" kern="0" spc="120" dirty="0">
                <a:solidFill>
                  <a:srgbClr val="4A7A3A"/>
                </a:solidFill>
                <a:latin typeface="Calibri" pitchFamily="34" charset="0"/>
                <a:ea typeface="Calibri" pitchFamily="34" charset="-122"/>
                <a:cs typeface="Calibri" pitchFamily="34" charset="-120"/>
              </a:rPr>
              <a:t>TIER 4</a:t>
            </a:r>
            <a:endParaRPr lang="en-US" sz="1050" dirty="0"/>
          </a:p>
        </p:txBody>
      </p:sp>
      <p:sp>
        <p:nvSpPr>
          <p:cNvPr id="22" name="Text 20"/>
          <p:cNvSpPr txBox="1"/>
          <p:nvPr/>
        </p:nvSpPr>
        <p:spPr>
          <a:xfrm>
            <a:off x="9729216" y="2103120"/>
            <a:ext cx="1700784" cy="411480"/>
          </a:xfrm>
          <a:prstGeom prst="rect">
            <a:avLst/>
          </a:prstGeom>
          <a:noFill/>
          <a:ln/>
        </p:spPr>
        <p:txBody>
          <a:bodyPr wrap="square" lIns="0" tIns="0" rIns="0" bIns="0" rtlCol="0" anchor="ctr"/>
          <a:lstStyle/>
          <a:p>
            <a:pPr marL="0" indent="0">
              <a:buNone/>
            </a:pPr>
            <a:r>
              <a:rPr lang="en-US" sz="1700" b="1" dirty="0">
                <a:solidFill>
                  <a:srgbClr val="2C5F2D"/>
                </a:solidFill>
                <a:latin typeface="Cambria" pitchFamily="34" charset="0"/>
                <a:ea typeface="Cambria" pitchFamily="34" charset="-122"/>
                <a:cs typeface="Cambria" pitchFamily="34" charset="-120"/>
              </a:rPr>
              <a:t>Services</a:t>
            </a:r>
            <a:endParaRPr lang="en-US" sz="1700" dirty="0"/>
          </a:p>
        </p:txBody>
      </p:sp>
      <p:sp>
        <p:nvSpPr>
          <p:cNvPr id="23" name="Text 21"/>
          <p:cNvSpPr txBox="1"/>
          <p:nvPr/>
        </p:nvSpPr>
        <p:spPr>
          <a:xfrm>
            <a:off x="9729216"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Modèle IA (TFLite)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API Open-Meteo</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Nominatim OSM</a:t>
            </a:r>
            <a:endParaRPr lang="en-US" sz="1100" dirty="0"/>
          </a:p>
        </p:txBody>
      </p:sp>
      <p:sp>
        <p:nvSpPr>
          <p:cNvPr id="24" name="Shape 22"/>
          <p:cNvSpPr/>
          <p:nvPr/>
        </p:nvSpPr>
        <p:spPr>
          <a:xfrm>
            <a:off x="548640" y="4572000"/>
            <a:ext cx="11064240" cy="1188720"/>
          </a:xfrm>
          <a:prstGeom prst="roundRect">
            <a:avLst>
              <a:gd name="adj" fmla="val 4615"/>
            </a:avLst>
          </a:prstGeom>
          <a:solidFill>
            <a:srgbClr val="2C5F2D"/>
          </a:solidFill>
          <a:ln w="12700">
            <a:solidFill>
              <a:srgbClr val="2C5F2D"/>
            </a:solidFill>
            <a:prstDash val="solid"/>
          </a:ln>
        </p:spPr>
        <p:txBody>
          <a:bodyPr/>
          <a:lstStyle/>
          <a:p>
            <a:endParaRPr lang="fr-FR"/>
          </a:p>
        </p:txBody>
      </p:sp>
      <p:sp>
        <p:nvSpPr>
          <p:cNvPr id="25" name="Text 23"/>
          <p:cNvSpPr txBox="1"/>
          <p:nvPr/>
        </p:nvSpPr>
        <p:spPr>
          <a:xfrm>
            <a:off x="868680" y="4800600"/>
            <a:ext cx="2743200" cy="228600"/>
          </a:xfrm>
          <a:prstGeom prst="rect">
            <a:avLst/>
          </a:prstGeom>
          <a:noFill/>
          <a:ln/>
        </p:spPr>
        <p:txBody>
          <a:bodyPr wrap="square" lIns="0" tIns="0" rIns="0" bIns="0" rtlCol="0" anchor="ctr"/>
          <a:lstStyle/>
          <a:p>
            <a:pPr marL="0" indent="0">
              <a:buNone/>
            </a:pPr>
            <a:r>
              <a:rPr lang="en-US" sz="1100" b="1" kern="0" spc="150" dirty="0">
                <a:solidFill>
                  <a:srgbClr val="97BC62"/>
                </a:solidFill>
                <a:latin typeface="Calibri" pitchFamily="34" charset="0"/>
                <a:ea typeface="Calibri" pitchFamily="34" charset="-122"/>
                <a:cs typeface="Calibri" pitchFamily="34" charset="-120"/>
              </a:rPr>
              <a:t>FLUX DE DONNÉES</a:t>
            </a:r>
            <a:endParaRPr lang="en-US" sz="1100" dirty="0"/>
          </a:p>
        </p:txBody>
      </p:sp>
      <p:sp>
        <p:nvSpPr>
          <p:cNvPr id="26" name="Text 24"/>
          <p:cNvSpPr txBox="1"/>
          <p:nvPr/>
        </p:nvSpPr>
        <p:spPr>
          <a:xfrm>
            <a:off x="868680" y="5120640"/>
            <a:ext cx="10424160"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Photo  →  API FastAPI  →  Modèle IA (TFLite)  →  Écriture PostgreSQL  →  Réponse JSON  →  Interface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4A7A3A"/>
                </a:solidFill>
                <a:latin typeface="Calibri" pitchFamily="34" charset="0"/>
                <a:ea typeface="Calibri" pitchFamily="34" charset="-122"/>
                <a:cs typeface="Calibri" pitchFamily="34" charset="-120"/>
              </a:rPr>
              <a:t>CAPTEURS IoT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err="1">
                <a:solidFill>
                  <a:srgbClr val="2C5F2D"/>
                </a:solidFill>
                <a:latin typeface="Cambria" pitchFamily="34" charset="0"/>
                <a:ea typeface="Cambria" pitchFamily="34" charset="-122"/>
              </a:rPr>
              <a:t>Capteurs</a:t>
            </a:r>
            <a:r>
              <a:rPr lang="en-US" sz="3400" b="1" dirty="0">
                <a:solidFill>
                  <a:srgbClr val="2C5F2D"/>
                </a:solidFill>
                <a:latin typeface="Cambria" pitchFamily="34" charset="0"/>
                <a:ea typeface="Cambria" pitchFamily="34" charset="-122"/>
              </a:rPr>
              <a:t> IoT</a:t>
            </a:r>
            <a:endParaRPr lang="en-US" sz="3400" dirty="0"/>
          </a:p>
        </p:txBody>
      </p:sp>
      <p:sp>
        <p:nvSpPr>
          <p:cNvPr id="4" name="Shape 2"/>
          <p:cNvSpPr/>
          <p:nvPr/>
        </p:nvSpPr>
        <p:spPr>
          <a:xfrm>
            <a:off x="548640" y="1600200"/>
            <a:ext cx="5349240" cy="2834640"/>
          </a:xfrm>
          <a:prstGeom prst="roundRect">
            <a:avLst>
              <a:gd name="adj" fmla="val 1935"/>
            </a:avLst>
          </a:prstGeom>
          <a:solidFill>
            <a:srgbClr val="EEF3EA"/>
          </a:solidFill>
          <a:ln w="12700">
            <a:solidFill>
              <a:srgbClr val="EEF3EA"/>
            </a:solidFill>
            <a:prstDash val="solid"/>
          </a:ln>
        </p:spPr>
        <p:txBody>
          <a:bodyPr/>
          <a:lstStyle/>
          <a:p>
            <a:endParaRPr lang="fr-FR"/>
          </a:p>
        </p:txBody>
      </p:sp>
      <p:sp>
        <p:nvSpPr>
          <p:cNvPr id="5" name="Text 3"/>
          <p:cNvSpPr txBox="1"/>
          <p:nvPr/>
        </p:nvSpPr>
        <p:spPr>
          <a:xfrm>
            <a:off x="822960" y="1810512"/>
            <a:ext cx="4800600" cy="274320"/>
          </a:xfrm>
          <a:prstGeom prst="rect">
            <a:avLst/>
          </a:prstGeom>
          <a:noFill/>
          <a:ln/>
        </p:spPr>
        <p:txBody>
          <a:bodyPr wrap="square" lIns="0" tIns="0" rIns="0" bIns="0" rtlCol="0" anchor="ctr"/>
          <a:lstStyle/>
          <a:p>
            <a:pPr marL="0" indent="0">
              <a:buNone/>
            </a:pPr>
            <a:r>
              <a:rPr lang="en-US" sz="1200" b="1" kern="0" spc="120" dirty="0">
                <a:solidFill>
                  <a:srgbClr val="4A7A3A"/>
                </a:solidFill>
                <a:latin typeface="Calibri" pitchFamily="34" charset="0"/>
                <a:ea typeface="Calibri" pitchFamily="34" charset="-122"/>
                <a:cs typeface="Calibri" pitchFamily="34" charset="-120"/>
              </a:rPr>
              <a:t>Ce que mesure chaque boîtier</a:t>
            </a:r>
            <a:endParaRPr lang="en-US" sz="1200" dirty="0"/>
          </a:p>
        </p:txBody>
      </p:sp>
      <p:sp>
        <p:nvSpPr>
          <p:cNvPr id="6" name="Text 4"/>
          <p:cNvSpPr txBox="1"/>
          <p:nvPr/>
        </p:nvSpPr>
        <p:spPr>
          <a:xfrm>
            <a:off x="822960" y="2240280"/>
            <a:ext cx="2377440" cy="32004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Humidité du sol</a:t>
            </a:r>
            <a:endParaRPr lang="en-US" sz="1350" dirty="0"/>
          </a:p>
        </p:txBody>
      </p:sp>
      <p:sp>
        <p:nvSpPr>
          <p:cNvPr id="7" name="Text 5"/>
          <p:cNvSpPr txBox="1"/>
          <p:nvPr/>
        </p:nvSpPr>
        <p:spPr>
          <a:xfrm>
            <a:off x="3291840" y="2240280"/>
            <a:ext cx="2377440" cy="32004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Température du sol</a:t>
            </a:r>
            <a:endParaRPr lang="en-US" sz="1350" dirty="0"/>
          </a:p>
        </p:txBody>
      </p:sp>
      <p:sp>
        <p:nvSpPr>
          <p:cNvPr id="8" name="Text 6"/>
          <p:cNvSpPr txBox="1"/>
          <p:nvPr/>
        </p:nvSpPr>
        <p:spPr>
          <a:xfrm>
            <a:off x="822960" y="2807208"/>
            <a:ext cx="2377440" cy="32004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Température de l'air</a:t>
            </a:r>
            <a:endParaRPr lang="en-US" sz="1350" dirty="0"/>
          </a:p>
        </p:txBody>
      </p:sp>
      <p:sp>
        <p:nvSpPr>
          <p:cNvPr id="9" name="Text 7"/>
          <p:cNvSpPr txBox="1"/>
          <p:nvPr/>
        </p:nvSpPr>
        <p:spPr>
          <a:xfrm>
            <a:off x="3291840" y="2807208"/>
            <a:ext cx="2377440" cy="32004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Hygrométrie de l'air</a:t>
            </a:r>
            <a:endParaRPr lang="en-US" sz="1350" dirty="0"/>
          </a:p>
        </p:txBody>
      </p:sp>
      <p:sp>
        <p:nvSpPr>
          <p:cNvPr id="10" name="Text 8"/>
          <p:cNvSpPr txBox="1"/>
          <p:nvPr/>
        </p:nvSpPr>
        <p:spPr>
          <a:xfrm>
            <a:off x="822960" y="3374136"/>
            <a:ext cx="2377440" cy="32004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Humectation foliaire</a:t>
            </a:r>
            <a:endParaRPr lang="en-US" sz="1350" dirty="0"/>
          </a:p>
        </p:txBody>
      </p:sp>
      <p:sp>
        <p:nvSpPr>
          <p:cNvPr id="11" name="Text 9"/>
          <p:cNvSpPr txBox="1"/>
          <p:nvPr/>
        </p:nvSpPr>
        <p:spPr>
          <a:xfrm>
            <a:off x="3291840" y="3374136"/>
            <a:ext cx="2377440" cy="32004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Niveau de batterie</a:t>
            </a:r>
            <a:endParaRPr lang="en-US" sz="1350" dirty="0"/>
          </a:p>
        </p:txBody>
      </p:sp>
      <p:sp>
        <p:nvSpPr>
          <p:cNvPr id="12" name="Text 10"/>
          <p:cNvSpPr txBox="1"/>
          <p:nvPr/>
        </p:nvSpPr>
        <p:spPr>
          <a:xfrm>
            <a:off x="822960" y="4023360"/>
            <a:ext cx="4800600" cy="274320"/>
          </a:xfrm>
          <a:prstGeom prst="rect">
            <a:avLst/>
          </a:prstGeom>
          <a:noFill/>
          <a:ln/>
        </p:spPr>
        <p:txBody>
          <a:bodyPr wrap="square" lIns="0" tIns="0" rIns="0" bIns="0" rtlCol="0" anchor="ctr"/>
          <a:lstStyle/>
          <a:p>
            <a:pPr marL="0" indent="0">
              <a:buNone/>
            </a:pPr>
            <a:r>
              <a:rPr lang="en-US" sz="1200" i="1" dirty="0">
                <a:solidFill>
                  <a:srgbClr val="5F6B5F"/>
                </a:solidFill>
                <a:latin typeface="Calibri" pitchFamily="34" charset="0"/>
                <a:ea typeface="Calibri" pitchFamily="34" charset="-122"/>
                <a:cs typeface="Calibri" pitchFamily="34" charset="-120"/>
              </a:rPr>
              <a:t>Une trame JSON par minute et par parcelle, en HTTP vers l'API</a:t>
            </a:r>
            <a:endParaRPr lang="en-US" sz="1200" dirty="0"/>
          </a:p>
        </p:txBody>
      </p:sp>
      <p:sp>
        <p:nvSpPr>
          <p:cNvPr id="13" name="Shape 11"/>
          <p:cNvSpPr/>
          <p:nvPr/>
        </p:nvSpPr>
        <p:spPr>
          <a:xfrm>
            <a:off x="6263640" y="1600200"/>
            <a:ext cx="5349240" cy="2834640"/>
          </a:xfrm>
          <a:prstGeom prst="roundRect">
            <a:avLst>
              <a:gd name="adj" fmla="val 1935"/>
            </a:avLst>
          </a:prstGeom>
          <a:solidFill>
            <a:srgbClr val="2C5F2D"/>
          </a:solidFill>
          <a:ln w="12700">
            <a:solidFill>
              <a:srgbClr val="2C5F2D"/>
            </a:solidFill>
            <a:prstDash val="solid"/>
          </a:ln>
        </p:spPr>
        <p:txBody>
          <a:bodyPr/>
          <a:lstStyle/>
          <a:p>
            <a:endParaRPr lang="fr-FR"/>
          </a:p>
        </p:txBody>
      </p:sp>
      <p:sp>
        <p:nvSpPr>
          <p:cNvPr id="14" name="Text 12"/>
          <p:cNvSpPr txBox="1"/>
          <p:nvPr/>
        </p:nvSpPr>
        <p:spPr>
          <a:xfrm>
            <a:off x="6537960" y="1810512"/>
            <a:ext cx="4800600" cy="274320"/>
          </a:xfrm>
          <a:prstGeom prst="rect">
            <a:avLst/>
          </a:prstGeom>
          <a:noFill/>
          <a:ln/>
        </p:spPr>
        <p:txBody>
          <a:bodyPr wrap="square" lIns="0" tIns="0" rIns="0" bIns="0" rtlCol="0" anchor="ctr"/>
          <a:lstStyle/>
          <a:p>
            <a:pPr marL="0" indent="0">
              <a:buNone/>
            </a:pPr>
            <a:r>
              <a:rPr lang="en-US" sz="1200" b="1" kern="0" spc="120" dirty="0">
                <a:solidFill>
                  <a:srgbClr val="97BC62"/>
                </a:solidFill>
                <a:latin typeface="Calibri" pitchFamily="34" charset="0"/>
                <a:ea typeface="Calibri" pitchFamily="34" charset="-122"/>
                <a:cs typeface="Calibri" pitchFamily="34" charset="-120"/>
              </a:rPr>
              <a:t>Ce qui déclenche une alerte</a:t>
            </a:r>
            <a:endParaRPr lang="en-US" sz="1200" dirty="0"/>
          </a:p>
        </p:txBody>
      </p:sp>
      <p:sp>
        <p:nvSpPr>
          <p:cNvPr id="15" name="Text 13"/>
          <p:cNvSpPr txBox="1"/>
          <p:nvPr/>
        </p:nvSpPr>
        <p:spPr>
          <a:xfrm>
            <a:off x="6537960" y="2212848"/>
            <a:ext cx="3383280" cy="274320"/>
          </a:xfrm>
          <a:prstGeom prst="rect">
            <a:avLst/>
          </a:prstGeom>
          <a:noFill/>
          <a:ln/>
        </p:spPr>
        <p:txBody>
          <a:bodyPr wrap="square" lIns="0" tIns="0" rIns="0" bIns="0" rtlCol="0" anchor="ctr"/>
          <a:lstStyle/>
          <a:p>
            <a:pPr marL="0" indent="0">
              <a:buNone/>
            </a:pPr>
            <a:r>
              <a:rPr lang="en-US" sz="1200" dirty="0">
                <a:solidFill>
                  <a:srgbClr val="D8E8CF"/>
                </a:solidFill>
                <a:latin typeface="Calibri" pitchFamily="34" charset="0"/>
                <a:ea typeface="Calibri" pitchFamily="34" charset="-122"/>
                <a:cs typeface="Calibri" pitchFamily="34" charset="-120"/>
              </a:rPr>
              <a:t>Feuillage humide et air entre 15 et 25 °C</a:t>
            </a:r>
            <a:endParaRPr lang="en-US" sz="1200" dirty="0"/>
          </a:p>
        </p:txBody>
      </p:sp>
      <p:sp>
        <p:nvSpPr>
          <p:cNvPr id="16" name="Text 14"/>
          <p:cNvSpPr txBox="1"/>
          <p:nvPr/>
        </p:nvSpPr>
        <p:spPr>
          <a:xfrm>
            <a:off x="9921240" y="2212848"/>
            <a:ext cx="1417320" cy="274320"/>
          </a:xfrm>
          <a:prstGeom prst="rect">
            <a:avLst/>
          </a:prstGeom>
          <a:noFill/>
          <a:ln/>
        </p:spPr>
        <p:txBody>
          <a:bodyPr wrap="square" lIns="0" tIns="0" rIns="0" bIns="0" rtlCol="0" anchor="ctr"/>
          <a:lstStyle/>
          <a:p>
            <a:pPr marL="0" indent="0" algn="r">
              <a:buNone/>
            </a:pPr>
            <a:r>
              <a:rPr lang="en-US" sz="1200" b="1" dirty="0">
                <a:solidFill>
                  <a:srgbClr val="FFFFFF"/>
                </a:solidFill>
                <a:latin typeface="Calibri" pitchFamily="34" charset="0"/>
                <a:ea typeface="Calibri" pitchFamily="34" charset="-122"/>
                <a:cs typeface="Calibri" pitchFamily="34" charset="-120"/>
              </a:rPr>
              <a:t>Risque fongique</a:t>
            </a:r>
            <a:endParaRPr lang="en-US" sz="1200" dirty="0"/>
          </a:p>
        </p:txBody>
      </p:sp>
      <p:sp>
        <p:nvSpPr>
          <p:cNvPr id="17" name="Text 15"/>
          <p:cNvSpPr txBox="1"/>
          <p:nvPr/>
        </p:nvSpPr>
        <p:spPr>
          <a:xfrm>
            <a:off x="6537960" y="2651760"/>
            <a:ext cx="3383280" cy="274320"/>
          </a:xfrm>
          <a:prstGeom prst="rect">
            <a:avLst/>
          </a:prstGeom>
          <a:noFill/>
          <a:ln/>
        </p:spPr>
        <p:txBody>
          <a:bodyPr wrap="square" lIns="0" tIns="0" rIns="0" bIns="0" rtlCol="0" anchor="ctr"/>
          <a:lstStyle/>
          <a:p>
            <a:pPr marL="0" indent="0">
              <a:buNone/>
            </a:pPr>
            <a:r>
              <a:rPr lang="en-US" sz="1200" dirty="0">
                <a:solidFill>
                  <a:srgbClr val="D8E8CF"/>
                </a:solidFill>
                <a:latin typeface="Calibri" pitchFamily="34" charset="0"/>
                <a:ea typeface="Calibri" pitchFamily="34" charset="-122"/>
                <a:cs typeface="Calibri" pitchFamily="34" charset="-120"/>
              </a:rPr>
              <a:t>Humidité du sol sous 25 %</a:t>
            </a:r>
            <a:endParaRPr lang="en-US" sz="1200" dirty="0"/>
          </a:p>
        </p:txBody>
      </p:sp>
      <p:sp>
        <p:nvSpPr>
          <p:cNvPr id="18" name="Text 16"/>
          <p:cNvSpPr txBox="1"/>
          <p:nvPr/>
        </p:nvSpPr>
        <p:spPr>
          <a:xfrm>
            <a:off x="9921240" y="2651760"/>
            <a:ext cx="1417320" cy="274320"/>
          </a:xfrm>
          <a:prstGeom prst="rect">
            <a:avLst/>
          </a:prstGeom>
          <a:noFill/>
          <a:ln/>
        </p:spPr>
        <p:txBody>
          <a:bodyPr wrap="square" lIns="0" tIns="0" rIns="0" bIns="0" rtlCol="0" anchor="ctr"/>
          <a:lstStyle/>
          <a:p>
            <a:pPr marL="0" indent="0" algn="r">
              <a:buNone/>
            </a:pPr>
            <a:r>
              <a:rPr lang="en-US" sz="1200" b="1" dirty="0">
                <a:solidFill>
                  <a:srgbClr val="FFFFFF"/>
                </a:solidFill>
                <a:latin typeface="Calibri" pitchFamily="34" charset="0"/>
                <a:ea typeface="Calibri" pitchFamily="34" charset="-122"/>
                <a:cs typeface="Calibri" pitchFamily="34" charset="-120"/>
              </a:rPr>
              <a:t>Stress hydrique</a:t>
            </a:r>
            <a:endParaRPr lang="en-US" sz="1200" dirty="0"/>
          </a:p>
        </p:txBody>
      </p:sp>
      <p:sp>
        <p:nvSpPr>
          <p:cNvPr id="19" name="Text 17"/>
          <p:cNvSpPr txBox="1"/>
          <p:nvPr/>
        </p:nvSpPr>
        <p:spPr>
          <a:xfrm>
            <a:off x="6537960" y="3090672"/>
            <a:ext cx="3383280" cy="274320"/>
          </a:xfrm>
          <a:prstGeom prst="rect">
            <a:avLst/>
          </a:prstGeom>
          <a:noFill/>
          <a:ln/>
        </p:spPr>
        <p:txBody>
          <a:bodyPr wrap="square" lIns="0" tIns="0" rIns="0" bIns="0" rtlCol="0" anchor="ctr"/>
          <a:lstStyle/>
          <a:p>
            <a:pPr marL="0" indent="0">
              <a:buNone/>
            </a:pPr>
            <a:r>
              <a:rPr lang="en-US" sz="1200" dirty="0">
                <a:solidFill>
                  <a:srgbClr val="D8E8CF"/>
                </a:solidFill>
                <a:latin typeface="Calibri" pitchFamily="34" charset="0"/>
                <a:ea typeface="Calibri" pitchFamily="34" charset="-122"/>
                <a:cs typeface="Calibri" pitchFamily="34" charset="-120"/>
              </a:rPr>
              <a:t>Humidité du sol au-dessus de 85 %</a:t>
            </a:r>
            <a:endParaRPr lang="en-US" sz="1200" dirty="0"/>
          </a:p>
        </p:txBody>
      </p:sp>
      <p:sp>
        <p:nvSpPr>
          <p:cNvPr id="20" name="Text 18"/>
          <p:cNvSpPr txBox="1"/>
          <p:nvPr/>
        </p:nvSpPr>
        <p:spPr>
          <a:xfrm>
            <a:off x="9921240" y="3090672"/>
            <a:ext cx="1417320" cy="274320"/>
          </a:xfrm>
          <a:prstGeom prst="rect">
            <a:avLst/>
          </a:prstGeom>
          <a:noFill/>
          <a:ln/>
        </p:spPr>
        <p:txBody>
          <a:bodyPr wrap="square" lIns="0" tIns="0" rIns="0" bIns="0" rtlCol="0" anchor="ctr"/>
          <a:lstStyle/>
          <a:p>
            <a:pPr marL="0" indent="0" algn="r">
              <a:buNone/>
            </a:pPr>
            <a:r>
              <a:rPr lang="en-US" sz="1200" b="1" dirty="0">
                <a:solidFill>
                  <a:srgbClr val="FFFFFF"/>
                </a:solidFill>
                <a:latin typeface="Calibri" pitchFamily="34" charset="0"/>
                <a:ea typeface="Calibri" pitchFamily="34" charset="-122"/>
                <a:cs typeface="Calibri" pitchFamily="34" charset="-120"/>
              </a:rPr>
              <a:t>Excès d'eau</a:t>
            </a:r>
            <a:endParaRPr lang="en-US" sz="1200" dirty="0"/>
          </a:p>
        </p:txBody>
      </p:sp>
      <p:sp>
        <p:nvSpPr>
          <p:cNvPr id="21" name="Text 19"/>
          <p:cNvSpPr txBox="1"/>
          <p:nvPr/>
        </p:nvSpPr>
        <p:spPr>
          <a:xfrm>
            <a:off x="6537960" y="3529584"/>
            <a:ext cx="3383280" cy="274320"/>
          </a:xfrm>
          <a:prstGeom prst="rect">
            <a:avLst/>
          </a:prstGeom>
          <a:noFill/>
          <a:ln/>
        </p:spPr>
        <p:txBody>
          <a:bodyPr wrap="square" lIns="0" tIns="0" rIns="0" bIns="0" rtlCol="0" anchor="ctr"/>
          <a:lstStyle/>
          <a:p>
            <a:pPr marL="0" indent="0">
              <a:buNone/>
            </a:pPr>
            <a:r>
              <a:rPr lang="en-US" sz="1200" dirty="0">
                <a:solidFill>
                  <a:srgbClr val="D8E8CF"/>
                </a:solidFill>
                <a:latin typeface="Calibri" pitchFamily="34" charset="0"/>
                <a:ea typeface="Calibri" pitchFamily="34" charset="-122"/>
                <a:cs typeface="Calibri" pitchFamily="34" charset="-120"/>
              </a:rPr>
              <a:t>Batterie sous 20 %</a:t>
            </a:r>
            <a:endParaRPr lang="en-US" sz="1200" dirty="0"/>
          </a:p>
        </p:txBody>
      </p:sp>
      <p:sp>
        <p:nvSpPr>
          <p:cNvPr id="22" name="Text 20"/>
          <p:cNvSpPr txBox="1"/>
          <p:nvPr/>
        </p:nvSpPr>
        <p:spPr>
          <a:xfrm>
            <a:off x="9921240" y="3529584"/>
            <a:ext cx="1417320" cy="274320"/>
          </a:xfrm>
          <a:prstGeom prst="rect">
            <a:avLst/>
          </a:prstGeom>
          <a:noFill/>
          <a:ln/>
        </p:spPr>
        <p:txBody>
          <a:bodyPr wrap="square" lIns="0" tIns="0" rIns="0" bIns="0" rtlCol="0" anchor="ctr"/>
          <a:lstStyle/>
          <a:p>
            <a:pPr marL="0" indent="0" algn="r">
              <a:buNone/>
            </a:pPr>
            <a:r>
              <a:rPr lang="en-US" sz="1200" b="1" dirty="0">
                <a:solidFill>
                  <a:srgbClr val="FFFFFF"/>
                </a:solidFill>
                <a:latin typeface="Calibri" pitchFamily="34" charset="0"/>
                <a:ea typeface="Calibri" pitchFamily="34" charset="-122"/>
                <a:cs typeface="Calibri" pitchFamily="34" charset="-120"/>
              </a:rPr>
              <a:t>Maintenance</a:t>
            </a:r>
            <a:endParaRPr lang="en-US" sz="1200" dirty="0"/>
          </a:p>
        </p:txBody>
      </p:sp>
      <p:sp>
        <p:nvSpPr>
          <p:cNvPr id="23" name="Text 21"/>
          <p:cNvSpPr txBox="1"/>
          <p:nvPr/>
        </p:nvSpPr>
        <p:spPr>
          <a:xfrm>
            <a:off x="6537960" y="3968496"/>
            <a:ext cx="3383280" cy="274320"/>
          </a:xfrm>
          <a:prstGeom prst="rect">
            <a:avLst/>
          </a:prstGeom>
          <a:noFill/>
          <a:ln/>
        </p:spPr>
        <p:txBody>
          <a:bodyPr wrap="square" lIns="0" tIns="0" rIns="0" bIns="0" rtlCol="0" anchor="ctr"/>
          <a:lstStyle/>
          <a:p>
            <a:pPr marL="0" indent="0">
              <a:buNone/>
            </a:pPr>
            <a:r>
              <a:rPr lang="en-US" sz="1200" dirty="0">
                <a:solidFill>
                  <a:srgbClr val="D8E8CF"/>
                </a:solidFill>
                <a:latin typeface="Calibri" pitchFamily="34" charset="0"/>
                <a:ea typeface="Calibri" pitchFamily="34" charset="-122"/>
                <a:cs typeface="Calibri" pitchFamily="34" charset="-120"/>
              </a:rPr>
              <a:t>Silence de plus de 15 minutes</a:t>
            </a:r>
            <a:endParaRPr lang="en-US" sz="1200" dirty="0"/>
          </a:p>
        </p:txBody>
      </p:sp>
      <p:sp>
        <p:nvSpPr>
          <p:cNvPr id="24" name="Text 22"/>
          <p:cNvSpPr txBox="1"/>
          <p:nvPr/>
        </p:nvSpPr>
        <p:spPr>
          <a:xfrm>
            <a:off x="9921240" y="3968496"/>
            <a:ext cx="1417320" cy="274320"/>
          </a:xfrm>
          <a:prstGeom prst="rect">
            <a:avLst/>
          </a:prstGeom>
          <a:noFill/>
          <a:ln/>
        </p:spPr>
        <p:txBody>
          <a:bodyPr wrap="square" lIns="0" tIns="0" rIns="0" bIns="0" rtlCol="0" anchor="ctr"/>
          <a:lstStyle/>
          <a:p>
            <a:pPr marL="0" indent="0" algn="r">
              <a:buNone/>
            </a:pPr>
            <a:r>
              <a:rPr lang="en-US" sz="1200" b="1" dirty="0">
                <a:solidFill>
                  <a:srgbClr val="FFFFFF"/>
                </a:solidFill>
                <a:latin typeface="Calibri" pitchFamily="34" charset="0"/>
                <a:ea typeface="Calibri" pitchFamily="34" charset="-122"/>
                <a:cs typeface="Calibri" pitchFamily="34" charset="-120"/>
              </a:rPr>
              <a:t>Capteur hors ligne</a:t>
            </a:r>
            <a:endParaRPr lang="en-US" sz="1200" dirty="0"/>
          </a:p>
        </p:txBody>
      </p:sp>
      <p:sp>
        <p:nvSpPr>
          <p:cNvPr id="25" name="Shape 23"/>
          <p:cNvSpPr/>
          <p:nvPr/>
        </p:nvSpPr>
        <p:spPr>
          <a:xfrm>
            <a:off x="548640" y="4617720"/>
            <a:ext cx="11064240" cy="1051560"/>
          </a:xfrm>
          <a:prstGeom prst="roundRect">
            <a:avLst>
              <a:gd name="adj" fmla="val 5217"/>
            </a:avLst>
          </a:prstGeom>
          <a:solidFill>
            <a:srgbClr val="EEF3EA"/>
          </a:solidFill>
          <a:ln w="12700">
            <a:solidFill>
              <a:srgbClr val="EEF3EA"/>
            </a:solidFill>
            <a:prstDash val="solid"/>
          </a:ln>
        </p:spPr>
        <p:txBody>
          <a:bodyPr/>
          <a:lstStyle/>
          <a:p>
            <a:endParaRPr lang="fr-FR"/>
          </a:p>
        </p:txBody>
      </p:sp>
      <p:sp>
        <p:nvSpPr>
          <p:cNvPr id="26" name="Text 24"/>
          <p:cNvSpPr txBox="1"/>
          <p:nvPr/>
        </p:nvSpPr>
        <p:spPr>
          <a:xfrm>
            <a:off x="868680" y="4800600"/>
            <a:ext cx="3657600" cy="228600"/>
          </a:xfrm>
          <a:prstGeom prst="rect">
            <a:avLst/>
          </a:prstGeom>
          <a:noFill/>
          <a:ln/>
        </p:spPr>
        <p:txBody>
          <a:bodyPr wrap="square" lIns="0" tIns="0" rIns="0" bIns="0" rtlCol="0" anchor="ctr"/>
          <a:lstStyle/>
          <a:p>
            <a:pPr marL="0" indent="0">
              <a:buNone/>
            </a:pPr>
            <a:r>
              <a:rPr lang="en-US" sz="1100" b="1" kern="0" spc="150" dirty="0">
                <a:solidFill>
                  <a:srgbClr val="4A7A3A"/>
                </a:solidFill>
                <a:latin typeface="Calibri" pitchFamily="34" charset="0"/>
                <a:ea typeface="Calibri" pitchFamily="34" charset="-122"/>
                <a:cs typeface="Calibri" pitchFamily="34" charset="-120"/>
              </a:rPr>
              <a:t>DU CHAMP À L'ÉCRAN</a:t>
            </a:r>
            <a:endParaRPr lang="en-US" sz="1100" dirty="0"/>
          </a:p>
        </p:txBody>
      </p:sp>
      <p:sp>
        <p:nvSpPr>
          <p:cNvPr id="27" name="Text 25"/>
          <p:cNvSpPr txBox="1"/>
          <p:nvPr/>
        </p:nvSpPr>
        <p:spPr>
          <a:xfrm>
            <a:off x="868680" y="5102352"/>
            <a:ext cx="10424160" cy="36576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Capteur  →  POST /sensors/readings  →  PostgreSQL  →  Règles métier  →  Alerte affichée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4A7A3A"/>
                </a:solidFill>
                <a:latin typeface="Calibri" pitchFamily="34" charset="0"/>
                <a:ea typeface="Calibri" pitchFamily="34" charset="-122"/>
                <a:cs typeface="Calibri" pitchFamily="34" charset="-120"/>
              </a:rPr>
              <a:t>TECHNOLOGIES IMPOSÉES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Technologies </a:t>
            </a:r>
            <a:r>
              <a:rPr lang="en-US" sz="3400" b="1" dirty="0" err="1">
                <a:solidFill>
                  <a:srgbClr val="2C5F2D"/>
                </a:solidFill>
                <a:latin typeface="Cambria" pitchFamily="34" charset="0"/>
                <a:ea typeface="Cambria" pitchFamily="34" charset="-122"/>
                <a:cs typeface="Cambria" pitchFamily="34" charset="-120"/>
              </a:rPr>
              <a:t>utilisées</a:t>
            </a:r>
            <a:endParaRPr lang="en-US" sz="3400" dirty="0"/>
          </a:p>
        </p:txBody>
      </p:sp>
      <p:sp>
        <p:nvSpPr>
          <p:cNvPr id="4" name="Shape 2"/>
          <p:cNvSpPr/>
          <p:nvPr/>
        </p:nvSpPr>
        <p:spPr>
          <a:xfrm>
            <a:off x="548640" y="1600200"/>
            <a:ext cx="3474720" cy="3977640"/>
          </a:xfrm>
          <a:prstGeom prst="roundRect">
            <a:avLst>
              <a:gd name="adj" fmla="val 1579"/>
            </a:avLst>
          </a:prstGeom>
          <a:solidFill>
            <a:srgbClr val="EEF3EA"/>
          </a:solidFill>
          <a:ln w="12700">
            <a:solidFill>
              <a:srgbClr val="EEF3EA"/>
            </a:solidFill>
            <a:prstDash val="solid"/>
          </a:ln>
        </p:spPr>
        <p:txBody>
          <a:bodyPr/>
          <a:lstStyle/>
          <a:p>
            <a:endParaRPr lang="fr-FR"/>
          </a:p>
        </p:txBody>
      </p:sp>
      <p:sp>
        <p:nvSpPr>
          <p:cNvPr id="5" name="Text 3"/>
          <p:cNvSpPr txBox="1"/>
          <p:nvPr/>
        </p:nvSpPr>
        <p:spPr>
          <a:xfrm>
            <a:off x="822960" y="1874520"/>
            <a:ext cx="2926080" cy="411480"/>
          </a:xfrm>
          <a:prstGeom prst="rect">
            <a:avLst/>
          </a:prstGeom>
          <a:noFill/>
          <a:ln/>
        </p:spPr>
        <p:txBody>
          <a:bodyPr wrap="square" lIns="0" tIns="0" rIns="0" bIns="0" rtlCol="0" anchor="ctr"/>
          <a:lstStyle/>
          <a:p>
            <a:pPr marL="0" indent="0">
              <a:buNone/>
            </a:pPr>
            <a:r>
              <a:rPr lang="en-US" sz="2400" b="1" dirty="0">
                <a:solidFill>
                  <a:srgbClr val="2C5F2D"/>
                </a:solidFill>
                <a:latin typeface="Cambria" pitchFamily="34" charset="0"/>
                <a:ea typeface="Cambria" pitchFamily="34" charset="-122"/>
                <a:cs typeface="Cambria" pitchFamily="34" charset="-120"/>
              </a:rPr>
              <a:t>FastAPI</a:t>
            </a:r>
            <a:endParaRPr lang="en-US" sz="2400" dirty="0"/>
          </a:p>
        </p:txBody>
      </p:sp>
      <p:sp>
        <p:nvSpPr>
          <p:cNvPr id="6" name="Text 4"/>
          <p:cNvSpPr txBox="1"/>
          <p:nvPr/>
        </p:nvSpPr>
        <p:spPr>
          <a:xfrm>
            <a:off x="822960" y="2304288"/>
            <a:ext cx="2926080" cy="256032"/>
          </a:xfrm>
          <a:prstGeom prst="rect">
            <a:avLst/>
          </a:prstGeom>
          <a:noFill/>
          <a:ln/>
        </p:spPr>
        <p:txBody>
          <a:bodyPr wrap="square" lIns="0" tIns="0" rIns="0" bIns="0" rtlCol="0" anchor="ctr"/>
          <a:lstStyle/>
          <a:p>
            <a:pPr marL="0" indent="0">
              <a:buNone/>
            </a:pPr>
            <a:r>
              <a:rPr lang="en-US" sz="1200" b="1" kern="0" spc="120" dirty="0">
                <a:solidFill>
                  <a:srgbClr val="4A7A3A"/>
                </a:solidFill>
                <a:latin typeface="Calibri" pitchFamily="34" charset="0"/>
                <a:ea typeface="Calibri" pitchFamily="34" charset="-122"/>
                <a:cs typeface="Calibri" pitchFamily="34" charset="-120"/>
              </a:rPr>
              <a:t>Backend et API</a:t>
            </a:r>
            <a:endParaRPr lang="en-US" sz="1200" dirty="0"/>
          </a:p>
        </p:txBody>
      </p:sp>
      <p:sp>
        <p:nvSpPr>
          <p:cNvPr id="7" name="Text 5"/>
          <p:cNvSpPr txBox="1"/>
          <p:nvPr/>
        </p:nvSpPr>
        <p:spPr>
          <a:xfrm>
            <a:off x="82296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Framework asynchrone moderne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Validation Pydantic native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Documentation Swagger automatique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Écosystème Python de l'IA</a:t>
            </a:r>
            <a:endParaRPr lang="en-US" sz="1250" dirty="0"/>
          </a:p>
        </p:txBody>
      </p:sp>
      <p:sp>
        <p:nvSpPr>
          <p:cNvPr id="8" name="Text 6"/>
          <p:cNvSpPr txBox="1"/>
          <p:nvPr/>
        </p:nvSpPr>
        <p:spPr>
          <a:xfrm>
            <a:off x="822960" y="4498848"/>
            <a:ext cx="2926080" cy="914400"/>
          </a:xfrm>
          <a:prstGeom prst="rect">
            <a:avLst/>
          </a:prstGeom>
          <a:noFill/>
          <a:ln/>
        </p:spPr>
        <p:txBody>
          <a:bodyPr wrap="square" lIns="0" tIns="0" rIns="0" bIns="0" rtlCol="0" anchor="ctr"/>
          <a:lstStyle/>
          <a:p>
            <a:pPr marL="0" indent="0">
              <a:buNone/>
            </a:pPr>
            <a:endParaRPr lang="en-US" sz="1150" dirty="0"/>
          </a:p>
        </p:txBody>
      </p:sp>
      <p:sp>
        <p:nvSpPr>
          <p:cNvPr id="9" name="Shape 7"/>
          <p:cNvSpPr/>
          <p:nvPr/>
        </p:nvSpPr>
        <p:spPr>
          <a:xfrm>
            <a:off x="4343400" y="1600200"/>
            <a:ext cx="3474720" cy="3977640"/>
          </a:xfrm>
          <a:prstGeom prst="roundRect">
            <a:avLst>
              <a:gd name="adj" fmla="val 1579"/>
            </a:avLst>
          </a:prstGeom>
          <a:solidFill>
            <a:srgbClr val="EEF3EA"/>
          </a:solidFill>
          <a:ln w="12700">
            <a:solidFill>
              <a:srgbClr val="EEF3EA"/>
            </a:solidFill>
            <a:prstDash val="solid"/>
          </a:ln>
        </p:spPr>
        <p:txBody>
          <a:bodyPr/>
          <a:lstStyle/>
          <a:p>
            <a:endParaRPr lang="fr-FR"/>
          </a:p>
        </p:txBody>
      </p:sp>
      <p:sp>
        <p:nvSpPr>
          <p:cNvPr id="10" name="Text 8"/>
          <p:cNvSpPr txBox="1"/>
          <p:nvPr/>
        </p:nvSpPr>
        <p:spPr>
          <a:xfrm>
            <a:off x="4617720" y="1874520"/>
            <a:ext cx="2926080" cy="411480"/>
          </a:xfrm>
          <a:prstGeom prst="rect">
            <a:avLst/>
          </a:prstGeom>
          <a:noFill/>
          <a:ln/>
        </p:spPr>
        <p:txBody>
          <a:bodyPr wrap="square" lIns="0" tIns="0" rIns="0" bIns="0" rtlCol="0" anchor="ctr"/>
          <a:lstStyle/>
          <a:p>
            <a:pPr marL="0" indent="0">
              <a:buNone/>
            </a:pPr>
            <a:r>
              <a:rPr lang="en-US" sz="2400" b="1" dirty="0">
                <a:solidFill>
                  <a:srgbClr val="2C5F2D"/>
                </a:solidFill>
                <a:latin typeface="Cambria" pitchFamily="34" charset="0"/>
                <a:ea typeface="Cambria" pitchFamily="34" charset="-122"/>
                <a:cs typeface="Cambria" pitchFamily="34" charset="-120"/>
              </a:rPr>
              <a:t>PostgreSQL 15</a:t>
            </a:r>
            <a:endParaRPr lang="en-US" sz="2400" dirty="0"/>
          </a:p>
        </p:txBody>
      </p:sp>
      <p:sp>
        <p:nvSpPr>
          <p:cNvPr id="11" name="Text 9"/>
          <p:cNvSpPr txBox="1"/>
          <p:nvPr/>
        </p:nvSpPr>
        <p:spPr>
          <a:xfrm>
            <a:off x="4617720" y="2304288"/>
            <a:ext cx="2926080" cy="256032"/>
          </a:xfrm>
          <a:prstGeom prst="rect">
            <a:avLst/>
          </a:prstGeom>
          <a:noFill/>
          <a:ln/>
        </p:spPr>
        <p:txBody>
          <a:bodyPr wrap="square" lIns="0" tIns="0" rIns="0" bIns="0" rtlCol="0" anchor="ctr"/>
          <a:lstStyle/>
          <a:p>
            <a:pPr marL="0" indent="0">
              <a:buNone/>
            </a:pPr>
            <a:r>
              <a:rPr lang="en-US" sz="1200" b="1" kern="0" spc="120" dirty="0">
                <a:solidFill>
                  <a:srgbClr val="4A7A3A"/>
                </a:solidFill>
                <a:latin typeface="Calibri" pitchFamily="34" charset="0"/>
                <a:ea typeface="Calibri" pitchFamily="34" charset="-122"/>
                <a:cs typeface="Calibri" pitchFamily="34" charset="-120"/>
              </a:rPr>
              <a:t>Base de données</a:t>
            </a:r>
            <a:endParaRPr lang="en-US" sz="1200" dirty="0"/>
          </a:p>
        </p:txBody>
      </p:sp>
      <p:sp>
        <p:nvSpPr>
          <p:cNvPr id="12" name="Text 10"/>
          <p:cNvSpPr txBox="1"/>
          <p:nvPr/>
        </p:nvSpPr>
        <p:spPr>
          <a:xfrm>
            <a:off x="461772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Transactions ACID garanties</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Modèle relationnel clair</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Indexation performante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Standard de l'industrie</a:t>
            </a:r>
            <a:endParaRPr lang="en-US" sz="1250" dirty="0"/>
          </a:p>
        </p:txBody>
      </p:sp>
      <p:sp>
        <p:nvSpPr>
          <p:cNvPr id="13" name="Text 11"/>
          <p:cNvSpPr txBox="1"/>
          <p:nvPr/>
        </p:nvSpPr>
        <p:spPr>
          <a:xfrm>
            <a:off x="4617720" y="4498848"/>
            <a:ext cx="2926080" cy="914400"/>
          </a:xfrm>
          <a:prstGeom prst="rect">
            <a:avLst/>
          </a:prstGeom>
          <a:noFill/>
          <a:ln/>
        </p:spPr>
        <p:txBody>
          <a:bodyPr wrap="square" lIns="0" tIns="0" rIns="0" bIns="0" rtlCol="0" anchor="ctr"/>
          <a:lstStyle/>
          <a:p>
            <a:pPr marL="0" indent="0">
              <a:buNone/>
            </a:pPr>
            <a:endParaRPr lang="en-US" sz="1150" dirty="0"/>
          </a:p>
        </p:txBody>
      </p:sp>
      <p:sp>
        <p:nvSpPr>
          <p:cNvPr id="14" name="Shape 12"/>
          <p:cNvSpPr/>
          <p:nvPr/>
        </p:nvSpPr>
        <p:spPr>
          <a:xfrm>
            <a:off x="8138160" y="1600200"/>
            <a:ext cx="3474720" cy="3977640"/>
          </a:xfrm>
          <a:prstGeom prst="roundRect">
            <a:avLst>
              <a:gd name="adj" fmla="val 1579"/>
            </a:avLst>
          </a:prstGeom>
          <a:solidFill>
            <a:srgbClr val="EEF3EA"/>
          </a:solidFill>
          <a:ln w="12700">
            <a:solidFill>
              <a:srgbClr val="EEF3EA"/>
            </a:solidFill>
            <a:prstDash val="solid"/>
          </a:ln>
        </p:spPr>
        <p:txBody>
          <a:bodyPr/>
          <a:lstStyle/>
          <a:p>
            <a:endParaRPr lang="fr-FR"/>
          </a:p>
        </p:txBody>
      </p:sp>
      <p:sp>
        <p:nvSpPr>
          <p:cNvPr id="15" name="Text 13"/>
          <p:cNvSpPr txBox="1"/>
          <p:nvPr/>
        </p:nvSpPr>
        <p:spPr>
          <a:xfrm>
            <a:off x="8412480" y="1874520"/>
            <a:ext cx="2926080" cy="411480"/>
          </a:xfrm>
          <a:prstGeom prst="rect">
            <a:avLst/>
          </a:prstGeom>
          <a:noFill/>
          <a:ln/>
        </p:spPr>
        <p:txBody>
          <a:bodyPr wrap="square" lIns="0" tIns="0" rIns="0" bIns="0" rtlCol="0" anchor="ctr"/>
          <a:lstStyle/>
          <a:p>
            <a:pPr marL="0" indent="0">
              <a:buNone/>
            </a:pPr>
            <a:r>
              <a:rPr lang="en-US" sz="2400" b="1" dirty="0">
                <a:solidFill>
                  <a:srgbClr val="2C5F2D"/>
                </a:solidFill>
                <a:latin typeface="Cambria" pitchFamily="34" charset="0"/>
                <a:ea typeface="Cambria" pitchFamily="34" charset="-122"/>
                <a:cs typeface="Cambria" pitchFamily="34" charset="-120"/>
              </a:rPr>
              <a:t>Docker et AWS</a:t>
            </a:r>
            <a:endParaRPr lang="en-US" sz="2400" dirty="0"/>
          </a:p>
        </p:txBody>
      </p:sp>
      <p:sp>
        <p:nvSpPr>
          <p:cNvPr id="16" name="Text 14"/>
          <p:cNvSpPr txBox="1"/>
          <p:nvPr/>
        </p:nvSpPr>
        <p:spPr>
          <a:xfrm>
            <a:off x="8412480" y="2304288"/>
            <a:ext cx="2926080" cy="256032"/>
          </a:xfrm>
          <a:prstGeom prst="rect">
            <a:avLst/>
          </a:prstGeom>
          <a:noFill/>
          <a:ln/>
        </p:spPr>
        <p:txBody>
          <a:bodyPr wrap="square" lIns="0" tIns="0" rIns="0" bIns="0" rtlCol="0" anchor="ctr"/>
          <a:lstStyle/>
          <a:p>
            <a:pPr marL="0" indent="0">
              <a:buNone/>
            </a:pPr>
            <a:r>
              <a:rPr lang="en-US" sz="1200" b="1" kern="0" spc="120" dirty="0">
                <a:solidFill>
                  <a:srgbClr val="4A7A3A"/>
                </a:solidFill>
                <a:latin typeface="Calibri" pitchFamily="34" charset="0"/>
                <a:ea typeface="Calibri" pitchFamily="34" charset="-122"/>
                <a:cs typeface="Calibri" pitchFamily="34" charset="-120"/>
              </a:rPr>
              <a:t>Infrastructure</a:t>
            </a:r>
            <a:endParaRPr lang="en-US" sz="1200" dirty="0"/>
          </a:p>
        </p:txBody>
      </p:sp>
      <p:sp>
        <p:nvSpPr>
          <p:cNvPr id="17" name="Text 15"/>
          <p:cNvSpPr txBox="1"/>
          <p:nvPr/>
        </p:nvSpPr>
        <p:spPr>
          <a:xfrm>
            <a:off x="841248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Environnement reproductible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Développement identique à la production</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Déploiement en une commande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Instance EC2 disponible en continu</a:t>
            </a:r>
            <a:endParaRPr lang="en-US" sz="1250" dirty="0"/>
          </a:p>
        </p:txBody>
      </p:sp>
      <p:sp>
        <p:nvSpPr>
          <p:cNvPr id="18" name="Text 16"/>
          <p:cNvSpPr txBox="1"/>
          <p:nvPr/>
        </p:nvSpPr>
        <p:spPr>
          <a:xfrm>
            <a:off x="8412480" y="4498848"/>
            <a:ext cx="2926080" cy="914400"/>
          </a:xfrm>
          <a:prstGeom prst="rect">
            <a:avLst/>
          </a:prstGeom>
          <a:noFill/>
          <a:ln/>
        </p:spPr>
        <p:txBody>
          <a:bodyPr wrap="square" lIns="0" tIns="0" rIns="0" bIns="0" rtlCol="0" anchor="ctr"/>
          <a:lstStyle/>
          <a:p>
            <a:pPr marL="0" indent="0">
              <a:buNone/>
            </a:pP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4A7A3A"/>
                </a:solidFill>
                <a:latin typeface="Calibri" pitchFamily="34" charset="0"/>
                <a:ea typeface="Calibri" pitchFamily="34" charset="-122"/>
                <a:cs typeface="Calibri" pitchFamily="34" charset="-120"/>
              </a:rPr>
              <a:t>INTERFACE DE PROGRAMMATION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rPr>
              <a:t>Interface de </a:t>
            </a:r>
            <a:r>
              <a:rPr lang="en-US" sz="3400" b="1" dirty="0" err="1">
                <a:solidFill>
                  <a:srgbClr val="2C5F2D"/>
                </a:solidFill>
                <a:latin typeface="Cambria" pitchFamily="34" charset="0"/>
                <a:ea typeface="Cambria" pitchFamily="34" charset="-122"/>
              </a:rPr>
              <a:t>programmation</a:t>
            </a:r>
            <a:endParaRPr lang="en-US" sz="3400" dirty="0"/>
          </a:p>
        </p:txBody>
      </p:sp>
      <p:sp>
        <p:nvSpPr>
          <p:cNvPr id="4" name="Shape 2"/>
          <p:cNvSpPr/>
          <p:nvPr/>
        </p:nvSpPr>
        <p:spPr>
          <a:xfrm>
            <a:off x="548640" y="1572768"/>
            <a:ext cx="5349240" cy="2084832"/>
          </a:xfrm>
          <a:prstGeom prst="roundRect">
            <a:avLst>
              <a:gd name="adj" fmla="val 2632"/>
            </a:avLst>
          </a:prstGeom>
          <a:solidFill>
            <a:srgbClr val="EEF3EA"/>
          </a:solidFill>
          <a:ln w="12700">
            <a:solidFill>
              <a:srgbClr val="EEF3EA"/>
            </a:solidFill>
            <a:prstDash val="solid"/>
          </a:ln>
        </p:spPr>
        <p:txBody>
          <a:bodyPr/>
          <a:lstStyle/>
          <a:p>
            <a:endParaRPr lang="fr-FR"/>
          </a:p>
        </p:txBody>
      </p:sp>
      <p:sp>
        <p:nvSpPr>
          <p:cNvPr id="5" name="Text 3"/>
          <p:cNvSpPr txBox="1"/>
          <p:nvPr/>
        </p:nvSpPr>
        <p:spPr>
          <a:xfrm>
            <a:off x="822960" y="1755648"/>
            <a:ext cx="4800600" cy="320040"/>
          </a:xfrm>
          <a:prstGeom prst="rect">
            <a:avLst/>
          </a:prstGeom>
          <a:noFill/>
          <a:ln/>
        </p:spPr>
        <p:txBody>
          <a:bodyPr wrap="square" lIns="0" tIns="0" rIns="0" bIns="0" rtlCol="0" anchor="ctr"/>
          <a:lstStyle/>
          <a:p>
            <a:pPr marL="0" indent="0">
              <a:buNone/>
            </a:pPr>
            <a:r>
              <a:rPr lang="en-US" sz="1600" b="1" dirty="0">
                <a:solidFill>
                  <a:srgbClr val="2C5F2D"/>
                </a:solidFill>
                <a:latin typeface="Cambria" pitchFamily="34" charset="0"/>
                <a:ea typeface="Cambria" pitchFamily="34" charset="-122"/>
                <a:cs typeface="Cambria" pitchFamily="34" charset="-120"/>
              </a:rPr>
              <a:t>Authentification</a:t>
            </a:r>
            <a:endParaRPr lang="en-US" sz="1600" dirty="0"/>
          </a:p>
        </p:txBody>
      </p:sp>
      <p:sp>
        <p:nvSpPr>
          <p:cNvPr id="6" name="Shape 4"/>
          <p:cNvSpPr/>
          <p:nvPr/>
        </p:nvSpPr>
        <p:spPr>
          <a:xfrm>
            <a:off x="822960" y="2176272"/>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7" name="Text 5"/>
          <p:cNvSpPr txBox="1"/>
          <p:nvPr/>
        </p:nvSpPr>
        <p:spPr>
          <a:xfrm>
            <a:off x="822960" y="2176272"/>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8" name="Text 6"/>
          <p:cNvSpPr txBox="1"/>
          <p:nvPr/>
        </p:nvSpPr>
        <p:spPr>
          <a:xfrm>
            <a:off x="1645920" y="2176272"/>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/auth/register</a:t>
            </a:r>
            <a:endParaRPr lang="en-US" sz="1150" dirty="0"/>
          </a:p>
        </p:txBody>
      </p:sp>
      <p:sp>
        <p:nvSpPr>
          <p:cNvPr id="9" name="Shape 7"/>
          <p:cNvSpPr/>
          <p:nvPr/>
        </p:nvSpPr>
        <p:spPr>
          <a:xfrm>
            <a:off x="822960" y="2459736"/>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10" name="Text 8"/>
          <p:cNvSpPr txBox="1"/>
          <p:nvPr/>
        </p:nvSpPr>
        <p:spPr>
          <a:xfrm>
            <a:off x="822960" y="2459736"/>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11" name="Text 9"/>
          <p:cNvSpPr txBox="1"/>
          <p:nvPr/>
        </p:nvSpPr>
        <p:spPr>
          <a:xfrm>
            <a:off x="1645920" y="2459736"/>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/auth/login</a:t>
            </a:r>
            <a:endParaRPr lang="en-US" sz="1150" dirty="0"/>
          </a:p>
        </p:txBody>
      </p:sp>
      <p:sp>
        <p:nvSpPr>
          <p:cNvPr id="12" name="Shape 10"/>
          <p:cNvSpPr/>
          <p:nvPr/>
        </p:nvSpPr>
        <p:spPr>
          <a:xfrm>
            <a:off x="822960" y="2743200"/>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13" name="Text 11"/>
          <p:cNvSpPr txBox="1"/>
          <p:nvPr/>
        </p:nvSpPr>
        <p:spPr>
          <a:xfrm>
            <a:off x="822960" y="2743200"/>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14" name="Text 12"/>
          <p:cNvSpPr txBox="1"/>
          <p:nvPr/>
        </p:nvSpPr>
        <p:spPr>
          <a:xfrm>
            <a:off x="1645920" y="2743200"/>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/auth/me</a:t>
            </a:r>
            <a:endParaRPr lang="en-US" sz="1150" dirty="0"/>
          </a:p>
        </p:txBody>
      </p:sp>
      <p:sp>
        <p:nvSpPr>
          <p:cNvPr id="15" name="Shape 13"/>
          <p:cNvSpPr/>
          <p:nvPr/>
        </p:nvSpPr>
        <p:spPr>
          <a:xfrm>
            <a:off x="6263640" y="1572768"/>
            <a:ext cx="5349240" cy="2084832"/>
          </a:xfrm>
          <a:prstGeom prst="roundRect">
            <a:avLst>
              <a:gd name="adj" fmla="val 2632"/>
            </a:avLst>
          </a:prstGeom>
          <a:solidFill>
            <a:srgbClr val="EEF3EA"/>
          </a:solidFill>
          <a:ln w="12700">
            <a:solidFill>
              <a:srgbClr val="EEF3EA"/>
            </a:solidFill>
            <a:prstDash val="solid"/>
          </a:ln>
        </p:spPr>
        <p:txBody>
          <a:bodyPr/>
          <a:lstStyle/>
          <a:p>
            <a:endParaRPr lang="fr-FR"/>
          </a:p>
        </p:txBody>
      </p:sp>
      <p:sp>
        <p:nvSpPr>
          <p:cNvPr id="16" name="Text 14"/>
          <p:cNvSpPr txBox="1"/>
          <p:nvPr/>
        </p:nvSpPr>
        <p:spPr>
          <a:xfrm>
            <a:off x="6537960" y="1755648"/>
            <a:ext cx="4800600" cy="320040"/>
          </a:xfrm>
          <a:prstGeom prst="rect">
            <a:avLst/>
          </a:prstGeom>
          <a:noFill/>
          <a:ln/>
        </p:spPr>
        <p:txBody>
          <a:bodyPr wrap="square" lIns="0" tIns="0" rIns="0" bIns="0" rtlCol="0" anchor="ctr"/>
          <a:lstStyle/>
          <a:p>
            <a:pPr marL="0" indent="0">
              <a:buNone/>
            </a:pPr>
            <a:r>
              <a:rPr lang="en-US" sz="1600" b="1" dirty="0">
                <a:solidFill>
                  <a:srgbClr val="2C5F2D"/>
                </a:solidFill>
                <a:latin typeface="Cambria" pitchFamily="34" charset="0"/>
                <a:ea typeface="Cambria" pitchFamily="34" charset="-122"/>
                <a:cs typeface="Cambria" pitchFamily="34" charset="-120"/>
              </a:rPr>
              <a:t>Parcelles</a:t>
            </a:r>
            <a:endParaRPr lang="en-US" sz="1600" dirty="0"/>
          </a:p>
        </p:txBody>
      </p:sp>
      <p:sp>
        <p:nvSpPr>
          <p:cNvPr id="17" name="Shape 15"/>
          <p:cNvSpPr/>
          <p:nvPr/>
        </p:nvSpPr>
        <p:spPr>
          <a:xfrm>
            <a:off x="6537960" y="2176272"/>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18" name="Text 16"/>
          <p:cNvSpPr txBox="1"/>
          <p:nvPr/>
        </p:nvSpPr>
        <p:spPr>
          <a:xfrm>
            <a:off x="6537960" y="2176272"/>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19" name="Text 17"/>
          <p:cNvSpPr txBox="1"/>
          <p:nvPr/>
        </p:nvSpPr>
        <p:spPr>
          <a:xfrm>
            <a:off x="7360920" y="2176272"/>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/parcels</a:t>
            </a:r>
            <a:endParaRPr lang="en-US" sz="1150" dirty="0"/>
          </a:p>
        </p:txBody>
      </p:sp>
      <p:sp>
        <p:nvSpPr>
          <p:cNvPr id="20" name="Shape 18"/>
          <p:cNvSpPr/>
          <p:nvPr/>
        </p:nvSpPr>
        <p:spPr>
          <a:xfrm>
            <a:off x="6537960" y="2459736"/>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21" name="Text 19"/>
          <p:cNvSpPr txBox="1"/>
          <p:nvPr/>
        </p:nvSpPr>
        <p:spPr>
          <a:xfrm>
            <a:off x="6537960" y="2459736"/>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22" name="Text 20"/>
          <p:cNvSpPr txBox="1"/>
          <p:nvPr/>
        </p:nvSpPr>
        <p:spPr>
          <a:xfrm>
            <a:off x="7360920" y="2459736"/>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/parcels</a:t>
            </a:r>
            <a:endParaRPr lang="en-US" sz="1150" dirty="0"/>
          </a:p>
        </p:txBody>
      </p:sp>
      <p:sp>
        <p:nvSpPr>
          <p:cNvPr id="23" name="Shape 21"/>
          <p:cNvSpPr/>
          <p:nvPr/>
        </p:nvSpPr>
        <p:spPr>
          <a:xfrm>
            <a:off x="6537960" y="2743200"/>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24" name="Text 22"/>
          <p:cNvSpPr txBox="1"/>
          <p:nvPr/>
        </p:nvSpPr>
        <p:spPr>
          <a:xfrm>
            <a:off x="6537960" y="2743200"/>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PUT</a:t>
            </a:r>
            <a:endParaRPr lang="en-US" sz="850" dirty="0"/>
          </a:p>
        </p:txBody>
      </p:sp>
      <p:sp>
        <p:nvSpPr>
          <p:cNvPr id="25" name="Text 23"/>
          <p:cNvSpPr txBox="1"/>
          <p:nvPr/>
        </p:nvSpPr>
        <p:spPr>
          <a:xfrm>
            <a:off x="7360920" y="2743200"/>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/parcels/{id}</a:t>
            </a:r>
            <a:endParaRPr lang="en-US" sz="1150" dirty="0"/>
          </a:p>
        </p:txBody>
      </p:sp>
      <p:sp>
        <p:nvSpPr>
          <p:cNvPr id="26" name="Shape 24"/>
          <p:cNvSpPr/>
          <p:nvPr/>
        </p:nvSpPr>
        <p:spPr>
          <a:xfrm>
            <a:off x="6537960" y="3026664"/>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27" name="Text 25"/>
          <p:cNvSpPr txBox="1"/>
          <p:nvPr/>
        </p:nvSpPr>
        <p:spPr>
          <a:xfrm>
            <a:off x="6537960" y="3026664"/>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DELETE</a:t>
            </a:r>
            <a:endParaRPr lang="en-US" sz="850" dirty="0"/>
          </a:p>
        </p:txBody>
      </p:sp>
      <p:sp>
        <p:nvSpPr>
          <p:cNvPr id="28" name="Text 26"/>
          <p:cNvSpPr txBox="1"/>
          <p:nvPr/>
        </p:nvSpPr>
        <p:spPr>
          <a:xfrm>
            <a:off x="7360920" y="3026664"/>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/parcels/{id}</a:t>
            </a:r>
            <a:endParaRPr lang="en-US" sz="1150" dirty="0"/>
          </a:p>
        </p:txBody>
      </p:sp>
      <p:sp>
        <p:nvSpPr>
          <p:cNvPr id="29" name="Shape 27"/>
          <p:cNvSpPr/>
          <p:nvPr/>
        </p:nvSpPr>
        <p:spPr>
          <a:xfrm>
            <a:off x="548640" y="3785616"/>
            <a:ext cx="5349240" cy="2084832"/>
          </a:xfrm>
          <a:prstGeom prst="roundRect">
            <a:avLst>
              <a:gd name="adj" fmla="val 2632"/>
            </a:avLst>
          </a:prstGeom>
          <a:solidFill>
            <a:srgbClr val="EEF3EA"/>
          </a:solidFill>
          <a:ln w="12700">
            <a:solidFill>
              <a:srgbClr val="EEF3EA"/>
            </a:solidFill>
            <a:prstDash val="solid"/>
          </a:ln>
        </p:spPr>
        <p:txBody>
          <a:bodyPr/>
          <a:lstStyle/>
          <a:p>
            <a:endParaRPr lang="fr-FR"/>
          </a:p>
        </p:txBody>
      </p:sp>
      <p:sp>
        <p:nvSpPr>
          <p:cNvPr id="30" name="Text 28"/>
          <p:cNvSpPr txBox="1"/>
          <p:nvPr/>
        </p:nvSpPr>
        <p:spPr>
          <a:xfrm>
            <a:off x="822960" y="3968496"/>
            <a:ext cx="4800600" cy="320040"/>
          </a:xfrm>
          <a:prstGeom prst="rect">
            <a:avLst/>
          </a:prstGeom>
          <a:noFill/>
          <a:ln/>
        </p:spPr>
        <p:txBody>
          <a:bodyPr wrap="square" lIns="0" tIns="0" rIns="0" bIns="0" rtlCol="0" anchor="ctr"/>
          <a:lstStyle/>
          <a:p>
            <a:pPr marL="0" indent="0">
              <a:buNone/>
            </a:pPr>
            <a:r>
              <a:rPr lang="en-US" sz="1600" b="1" dirty="0">
                <a:solidFill>
                  <a:srgbClr val="2C5F2D"/>
                </a:solidFill>
                <a:latin typeface="Cambria" pitchFamily="34" charset="0"/>
                <a:ea typeface="Cambria" pitchFamily="34" charset="-122"/>
                <a:cs typeface="Cambria" pitchFamily="34" charset="-120"/>
              </a:rPr>
              <a:t>Capteurs IoT</a:t>
            </a:r>
            <a:endParaRPr lang="en-US" sz="1600" dirty="0"/>
          </a:p>
        </p:txBody>
      </p:sp>
      <p:sp>
        <p:nvSpPr>
          <p:cNvPr id="31" name="Shape 29"/>
          <p:cNvSpPr/>
          <p:nvPr/>
        </p:nvSpPr>
        <p:spPr>
          <a:xfrm>
            <a:off x="822960" y="4389120"/>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32" name="Text 30"/>
          <p:cNvSpPr txBox="1"/>
          <p:nvPr/>
        </p:nvSpPr>
        <p:spPr>
          <a:xfrm>
            <a:off x="822960" y="4389120"/>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33" name="Text 31"/>
          <p:cNvSpPr txBox="1"/>
          <p:nvPr/>
        </p:nvSpPr>
        <p:spPr>
          <a:xfrm>
            <a:off x="1645920" y="4389120"/>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/sensors/readings</a:t>
            </a:r>
            <a:endParaRPr lang="en-US" sz="1150" dirty="0"/>
          </a:p>
        </p:txBody>
      </p:sp>
      <p:sp>
        <p:nvSpPr>
          <p:cNvPr id="34" name="Shape 32"/>
          <p:cNvSpPr/>
          <p:nvPr/>
        </p:nvSpPr>
        <p:spPr>
          <a:xfrm>
            <a:off x="822960" y="4672584"/>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35" name="Text 33"/>
          <p:cNvSpPr txBox="1"/>
          <p:nvPr/>
        </p:nvSpPr>
        <p:spPr>
          <a:xfrm>
            <a:off x="822960" y="4672584"/>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36" name="Text 34"/>
          <p:cNvSpPr txBox="1"/>
          <p:nvPr/>
        </p:nvSpPr>
        <p:spPr>
          <a:xfrm>
            <a:off x="1645920" y="4672584"/>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/sensors/latest</a:t>
            </a:r>
            <a:endParaRPr lang="en-US" sz="1150" dirty="0"/>
          </a:p>
        </p:txBody>
      </p:sp>
      <p:sp>
        <p:nvSpPr>
          <p:cNvPr id="37" name="Shape 35"/>
          <p:cNvSpPr/>
          <p:nvPr/>
        </p:nvSpPr>
        <p:spPr>
          <a:xfrm>
            <a:off x="822960" y="4956048"/>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38" name="Text 36"/>
          <p:cNvSpPr txBox="1"/>
          <p:nvPr/>
        </p:nvSpPr>
        <p:spPr>
          <a:xfrm>
            <a:off x="822960" y="4956048"/>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39" name="Text 37"/>
          <p:cNvSpPr txBox="1"/>
          <p:nvPr/>
        </p:nvSpPr>
        <p:spPr>
          <a:xfrm>
            <a:off x="1645920" y="4956048"/>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/sensors/network</a:t>
            </a:r>
            <a:endParaRPr lang="en-US" sz="1150" dirty="0"/>
          </a:p>
        </p:txBody>
      </p:sp>
      <p:sp>
        <p:nvSpPr>
          <p:cNvPr id="40" name="Shape 38"/>
          <p:cNvSpPr/>
          <p:nvPr/>
        </p:nvSpPr>
        <p:spPr>
          <a:xfrm>
            <a:off x="822960" y="5239512"/>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41" name="Text 39"/>
          <p:cNvSpPr txBox="1"/>
          <p:nvPr/>
        </p:nvSpPr>
        <p:spPr>
          <a:xfrm>
            <a:off x="822960" y="5239512"/>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42" name="Text 40"/>
          <p:cNvSpPr txBox="1"/>
          <p:nvPr/>
        </p:nvSpPr>
        <p:spPr>
          <a:xfrm>
            <a:off x="1645920" y="5239512"/>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/sensors/{id}/history</a:t>
            </a:r>
            <a:endParaRPr lang="en-US" sz="1150" dirty="0"/>
          </a:p>
        </p:txBody>
      </p:sp>
      <p:sp>
        <p:nvSpPr>
          <p:cNvPr id="43" name="Shape 41"/>
          <p:cNvSpPr/>
          <p:nvPr/>
        </p:nvSpPr>
        <p:spPr>
          <a:xfrm>
            <a:off x="6263640" y="3785616"/>
            <a:ext cx="5349240" cy="2084832"/>
          </a:xfrm>
          <a:prstGeom prst="roundRect">
            <a:avLst>
              <a:gd name="adj" fmla="val 2632"/>
            </a:avLst>
          </a:prstGeom>
          <a:solidFill>
            <a:srgbClr val="EEF3EA"/>
          </a:solidFill>
          <a:ln w="12700">
            <a:solidFill>
              <a:srgbClr val="EEF3EA"/>
            </a:solidFill>
            <a:prstDash val="solid"/>
          </a:ln>
        </p:spPr>
        <p:txBody>
          <a:bodyPr/>
          <a:lstStyle/>
          <a:p>
            <a:endParaRPr lang="fr-FR"/>
          </a:p>
        </p:txBody>
      </p:sp>
      <p:sp>
        <p:nvSpPr>
          <p:cNvPr id="44" name="Text 42"/>
          <p:cNvSpPr txBox="1"/>
          <p:nvPr/>
        </p:nvSpPr>
        <p:spPr>
          <a:xfrm>
            <a:off x="6537960" y="3968496"/>
            <a:ext cx="4800600" cy="320040"/>
          </a:xfrm>
          <a:prstGeom prst="rect">
            <a:avLst/>
          </a:prstGeom>
          <a:noFill/>
          <a:ln/>
        </p:spPr>
        <p:txBody>
          <a:bodyPr wrap="square" lIns="0" tIns="0" rIns="0" bIns="0" rtlCol="0" anchor="ctr"/>
          <a:lstStyle/>
          <a:p>
            <a:pPr marL="0" indent="0">
              <a:buNone/>
            </a:pPr>
            <a:r>
              <a:rPr lang="en-US" sz="1600" b="1" dirty="0">
                <a:solidFill>
                  <a:srgbClr val="2C5F2D"/>
                </a:solidFill>
                <a:latin typeface="Cambria" pitchFamily="34" charset="0"/>
                <a:ea typeface="Cambria" pitchFamily="34" charset="-122"/>
                <a:cs typeface="Cambria" pitchFamily="34" charset="-120"/>
              </a:rPr>
              <a:t>Diagnostic et suivi</a:t>
            </a:r>
            <a:endParaRPr lang="en-US" sz="1600" dirty="0"/>
          </a:p>
        </p:txBody>
      </p:sp>
      <p:sp>
        <p:nvSpPr>
          <p:cNvPr id="45" name="Shape 43"/>
          <p:cNvSpPr/>
          <p:nvPr/>
        </p:nvSpPr>
        <p:spPr>
          <a:xfrm>
            <a:off x="6537960" y="4389120"/>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46" name="Text 44"/>
          <p:cNvSpPr txBox="1"/>
          <p:nvPr/>
        </p:nvSpPr>
        <p:spPr>
          <a:xfrm>
            <a:off x="6537960" y="4389120"/>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47" name="Text 45"/>
          <p:cNvSpPr txBox="1"/>
          <p:nvPr/>
        </p:nvSpPr>
        <p:spPr>
          <a:xfrm>
            <a:off x="7360920" y="4389120"/>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/diagnose</a:t>
            </a:r>
            <a:endParaRPr lang="en-US" sz="1150" dirty="0"/>
          </a:p>
        </p:txBody>
      </p:sp>
      <p:sp>
        <p:nvSpPr>
          <p:cNvPr id="48" name="Shape 46"/>
          <p:cNvSpPr/>
          <p:nvPr/>
        </p:nvSpPr>
        <p:spPr>
          <a:xfrm>
            <a:off x="6537960" y="4672584"/>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49" name="Text 47"/>
          <p:cNvSpPr txBox="1"/>
          <p:nvPr/>
        </p:nvSpPr>
        <p:spPr>
          <a:xfrm>
            <a:off x="6537960" y="4672584"/>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0" name="Text 48"/>
          <p:cNvSpPr txBox="1"/>
          <p:nvPr/>
        </p:nvSpPr>
        <p:spPr>
          <a:xfrm>
            <a:off x="7360920" y="4672584"/>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/history/{id}</a:t>
            </a:r>
            <a:endParaRPr lang="en-US" sz="1150" dirty="0"/>
          </a:p>
        </p:txBody>
      </p:sp>
      <p:sp>
        <p:nvSpPr>
          <p:cNvPr id="51" name="Shape 49"/>
          <p:cNvSpPr/>
          <p:nvPr/>
        </p:nvSpPr>
        <p:spPr>
          <a:xfrm>
            <a:off x="6537960" y="4956048"/>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52" name="Text 50"/>
          <p:cNvSpPr txBox="1"/>
          <p:nvPr/>
        </p:nvSpPr>
        <p:spPr>
          <a:xfrm>
            <a:off x="6537960" y="4956048"/>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DELETE</a:t>
            </a:r>
            <a:endParaRPr lang="en-US" sz="850" dirty="0"/>
          </a:p>
        </p:txBody>
      </p:sp>
      <p:sp>
        <p:nvSpPr>
          <p:cNvPr id="53" name="Text 51"/>
          <p:cNvSpPr txBox="1"/>
          <p:nvPr/>
        </p:nvSpPr>
        <p:spPr>
          <a:xfrm>
            <a:off x="7360920" y="4956048"/>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/history/{id}</a:t>
            </a:r>
            <a:endParaRPr lang="en-US" sz="1150" dirty="0"/>
          </a:p>
        </p:txBody>
      </p:sp>
      <p:sp>
        <p:nvSpPr>
          <p:cNvPr id="54" name="Shape 52"/>
          <p:cNvSpPr/>
          <p:nvPr/>
        </p:nvSpPr>
        <p:spPr>
          <a:xfrm>
            <a:off x="6537960" y="5239512"/>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55" name="Text 53"/>
          <p:cNvSpPr txBox="1"/>
          <p:nvPr/>
        </p:nvSpPr>
        <p:spPr>
          <a:xfrm>
            <a:off x="6537960" y="5239512"/>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6" name="Text 54"/>
          <p:cNvSpPr txBox="1"/>
          <p:nvPr/>
        </p:nvSpPr>
        <p:spPr>
          <a:xfrm>
            <a:off x="7360920" y="5239512"/>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/alerts/{id}</a:t>
            </a:r>
            <a:endParaRPr lang="en-US" sz="1150" dirty="0"/>
          </a:p>
        </p:txBody>
      </p:sp>
      <p:sp>
        <p:nvSpPr>
          <p:cNvPr id="57" name="Shape 55"/>
          <p:cNvSpPr/>
          <p:nvPr/>
        </p:nvSpPr>
        <p:spPr>
          <a:xfrm>
            <a:off x="6537960" y="5522976"/>
            <a:ext cx="713232" cy="237744"/>
          </a:xfrm>
          <a:prstGeom prst="roundRect">
            <a:avLst>
              <a:gd name="adj" fmla="val 15385"/>
            </a:avLst>
          </a:prstGeom>
          <a:solidFill>
            <a:srgbClr val="2C5F2D"/>
          </a:solidFill>
          <a:ln w="12700">
            <a:solidFill>
              <a:srgbClr val="2C5F2D"/>
            </a:solidFill>
            <a:prstDash val="solid"/>
          </a:ln>
        </p:spPr>
        <p:txBody>
          <a:bodyPr/>
          <a:lstStyle/>
          <a:p>
            <a:endParaRPr lang="fr-FR"/>
          </a:p>
        </p:txBody>
      </p:sp>
      <p:sp>
        <p:nvSpPr>
          <p:cNvPr id="58" name="Text 56"/>
          <p:cNvSpPr txBox="1"/>
          <p:nvPr/>
        </p:nvSpPr>
        <p:spPr>
          <a:xfrm>
            <a:off x="6537960" y="5522976"/>
            <a:ext cx="71323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9" name="Text 57"/>
          <p:cNvSpPr txBox="1"/>
          <p:nvPr/>
        </p:nvSpPr>
        <p:spPr>
          <a:xfrm>
            <a:off x="7360920" y="5522976"/>
            <a:ext cx="4023360" cy="237744"/>
          </a:xfrm>
          <a:prstGeom prst="rect">
            <a:avLst/>
          </a:prstGeom>
          <a:noFill/>
          <a:ln/>
        </p:spPr>
        <p:txBody>
          <a:bodyPr wrap="square" lIns="0" tIns="0" rIns="0" bIns="0" rtlCol="0" anchor="ctr"/>
          <a:lstStyle/>
          <a:p>
            <a:pPr marL="0" indent="0">
              <a:buNone/>
            </a:pPr>
            <a:r>
              <a:rPr lang="en-US" sz="1150" dirty="0">
                <a:solidFill>
                  <a:srgbClr val="2B2B2B"/>
                </a:solidFill>
                <a:latin typeface="Consolas" pitchFamily="34" charset="0"/>
                <a:ea typeface="Consolas" pitchFamily="34" charset="-122"/>
                <a:cs typeface="Consolas" pitchFamily="34" charset="-120"/>
              </a:rPr>
              <a:t>/weather</a:t>
            </a:r>
            <a:endParaRPr lang="en-US" sz="1150" dirty="0"/>
          </a:p>
        </p:txBody>
      </p:sp>
      <p:sp>
        <p:nvSpPr>
          <p:cNvPr id="60" name="Shape 58"/>
          <p:cNvSpPr/>
          <p:nvPr/>
        </p:nvSpPr>
        <p:spPr>
          <a:xfrm>
            <a:off x="548640" y="5943600"/>
            <a:ext cx="11064240" cy="502920"/>
          </a:xfrm>
          <a:prstGeom prst="roundRect">
            <a:avLst>
              <a:gd name="adj" fmla="val 10909"/>
            </a:avLst>
          </a:prstGeom>
          <a:solidFill>
            <a:srgbClr val="2C5F2D"/>
          </a:solidFill>
          <a:ln w="12700">
            <a:solidFill>
              <a:srgbClr val="2C5F2D"/>
            </a:solidFill>
            <a:prstDash val="solid"/>
          </a:ln>
        </p:spPr>
        <p:txBody>
          <a:bodyPr/>
          <a:lstStyle/>
          <a:p>
            <a:endParaRPr lang="fr-FR"/>
          </a:p>
        </p:txBody>
      </p:sp>
      <p:sp>
        <p:nvSpPr>
          <p:cNvPr id="61" name="Text 59"/>
          <p:cNvSpPr txBox="1"/>
          <p:nvPr/>
        </p:nvSpPr>
        <p:spPr>
          <a:xfrm>
            <a:off x="868680" y="5943600"/>
            <a:ext cx="10424160" cy="5029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Documentation interactive Swagger   ·   http://13.51.48.254:8000/docs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3A1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INTELLIGENCE ARTIFICIELLE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rPr>
              <a:t>Intelligence  </a:t>
            </a:r>
            <a:r>
              <a:rPr lang="en-US" sz="3400" b="1" dirty="0" err="1">
                <a:solidFill>
                  <a:srgbClr val="FFFFFF"/>
                </a:solidFill>
                <a:latin typeface="Cambria" pitchFamily="34" charset="0"/>
                <a:ea typeface="Cambria" pitchFamily="34" charset="-122"/>
              </a:rPr>
              <a:t>artificielle</a:t>
            </a:r>
            <a:endParaRPr lang="en-US" sz="3400" dirty="0"/>
          </a:p>
        </p:txBody>
      </p:sp>
      <p:sp>
        <p:nvSpPr>
          <p:cNvPr id="101" name="Shape 101"/>
          <p:cNvSpPr/>
          <p:nvPr/>
        </p:nvSpPr>
        <p:spPr>
          <a:xfrm>
            <a:off x="2491740" y="1611348"/>
            <a:ext cx="3474720" cy="1691640"/>
          </a:xfrm>
          <a:prstGeom prst="roundRect">
            <a:avLst>
              <a:gd name="adj" fmla="val 3243"/>
            </a:avLst>
          </a:prstGeom>
          <a:solidFill>
            <a:srgbClr val="26492A"/>
          </a:solidFill>
          <a:ln w="12700">
            <a:solidFill>
              <a:srgbClr val="26492A"/>
            </a:solidFill>
            <a:prstDash val="solid"/>
          </a:ln>
        </p:spPr>
        <p:txBody>
          <a:bodyPr/>
          <a:lstStyle/>
          <a:p>
            <a:endParaRPr lang="fr-FR"/>
          </a:p>
        </p:txBody>
      </p:sp>
      <p:sp>
        <p:nvSpPr>
          <p:cNvPr id="102" name="Text 102"/>
          <p:cNvSpPr txBox="1"/>
          <p:nvPr/>
        </p:nvSpPr>
        <p:spPr>
          <a:xfrm>
            <a:off x="2766060" y="1775940"/>
            <a:ext cx="2926080" cy="685800"/>
          </a:xfrm>
          <a:prstGeom prst="rect">
            <a:avLst/>
          </a:prstGeom>
          <a:noFill/>
          <a:ln/>
        </p:spPr>
        <p:txBody>
          <a:bodyPr wrap="square" lIns="0" tIns="0" rIns="0" bIns="0" rtlCol="0" anchor="ctr"/>
          <a:lstStyle/>
          <a:p>
            <a:pPr marL="0" indent="0">
              <a:buNone/>
            </a:pPr>
            <a:r>
              <a:rPr lang="en-US" sz="4800" b="1" dirty="0">
                <a:solidFill>
                  <a:srgbClr val="97BC62"/>
                </a:solidFill>
                <a:latin typeface="Cambria" pitchFamily="34" charset="0"/>
                <a:ea typeface="Cambria" pitchFamily="34" charset="-122"/>
                <a:cs typeface="Cambria" pitchFamily="34" charset="-120"/>
              </a:rPr>
              <a:t>96,70 %</a:t>
            </a:r>
            <a:endParaRPr lang="en-US" sz="4800" dirty="0"/>
          </a:p>
        </p:txBody>
      </p:sp>
      <p:sp>
        <p:nvSpPr>
          <p:cNvPr id="103" name="Text 103"/>
          <p:cNvSpPr txBox="1"/>
          <p:nvPr/>
        </p:nvSpPr>
        <p:spPr>
          <a:xfrm>
            <a:off x="2766060" y="2489172"/>
            <a:ext cx="2926080" cy="2743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de précision mesurée</a:t>
            </a:r>
            <a:endParaRPr lang="en-US" sz="1500" dirty="0"/>
          </a:p>
        </p:txBody>
      </p:sp>
      <p:sp>
        <p:nvSpPr>
          <p:cNvPr id="104" name="Text 104"/>
          <p:cNvSpPr txBox="1"/>
          <p:nvPr/>
        </p:nvSpPr>
        <p:spPr>
          <a:xfrm>
            <a:off x="2766060" y="2781780"/>
            <a:ext cx="2926080" cy="274320"/>
          </a:xfrm>
          <a:prstGeom prst="rect">
            <a:avLst/>
          </a:prstGeom>
          <a:noFill/>
          <a:ln/>
        </p:spPr>
        <p:txBody>
          <a:bodyPr wrap="square" lIns="0" tIns="0" rIns="0" bIns="0" rtlCol="0" anchor="ctr"/>
          <a:lstStyle/>
          <a:p>
            <a:pPr marL="0" indent="0">
              <a:buNone/>
            </a:pPr>
            <a:r>
              <a:rPr lang="en-US" sz="1200" dirty="0">
                <a:solidFill>
                  <a:srgbClr val="A8BFA0"/>
                </a:solidFill>
                <a:latin typeface="Calibri" pitchFamily="34" charset="0"/>
                <a:ea typeface="Calibri" pitchFamily="34" charset="-122"/>
                <a:cs typeface="Calibri" pitchFamily="34" charset="-120"/>
              </a:rPr>
              <a:t>sur 10 849 photos de test</a:t>
            </a:r>
            <a:endParaRPr lang="en-US" sz="1200" dirty="0"/>
          </a:p>
        </p:txBody>
      </p:sp>
      <p:sp>
        <p:nvSpPr>
          <p:cNvPr id="12" name="Shape 10"/>
          <p:cNvSpPr/>
          <p:nvPr/>
        </p:nvSpPr>
        <p:spPr>
          <a:xfrm>
            <a:off x="6195060" y="1611347"/>
            <a:ext cx="3474720" cy="1691641"/>
          </a:xfrm>
          <a:prstGeom prst="roundRect">
            <a:avLst>
              <a:gd name="adj" fmla="val 3243"/>
            </a:avLst>
          </a:prstGeom>
          <a:solidFill>
            <a:srgbClr val="26492A"/>
          </a:solidFill>
          <a:ln w="12700">
            <a:solidFill>
              <a:srgbClr val="26492A"/>
            </a:solidFill>
            <a:prstDash val="solid"/>
          </a:ln>
        </p:spPr>
        <p:txBody>
          <a:bodyPr/>
          <a:lstStyle/>
          <a:p>
            <a:endParaRPr lang="fr-FR"/>
          </a:p>
        </p:txBody>
      </p:sp>
      <p:sp>
        <p:nvSpPr>
          <p:cNvPr id="13" name="Text 11"/>
          <p:cNvSpPr txBox="1"/>
          <p:nvPr/>
        </p:nvSpPr>
        <p:spPr>
          <a:xfrm>
            <a:off x="6469380" y="1750137"/>
            <a:ext cx="2926080" cy="685800"/>
          </a:xfrm>
          <a:prstGeom prst="rect">
            <a:avLst/>
          </a:prstGeom>
          <a:noFill/>
          <a:ln/>
        </p:spPr>
        <p:txBody>
          <a:bodyPr wrap="square" lIns="0" tIns="0" rIns="0" bIns="0" rtlCol="0" anchor="ctr"/>
          <a:lstStyle/>
          <a:p>
            <a:pPr marL="0" indent="0">
              <a:buNone/>
            </a:pPr>
            <a:r>
              <a:rPr lang="en-US" sz="4800" b="1" dirty="0">
                <a:solidFill>
                  <a:srgbClr val="97BC62"/>
                </a:solidFill>
                <a:latin typeface="Cambria" pitchFamily="34" charset="0"/>
                <a:ea typeface="Cambria" pitchFamily="34" charset="-122"/>
                <a:cs typeface="Cambria" pitchFamily="34" charset="-120"/>
              </a:rPr>
              <a:t>30-50 ms</a:t>
            </a:r>
            <a:endParaRPr lang="en-US" sz="4800" dirty="0"/>
          </a:p>
        </p:txBody>
      </p:sp>
      <p:sp>
        <p:nvSpPr>
          <p:cNvPr id="14" name="Text 12"/>
          <p:cNvSpPr txBox="1"/>
          <p:nvPr/>
        </p:nvSpPr>
        <p:spPr>
          <a:xfrm>
            <a:off x="6469380" y="2463369"/>
            <a:ext cx="2926080" cy="2743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par diagnostic</a:t>
            </a:r>
            <a:endParaRPr lang="en-US" sz="1500" dirty="0"/>
          </a:p>
        </p:txBody>
      </p:sp>
      <p:sp>
        <p:nvSpPr>
          <p:cNvPr id="15" name="Text 13"/>
          <p:cNvSpPr txBox="1"/>
          <p:nvPr/>
        </p:nvSpPr>
        <p:spPr>
          <a:xfrm>
            <a:off x="6469380" y="2755977"/>
            <a:ext cx="2926080" cy="274320"/>
          </a:xfrm>
          <a:prstGeom prst="rect">
            <a:avLst/>
          </a:prstGeom>
          <a:noFill/>
          <a:ln/>
        </p:spPr>
        <p:txBody>
          <a:bodyPr wrap="square" lIns="0" tIns="0" rIns="0" bIns="0" rtlCol="0" anchor="ctr"/>
          <a:lstStyle/>
          <a:p>
            <a:pPr marL="0" indent="0">
              <a:buNone/>
            </a:pPr>
            <a:r>
              <a:rPr lang="en-US" sz="1200" dirty="0">
                <a:solidFill>
                  <a:srgbClr val="A8BFA0"/>
                </a:solidFill>
                <a:latin typeface="Calibri" pitchFamily="34" charset="0"/>
                <a:ea typeface="Calibri" pitchFamily="34" charset="-122"/>
                <a:cs typeface="Calibri" pitchFamily="34" charset="-120"/>
              </a:rPr>
              <a:t>modèle TFLite, 4,9 Mo</a:t>
            </a:r>
            <a:endParaRPr lang="en-US" sz="1200" dirty="0"/>
          </a:p>
        </p:txBody>
      </p:sp>
      <p:sp>
        <p:nvSpPr>
          <p:cNvPr id="16" name="Text 14"/>
          <p:cNvSpPr txBox="1"/>
          <p:nvPr/>
        </p:nvSpPr>
        <p:spPr>
          <a:xfrm>
            <a:off x="548640" y="3657600"/>
            <a:ext cx="5486400" cy="228600"/>
          </a:xfrm>
          <a:prstGeom prst="rect">
            <a:avLst/>
          </a:prstGeom>
          <a:noFill/>
          <a:ln/>
        </p:spPr>
        <p:txBody>
          <a:bodyPr wrap="square" lIns="0" tIns="0" rIns="0" bIns="0" rtlCol="0" anchor="ctr"/>
          <a:lstStyle/>
          <a:p>
            <a:pPr marL="0" indent="0">
              <a:buNone/>
            </a:pPr>
            <a:r>
              <a:rPr lang="en-US" sz="1100" b="1" kern="0" spc="150" dirty="0">
                <a:solidFill>
                  <a:srgbClr val="97BC62"/>
                </a:solidFill>
                <a:latin typeface="Calibri" pitchFamily="34" charset="0"/>
                <a:ea typeface="Calibri" pitchFamily="34" charset="-122"/>
                <a:cs typeface="Calibri" pitchFamily="34" charset="-120"/>
              </a:rPr>
              <a:t>CHAÎNE DE TRAITEMENT</a:t>
            </a:r>
            <a:endParaRPr lang="en-US" sz="1100" dirty="0"/>
          </a:p>
        </p:txBody>
      </p:sp>
      <p:sp>
        <p:nvSpPr>
          <p:cNvPr id="17" name="Shape 15"/>
          <p:cNvSpPr/>
          <p:nvPr/>
        </p:nvSpPr>
        <p:spPr>
          <a:xfrm>
            <a:off x="548640" y="3977640"/>
            <a:ext cx="2594610" cy="1554480"/>
          </a:xfrm>
          <a:prstGeom prst="roundRect">
            <a:avLst>
              <a:gd name="adj" fmla="val 3529"/>
            </a:avLst>
          </a:prstGeom>
          <a:solidFill>
            <a:srgbClr val="26492A"/>
          </a:solidFill>
          <a:ln w="12700">
            <a:solidFill>
              <a:srgbClr val="26492A"/>
            </a:solidFill>
            <a:prstDash val="solid"/>
          </a:ln>
        </p:spPr>
        <p:txBody>
          <a:bodyPr/>
          <a:lstStyle/>
          <a:p>
            <a:endParaRPr lang="fr-FR"/>
          </a:p>
        </p:txBody>
      </p:sp>
      <p:sp>
        <p:nvSpPr>
          <p:cNvPr id="18" name="Shape 16"/>
          <p:cNvSpPr/>
          <p:nvPr/>
        </p:nvSpPr>
        <p:spPr>
          <a:xfrm>
            <a:off x="777240" y="4178808"/>
            <a:ext cx="420624" cy="420624"/>
          </a:xfrm>
          <a:prstGeom prst="ellipse">
            <a:avLst/>
          </a:prstGeom>
          <a:solidFill>
            <a:srgbClr val="97BC62"/>
          </a:solidFill>
          <a:ln w="12700">
            <a:solidFill>
              <a:srgbClr val="97BC62"/>
            </a:solidFill>
            <a:prstDash val="solid"/>
          </a:ln>
        </p:spPr>
        <p:txBody>
          <a:bodyPr/>
          <a:lstStyle/>
          <a:p>
            <a:endParaRPr lang="fr-FR"/>
          </a:p>
        </p:txBody>
      </p:sp>
      <p:sp>
        <p:nvSpPr>
          <p:cNvPr id="19" name="Text 17"/>
          <p:cNvSpPr txBox="1"/>
          <p:nvPr/>
        </p:nvSpPr>
        <p:spPr>
          <a:xfrm>
            <a:off x="777240" y="4178808"/>
            <a:ext cx="420624" cy="420624"/>
          </a:xfrm>
          <a:prstGeom prst="rect">
            <a:avLst/>
          </a:prstGeom>
          <a:noFill/>
          <a:ln/>
        </p:spPr>
        <p:txBody>
          <a:bodyPr wrap="square" lIns="0" tIns="0" rIns="0" bIns="0" rtlCol="0" anchor="ctr"/>
          <a:lstStyle/>
          <a:p>
            <a:pPr marL="0" indent="0" algn="ctr">
              <a:buNone/>
            </a:pPr>
            <a:r>
              <a:rPr lang="en-US" sz="1400" b="1" dirty="0">
                <a:solidFill>
                  <a:srgbClr val="1B3A1C"/>
                </a:solidFill>
                <a:latin typeface="Calibri" pitchFamily="34" charset="0"/>
                <a:ea typeface="Calibri" pitchFamily="34" charset="-122"/>
                <a:cs typeface="Calibri" pitchFamily="34" charset="-120"/>
              </a:rPr>
              <a:t>1</a:t>
            </a:r>
            <a:endParaRPr lang="en-US" sz="1400" dirty="0"/>
          </a:p>
        </p:txBody>
      </p:sp>
      <p:sp>
        <p:nvSpPr>
          <p:cNvPr id="20" name="Text 18"/>
          <p:cNvSpPr txBox="1"/>
          <p:nvPr/>
        </p:nvSpPr>
        <p:spPr>
          <a:xfrm>
            <a:off x="1298448" y="4224528"/>
            <a:ext cx="16916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Réception</a:t>
            </a:r>
            <a:endParaRPr lang="en-US" sz="1400" dirty="0"/>
          </a:p>
        </p:txBody>
      </p:sp>
      <p:sp>
        <p:nvSpPr>
          <p:cNvPr id="21" name="Text 19"/>
          <p:cNvSpPr txBox="1"/>
          <p:nvPr/>
        </p:nvSpPr>
        <p:spPr>
          <a:xfrm>
            <a:off x="777240" y="4709160"/>
            <a:ext cx="2194560" cy="658368"/>
          </a:xfrm>
          <a:prstGeom prst="rect">
            <a:avLst/>
          </a:prstGeom>
          <a:noFill/>
          <a:ln/>
        </p:spPr>
        <p:txBody>
          <a:bodyPr wrap="square" lIns="0" tIns="0" rIns="0" bIns="0" rtlCol="0" anchor="ctr"/>
          <a:lstStyle/>
          <a:p>
            <a:pPr marL="0" indent="0">
              <a:buNone/>
            </a:pPr>
            <a:r>
              <a:rPr lang="en-US" sz="1150" dirty="0">
                <a:solidFill>
                  <a:srgbClr val="A8BFA0"/>
                </a:solidFill>
                <a:latin typeface="Calibri" pitchFamily="34" charset="0"/>
                <a:ea typeface="Calibri" pitchFamily="34" charset="-122"/>
                <a:cs typeface="Calibri" pitchFamily="34" charset="-120"/>
              </a:rPr>
              <a:t>Photo envoyée à l'API</a:t>
            </a:r>
            <a:endParaRPr lang="en-US" sz="1150" dirty="0"/>
          </a:p>
        </p:txBody>
      </p:sp>
      <p:sp>
        <p:nvSpPr>
          <p:cNvPr id="22" name="Shape 20"/>
          <p:cNvSpPr/>
          <p:nvPr/>
        </p:nvSpPr>
        <p:spPr>
          <a:xfrm>
            <a:off x="3371850" y="3977640"/>
            <a:ext cx="2594610" cy="1554480"/>
          </a:xfrm>
          <a:prstGeom prst="roundRect">
            <a:avLst>
              <a:gd name="adj" fmla="val 3529"/>
            </a:avLst>
          </a:prstGeom>
          <a:solidFill>
            <a:srgbClr val="26492A"/>
          </a:solidFill>
          <a:ln w="12700">
            <a:solidFill>
              <a:srgbClr val="26492A"/>
            </a:solidFill>
            <a:prstDash val="solid"/>
          </a:ln>
        </p:spPr>
        <p:txBody>
          <a:bodyPr/>
          <a:lstStyle/>
          <a:p>
            <a:endParaRPr lang="fr-FR"/>
          </a:p>
        </p:txBody>
      </p:sp>
      <p:sp>
        <p:nvSpPr>
          <p:cNvPr id="23" name="Shape 21"/>
          <p:cNvSpPr/>
          <p:nvPr/>
        </p:nvSpPr>
        <p:spPr>
          <a:xfrm>
            <a:off x="3600450" y="4178808"/>
            <a:ext cx="420624" cy="420624"/>
          </a:xfrm>
          <a:prstGeom prst="ellipse">
            <a:avLst/>
          </a:prstGeom>
          <a:solidFill>
            <a:srgbClr val="97BC62"/>
          </a:solidFill>
          <a:ln w="12700">
            <a:solidFill>
              <a:srgbClr val="97BC62"/>
            </a:solidFill>
            <a:prstDash val="solid"/>
          </a:ln>
        </p:spPr>
        <p:txBody>
          <a:bodyPr/>
          <a:lstStyle/>
          <a:p>
            <a:endParaRPr lang="fr-FR"/>
          </a:p>
        </p:txBody>
      </p:sp>
      <p:sp>
        <p:nvSpPr>
          <p:cNvPr id="24" name="Text 22"/>
          <p:cNvSpPr txBox="1"/>
          <p:nvPr/>
        </p:nvSpPr>
        <p:spPr>
          <a:xfrm>
            <a:off x="3600450" y="4178808"/>
            <a:ext cx="420624" cy="420624"/>
          </a:xfrm>
          <a:prstGeom prst="rect">
            <a:avLst/>
          </a:prstGeom>
          <a:noFill/>
          <a:ln/>
        </p:spPr>
        <p:txBody>
          <a:bodyPr wrap="square" lIns="0" tIns="0" rIns="0" bIns="0" rtlCol="0" anchor="ctr"/>
          <a:lstStyle/>
          <a:p>
            <a:pPr marL="0" indent="0" algn="ctr">
              <a:buNone/>
            </a:pPr>
            <a:r>
              <a:rPr lang="en-US" sz="1400" b="1" dirty="0">
                <a:solidFill>
                  <a:srgbClr val="1B3A1C"/>
                </a:solidFill>
                <a:latin typeface="Calibri" pitchFamily="34" charset="0"/>
                <a:ea typeface="Calibri" pitchFamily="34" charset="-122"/>
                <a:cs typeface="Calibri" pitchFamily="34" charset="-120"/>
              </a:rPr>
              <a:t>2</a:t>
            </a:r>
            <a:endParaRPr lang="en-US" sz="1400" dirty="0"/>
          </a:p>
        </p:txBody>
      </p:sp>
      <p:sp>
        <p:nvSpPr>
          <p:cNvPr id="25" name="Text 23"/>
          <p:cNvSpPr txBox="1"/>
          <p:nvPr/>
        </p:nvSpPr>
        <p:spPr>
          <a:xfrm>
            <a:off x="4121658" y="4224528"/>
            <a:ext cx="16916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Prétraitement</a:t>
            </a:r>
            <a:endParaRPr lang="en-US" sz="1400" dirty="0"/>
          </a:p>
        </p:txBody>
      </p:sp>
      <p:sp>
        <p:nvSpPr>
          <p:cNvPr id="26" name="Text 24"/>
          <p:cNvSpPr txBox="1"/>
          <p:nvPr/>
        </p:nvSpPr>
        <p:spPr>
          <a:xfrm>
            <a:off x="3600450" y="4709160"/>
            <a:ext cx="2194560" cy="658368"/>
          </a:xfrm>
          <a:prstGeom prst="rect">
            <a:avLst/>
          </a:prstGeom>
          <a:noFill/>
          <a:ln/>
        </p:spPr>
        <p:txBody>
          <a:bodyPr wrap="square" lIns="0" tIns="0" rIns="0" bIns="0" rtlCol="0" anchor="ctr"/>
          <a:lstStyle/>
          <a:p>
            <a:pPr marL="0" indent="0">
              <a:buNone/>
            </a:pPr>
            <a:r>
              <a:rPr lang="en-US" sz="1150" dirty="0">
                <a:solidFill>
                  <a:srgbClr val="A8BFA0"/>
                </a:solidFill>
                <a:latin typeface="Calibri" pitchFamily="34" charset="0"/>
                <a:ea typeface="Calibri" pitchFamily="34" charset="-122"/>
                <a:cs typeface="Calibri" pitchFamily="34" charset="-120"/>
              </a:rPr>
              <a:t>Redimensionnement 224×224, normalisation</a:t>
            </a:r>
            <a:endParaRPr lang="en-US" sz="1150" dirty="0"/>
          </a:p>
        </p:txBody>
      </p:sp>
      <p:sp>
        <p:nvSpPr>
          <p:cNvPr id="27" name="Shape 25"/>
          <p:cNvSpPr/>
          <p:nvPr/>
        </p:nvSpPr>
        <p:spPr>
          <a:xfrm>
            <a:off x="6195060" y="3977640"/>
            <a:ext cx="2594610" cy="1554480"/>
          </a:xfrm>
          <a:prstGeom prst="roundRect">
            <a:avLst>
              <a:gd name="adj" fmla="val 3529"/>
            </a:avLst>
          </a:prstGeom>
          <a:solidFill>
            <a:srgbClr val="26492A"/>
          </a:solidFill>
          <a:ln w="12700">
            <a:solidFill>
              <a:srgbClr val="26492A"/>
            </a:solidFill>
            <a:prstDash val="solid"/>
          </a:ln>
        </p:spPr>
        <p:txBody>
          <a:bodyPr/>
          <a:lstStyle/>
          <a:p>
            <a:endParaRPr lang="fr-FR"/>
          </a:p>
        </p:txBody>
      </p:sp>
      <p:sp>
        <p:nvSpPr>
          <p:cNvPr id="28" name="Shape 26"/>
          <p:cNvSpPr/>
          <p:nvPr/>
        </p:nvSpPr>
        <p:spPr>
          <a:xfrm>
            <a:off x="6423660" y="4178808"/>
            <a:ext cx="420624" cy="420624"/>
          </a:xfrm>
          <a:prstGeom prst="ellipse">
            <a:avLst/>
          </a:prstGeom>
          <a:solidFill>
            <a:srgbClr val="97BC62"/>
          </a:solidFill>
          <a:ln w="12700">
            <a:solidFill>
              <a:srgbClr val="97BC62"/>
            </a:solidFill>
            <a:prstDash val="solid"/>
          </a:ln>
        </p:spPr>
        <p:txBody>
          <a:bodyPr/>
          <a:lstStyle/>
          <a:p>
            <a:endParaRPr lang="fr-FR"/>
          </a:p>
        </p:txBody>
      </p:sp>
      <p:sp>
        <p:nvSpPr>
          <p:cNvPr id="29" name="Text 27"/>
          <p:cNvSpPr txBox="1"/>
          <p:nvPr/>
        </p:nvSpPr>
        <p:spPr>
          <a:xfrm>
            <a:off x="6423660" y="4178808"/>
            <a:ext cx="420624" cy="420624"/>
          </a:xfrm>
          <a:prstGeom prst="rect">
            <a:avLst/>
          </a:prstGeom>
          <a:noFill/>
          <a:ln/>
        </p:spPr>
        <p:txBody>
          <a:bodyPr wrap="square" lIns="0" tIns="0" rIns="0" bIns="0" rtlCol="0" anchor="ctr"/>
          <a:lstStyle/>
          <a:p>
            <a:pPr marL="0" indent="0" algn="ctr">
              <a:buNone/>
            </a:pPr>
            <a:r>
              <a:rPr lang="en-US" sz="1400" b="1" dirty="0">
                <a:solidFill>
                  <a:srgbClr val="1B3A1C"/>
                </a:solidFill>
                <a:latin typeface="Calibri" pitchFamily="34" charset="0"/>
                <a:ea typeface="Calibri" pitchFamily="34" charset="-122"/>
                <a:cs typeface="Calibri" pitchFamily="34" charset="-120"/>
              </a:rPr>
              <a:t>3</a:t>
            </a:r>
            <a:endParaRPr lang="en-US" sz="1400" dirty="0"/>
          </a:p>
        </p:txBody>
      </p:sp>
      <p:sp>
        <p:nvSpPr>
          <p:cNvPr id="30" name="Text 28"/>
          <p:cNvSpPr txBox="1"/>
          <p:nvPr/>
        </p:nvSpPr>
        <p:spPr>
          <a:xfrm>
            <a:off x="6944868" y="4224528"/>
            <a:ext cx="16916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Inférence</a:t>
            </a:r>
            <a:endParaRPr lang="en-US" sz="1400" dirty="0"/>
          </a:p>
        </p:txBody>
      </p:sp>
      <p:sp>
        <p:nvSpPr>
          <p:cNvPr id="31" name="Text 29"/>
          <p:cNvSpPr txBox="1"/>
          <p:nvPr/>
        </p:nvSpPr>
        <p:spPr>
          <a:xfrm>
            <a:off x="6423660" y="4709160"/>
            <a:ext cx="2194560" cy="658368"/>
          </a:xfrm>
          <a:prstGeom prst="rect">
            <a:avLst/>
          </a:prstGeom>
          <a:noFill/>
          <a:ln/>
        </p:spPr>
        <p:txBody>
          <a:bodyPr wrap="square" lIns="0" tIns="0" rIns="0" bIns="0" rtlCol="0" anchor="ctr"/>
          <a:lstStyle/>
          <a:p>
            <a:pPr marL="0" indent="0">
              <a:buNone/>
            </a:pPr>
            <a:r>
              <a:rPr lang="en-US" sz="1150" dirty="0">
                <a:solidFill>
                  <a:srgbClr val="A8BFA0"/>
                </a:solidFill>
                <a:latin typeface="Calibri" pitchFamily="34" charset="0"/>
                <a:ea typeface="Calibri" pitchFamily="34" charset="-122"/>
                <a:cs typeface="Calibri" pitchFamily="34" charset="-120"/>
              </a:rPr>
              <a:t>MobileNetV2 + tête entraînée (TFLite)</a:t>
            </a:r>
            <a:endParaRPr lang="en-US" sz="1150" dirty="0"/>
          </a:p>
        </p:txBody>
      </p:sp>
      <p:sp>
        <p:nvSpPr>
          <p:cNvPr id="32" name="Shape 30"/>
          <p:cNvSpPr/>
          <p:nvPr/>
        </p:nvSpPr>
        <p:spPr>
          <a:xfrm>
            <a:off x="9018270" y="3977640"/>
            <a:ext cx="2594610" cy="1554480"/>
          </a:xfrm>
          <a:prstGeom prst="roundRect">
            <a:avLst>
              <a:gd name="adj" fmla="val 3529"/>
            </a:avLst>
          </a:prstGeom>
          <a:solidFill>
            <a:srgbClr val="26492A"/>
          </a:solidFill>
          <a:ln w="12700">
            <a:solidFill>
              <a:srgbClr val="26492A"/>
            </a:solidFill>
            <a:prstDash val="solid"/>
          </a:ln>
        </p:spPr>
        <p:txBody>
          <a:bodyPr/>
          <a:lstStyle/>
          <a:p>
            <a:endParaRPr lang="fr-FR"/>
          </a:p>
        </p:txBody>
      </p:sp>
      <p:sp>
        <p:nvSpPr>
          <p:cNvPr id="33" name="Shape 31"/>
          <p:cNvSpPr/>
          <p:nvPr/>
        </p:nvSpPr>
        <p:spPr>
          <a:xfrm>
            <a:off x="9246870" y="4178808"/>
            <a:ext cx="420624" cy="420624"/>
          </a:xfrm>
          <a:prstGeom prst="ellipse">
            <a:avLst/>
          </a:prstGeom>
          <a:solidFill>
            <a:srgbClr val="97BC62"/>
          </a:solidFill>
          <a:ln w="12700">
            <a:solidFill>
              <a:srgbClr val="97BC62"/>
            </a:solidFill>
            <a:prstDash val="solid"/>
          </a:ln>
        </p:spPr>
        <p:txBody>
          <a:bodyPr/>
          <a:lstStyle/>
          <a:p>
            <a:endParaRPr lang="fr-FR"/>
          </a:p>
        </p:txBody>
      </p:sp>
      <p:sp>
        <p:nvSpPr>
          <p:cNvPr id="34" name="Text 32"/>
          <p:cNvSpPr txBox="1"/>
          <p:nvPr/>
        </p:nvSpPr>
        <p:spPr>
          <a:xfrm>
            <a:off x="9246870" y="4178808"/>
            <a:ext cx="420624" cy="420624"/>
          </a:xfrm>
          <a:prstGeom prst="rect">
            <a:avLst/>
          </a:prstGeom>
          <a:noFill/>
          <a:ln/>
        </p:spPr>
        <p:txBody>
          <a:bodyPr wrap="square" lIns="0" tIns="0" rIns="0" bIns="0" rtlCol="0" anchor="ctr"/>
          <a:lstStyle/>
          <a:p>
            <a:pPr marL="0" indent="0" algn="ctr">
              <a:buNone/>
            </a:pPr>
            <a:r>
              <a:rPr lang="en-US" sz="1400" b="1" dirty="0">
                <a:solidFill>
                  <a:srgbClr val="1B3A1C"/>
                </a:solidFill>
                <a:latin typeface="Calibri" pitchFamily="34" charset="0"/>
                <a:ea typeface="Calibri" pitchFamily="34" charset="-122"/>
                <a:cs typeface="Calibri" pitchFamily="34" charset="-120"/>
              </a:rPr>
              <a:t>4</a:t>
            </a:r>
            <a:endParaRPr lang="en-US" sz="1400" dirty="0"/>
          </a:p>
        </p:txBody>
      </p:sp>
      <p:sp>
        <p:nvSpPr>
          <p:cNvPr id="35" name="Text 33"/>
          <p:cNvSpPr txBox="1"/>
          <p:nvPr/>
        </p:nvSpPr>
        <p:spPr>
          <a:xfrm>
            <a:off x="9768078" y="4224528"/>
            <a:ext cx="16916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Résultat</a:t>
            </a:r>
            <a:endParaRPr lang="en-US" sz="1400" dirty="0"/>
          </a:p>
        </p:txBody>
      </p:sp>
      <p:sp>
        <p:nvSpPr>
          <p:cNvPr id="36" name="Text 34"/>
          <p:cNvSpPr txBox="1"/>
          <p:nvPr/>
        </p:nvSpPr>
        <p:spPr>
          <a:xfrm>
            <a:off x="9246870" y="4709160"/>
            <a:ext cx="2194560" cy="658368"/>
          </a:xfrm>
          <a:prstGeom prst="rect">
            <a:avLst/>
          </a:prstGeom>
          <a:noFill/>
          <a:ln/>
        </p:spPr>
        <p:txBody>
          <a:bodyPr wrap="square" lIns="0" tIns="0" rIns="0" bIns="0" rtlCol="0" anchor="ctr"/>
          <a:lstStyle/>
          <a:p>
            <a:pPr marL="0" indent="0">
              <a:buNone/>
            </a:pPr>
            <a:r>
              <a:rPr lang="en-US" sz="1150" dirty="0">
                <a:solidFill>
                  <a:srgbClr val="A8BFA0"/>
                </a:solidFill>
                <a:latin typeface="Calibri" pitchFamily="34" charset="0"/>
                <a:ea typeface="Calibri" pitchFamily="34" charset="-122"/>
                <a:cs typeface="Calibri" pitchFamily="34" charset="-120"/>
              </a:rPr>
              <a:t>Classe la plus probable et indice de confiance</a:t>
            </a:r>
            <a:endParaRPr lang="en-US" sz="1150" dirty="0"/>
          </a:p>
        </p:txBody>
      </p:sp>
      <p:sp>
        <p:nvSpPr>
          <p:cNvPr id="37" name="Text 35"/>
          <p:cNvSpPr txBox="1"/>
          <p:nvPr/>
        </p:nvSpPr>
        <p:spPr>
          <a:xfrm>
            <a:off x="548640" y="5806440"/>
            <a:ext cx="11064240" cy="320040"/>
          </a:xfrm>
          <a:prstGeom prst="rect">
            <a:avLst/>
          </a:prstGeom>
          <a:noFill/>
          <a:ln/>
        </p:spPr>
        <p:txBody>
          <a:bodyPr wrap="square" lIns="0" tIns="0" rIns="0" bIns="0" rtlCol="0" anchor="ctr"/>
          <a:lstStyle/>
          <a:p>
            <a:pPr marL="0" indent="0">
              <a:buNone/>
            </a:pPr>
            <a:r>
              <a:rPr lang="en-US" sz="1350" dirty="0">
                <a:solidFill>
                  <a:srgbClr val="97BC62"/>
                </a:solidFill>
                <a:latin typeface="Calibri" pitchFamily="34" charset="0"/>
                <a:ea typeface="Calibri" pitchFamily="34" charset="-122"/>
                <a:cs typeface="Calibri" pitchFamily="34" charset="-120"/>
              </a:rPr>
              <a:t>Transfer learning  ·  MobileNetV2 (ImageNet)  ·  Entraîné sur </a:t>
            </a:r>
            <a:r>
              <a:rPr lang="en-US" sz="1350" dirty="0" err="1">
                <a:solidFill>
                  <a:srgbClr val="97BC62"/>
                </a:solidFill>
                <a:latin typeface="Calibri" pitchFamily="34" charset="0"/>
                <a:ea typeface="Calibri" pitchFamily="34" charset="-122"/>
                <a:cs typeface="Calibri" pitchFamily="34" charset="-120"/>
              </a:rPr>
              <a:t>PlantVillage</a:t>
            </a:r>
            <a:r>
              <a:rPr lang="en-US" sz="1350" dirty="0">
                <a:solidFill>
                  <a:srgbClr val="97BC62"/>
                </a:solidFill>
                <a:latin typeface="Calibri" pitchFamily="34" charset="0"/>
                <a:ea typeface="Calibri" pitchFamily="34" charset="-122"/>
                <a:cs typeface="Calibri" pitchFamily="34" charset="-120"/>
              </a:rPr>
              <a:t> </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4A7A3A"/>
                </a:solidFill>
                <a:latin typeface="Calibri" pitchFamily="34" charset="0"/>
                <a:ea typeface="Calibri" pitchFamily="34" charset="-122"/>
                <a:cs typeface="Calibri" pitchFamily="34" charset="-120"/>
              </a:rPr>
              <a:t>SÉCURITÉ</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err="1">
                <a:solidFill>
                  <a:srgbClr val="2C5F2D"/>
                </a:solidFill>
                <a:latin typeface="Cambria" pitchFamily="34" charset="0"/>
                <a:ea typeface="Cambria" pitchFamily="34" charset="-122"/>
                <a:cs typeface="Cambria" pitchFamily="34" charset="-120"/>
              </a:rPr>
              <a:t>Securité</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5" name="Shape 3"/>
          <p:cNvSpPr/>
          <p:nvPr/>
        </p:nvSpPr>
        <p:spPr>
          <a:xfrm>
            <a:off x="822960" y="1892808"/>
            <a:ext cx="274320" cy="274320"/>
          </a:xfrm>
          <a:prstGeom prst="ellipse">
            <a:avLst/>
          </a:prstGeom>
          <a:solidFill>
            <a:srgbClr val="2C5F2D"/>
          </a:solidFill>
          <a:ln w="12700">
            <a:solidFill>
              <a:srgbClr val="2C5F2D"/>
            </a:solidFill>
            <a:prstDash val="solid"/>
          </a:ln>
        </p:spPr>
        <p:txBody>
          <a:bodyPr/>
          <a:lstStyle/>
          <a:p>
            <a:endParaRPr lang="fr-FR"/>
          </a:p>
        </p:txBody>
      </p:sp>
      <p:sp>
        <p:nvSpPr>
          <p:cNvPr id="6" name="Text 4"/>
          <p:cNvSpPr txBox="1"/>
          <p:nvPr/>
        </p:nvSpPr>
        <p:spPr>
          <a:xfrm>
            <a:off x="822960" y="231343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Jetons JWT</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Chaque utilisateur reçoit un jeton signé valable trente jours, sans session côté serveur.</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9" name="Shape 7"/>
          <p:cNvSpPr/>
          <p:nvPr/>
        </p:nvSpPr>
        <p:spPr>
          <a:xfrm>
            <a:off x="4599432" y="1892808"/>
            <a:ext cx="274320" cy="274320"/>
          </a:xfrm>
          <a:prstGeom prst="ellipse">
            <a:avLst/>
          </a:prstGeom>
          <a:solidFill>
            <a:srgbClr val="2C5F2D"/>
          </a:solidFill>
          <a:ln w="12700">
            <a:solidFill>
              <a:srgbClr val="2C5F2D"/>
            </a:solidFill>
            <a:prstDash val="solid"/>
          </a:ln>
        </p:spPr>
        <p:txBody>
          <a:bodyPr/>
          <a:lstStyle/>
          <a:p>
            <a:endParaRPr lang="fr-FR"/>
          </a:p>
        </p:txBody>
      </p:sp>
      <p:sp>
        <p:nvSpPr>
          <p:cNvPr id="10" name="Text 8"/>
          <p:cNvSpPr txBox="1"/>
          <p:nvPr/>
        </p:nvSpPr>
        <p:spPr>
          <a:xfrm>
            <a:off x="4599432" y="231343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Hachage Bcrypt</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Les mots de passe sont hachés avec sel et restent irrécupérables même en cas de fuite.</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13" name="Shape 11"/>
          <p:cNvSpPr/>
          <p:nvPr/>
        </p:nvSpPr>
        <p:spPr>
          <a:xfrm>
            <a:off x="8375904" y="1892808"/>
            <a:ext cx="274320" cy="274320"/>
          </a:xfrm>
          <a:prstGeom prst="ellipse">
            <a:avLst/>
          </a:prstGeom>
          <a:solidFill>
            <a:srgbClr val="2C5F2D"/>
          </a:solidFill>
          <a:ln w="12700">
            <a:solidFill>
              <a:srgbClr val="2C5F2D"/>
            </a:solidFill>
            <a:prstDash val="solid"/>
          </a:ln>
        </p:spPr>
        <p:txBody>
          <a:bodyPr/>
          <a:lstStyle/>
          <a:p>
            <a:endParaRPr lang="fr-FR"/>
          </a:p>
        </p:txBody>
      </p:sp>
      <p:sp>
        <p:nvSpPr>
          <p:cNvPr id="14" name="Text 12"/>
          <p:cNvSpPr txBox="1"/>
          <p:nvPr/>
        </p:nvSpPr>
        <p:spPr>
          <a:xfrm>
            <a:off x="8375904" y="231343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Validation Pydantic</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Toute donnée entrante est typée et contrôlée avant d'atteindre la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17" name="Shape 15"/>
          <p:cNvSpPr/>
          <p:nvPr/>
        </p:nvSpPr>
        <p:spPr>
          <a:xfrm>
            <a:off x="822960" y="4224528"/>
            <a:ext cx="274320" cy="274320"/>
          </a:xfrm>
          <a:prstGeom prst="ellipse">
            <a:avLst/>
          </a:prstGeom>
          <a:solidFill>
            <a:srgbClr val="2C5F2D"/>
          </a:solidFill>
          <a:ln w="12700">
            <a:solidFill>
              <a:srgbClr val="2C5F2D"/>
            </a:solidFill>
            <a:prstDash val="solid"/>
          </a:ln>
        </p:spPr>
        <p:txBody>
          <a:bodyPr/>
          <a:lstStyle/>
          <a:p>
            <a:endParaRPr lang="fr-FR"/>
          </a:p>
        </p:txBody>
      </p:sp>
      <p:sp>
        <p:nvSpPr>
          <p:cNvPr id="18" name="Text 16"/>
          <p:cNvSpPr txBox="1"/>
          <p:nvPr/>
        </p:nvSpPr>
        <p:spPr>
          <a:xfrm>
            <a:off x="822960" y="464515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CORS configuré</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Les requêtes provenant d'autres origines sont explicitement contrôlées.</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21" name="Shape 19"/>
          <p:cNvSpPr/>
          <p:nvPr/>
        </p:nvSpPr>
        <p:spPr>
          <a:xfrm>
            <a:off x="4599432" y="4224528"/>
            <a:ext cx="274320" cy="274320"/>
          </a:xfrm>
          <a:prstGeom prst="ellipse">
            <a:avLst/>
          </a:prstGeom>
          <a:solidFill>
            <a:srgbClr val="2C5F2D"/>
          </a:solidFill>
          <a:ln w="12700">
            <a:solidFill>
              <a:srgbClr val="2C5F2D"/>
            </a:solidFill>
            <a:prstDash val="solid"/>
          </a:ln>
        </p:spPr>
        <p:txBody>
          <a:bodyPr/>
          <a:lstStyle/>
          <a:p>
            <a:endParaRPr lang="fr-FR"/>
          </a:p>
        </p:txBody>
      </p:sp>
      <p:sp>
        <p:nvSpPr>
          <p:cNvPr id="22" name="Text 20"/>
          <p:cNvSpPr txBox="1"/>
          <p:nvPr/>
        </p:nvSpPr>
        <p:spPr>
          <a:xfrm>
            <a:off x="4599432" y="464515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HTTPS prêt</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Le passage en TLS via Let's Encrypt ne demande aucune modification du code.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txBody>
          <a:bodyPr/>
          <a:lstStyle/>
          <a:p>
            <a:endParaRPr lang="fr-FR"/>
          </a:p>
        </p:txBody>
      </p:sp>
      <p:sp>
        <p:nvSpPr>
          <p:cNvPr id="25" name="Shape 23"/>
          <p:cNvSpPr/>
          <p:nvPr/>
        </p:nvSpPr>
        <p:spPr>
          <a:xfrm>
            <a:off x="8375904" y="4224528"/>
            <a:ext cx="274320" cy="274320"/>
          </a:xfrm>
          <a:prstGeom prst="ellipse">
            <a:avLst/>
          </a:prstGeom>
          <a:solidFill>
            <a:srgbClr val="2C5F2D"/>
          </a:solidFill>
          <a:ln w="12700">
            <a:solidFill>
              <a:srgbClr val="2C5F2D"/>
            </a:solidFill>
            <a:prstDash val="solid"/>
          </a:ln>
        </p:spPr>
        <p:txBody>
          <a:bodyPr/>
          <a:lstStyle/>
          <a:p>
            <a:endParaRPr lang="fr-FR"/>
          </a:p>
        </p:txBody>
      </p:sp>
      <p:sp>
        <p:nvSpPr>
          <p:cNvPr id="26" name="Text 24"/>
          <p:cNvSpPr txBox="1"/>
          <p:nvPr/>
        </p:nvSpPr>
        <p:spPr>
          <a:xfrm>
            <a:off x="8375904" y="4645152"/>
            <a:ext cx="2971800" cy="320040"/>
          </a:xfrm>
          <a:prstGeom prst="rect">
            <a:avLst/>
          </a:prstGeom>
          <a:noFill/>
          <a:ln/>
        </p:spPr>
        <p:txBody>
          <a:bodyPr wrap="square" lIns="0" tIns="0" rIns="0" bIns="0" rtlCol="0" anchor="ctr"/>
          <a:lstStyle/>
          <a:p>
            <a:pPr marL="0" indent="0">
              <a:buNone/>
            </a:pPr>
            <a:r>
              <a:rPr lang="en-US" sz="1600" b="1" dirty="0">
                <a:solidFill>
                  <a:srgbClr val="2C5F2D"/>
                </a:solidFill>
                <a:latin typeface="Calibri" pitchFamily="34" charset="0"/>
                <a:ea typeface="Calibri" pitchFamily="34" charset="-122"/>
                <a:cs typeface="Calibri" pitchFamily="34" charset="-120"/>
              </a:rPr>
              <a:t>Isolation des données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marL="0" indent="0">
              <a:buNone/>
            </a:pPr>
            <a:r>
              <a:rPr lang="en-US" sz="1250" dirty="0">
                <a:solidFill>
                  <a:srgbClr val="5F6B5F"/>
                </a:solidFill>
                <a:latin typeface="Calibri" pitchFamily="34" charset="0"/>
                <a:ea typeface="Calibri" pitchFamily="34" charset="-122"/>
                <a:cs typeface="Calibri" pitchFamily="34" charset="-120"/>
              </a:rPr>
              <a:t>Chaque compte n'accède qu'à ses propres parcelles et diagnostics.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4A7A3A"/>
                </a:solidFill>
                <a:latin typeface="Calibri" pitchFamily="34" charset="0"/>
                <a:ea typeface="Calibri" pitchFamily="34" charset="-122"/>
                <a:cs typeface="Calibri" pitchFamily="34" charset="-120"/>
              </a:rPr>
              <a:t>DÉPLOIEMENT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err="1">
                <a:solidFill>
                  <a:srgbClr val="2C5F2D"/>
                </a:solidFill>
                <a:latin typeface="Cambria" pitchFamily="34" charset="0"/>
                <a:ea typeface="Cambria" pitchFamily="34" charset="-122"/>
                <a:cs typeface="Cambria" pitchFamily="34" charset="-120"/>
              </a:rPr>
              <a:t>Deploiement</a:t>
            </a:r>
            <a:endParaRPr lang="en-US" sz="3400" dirty="0"/>
          </a:p>
        </p:txBody>
      </p:sp>
      <p:sp>
        <p:nvSpPr>
          <p:cNvPr id="4" name="Shape 2"/>
          <p:cNvSpPr/>
          <p:nvPr/>
        </p:nvSpPr>
        <p:spPr>
          <a:xfrm>
            <a:off x="548640" y="1600200"/>
            <a:ext cx="5349240" cy="4206240"/>
          </a:xfrm>
          <a:prstGeom prst="roundRect">
            <a:avLst>
              <a:gd name="adj" fmla="val 1304"/>
            </a:avLst>
          </a:prstGeom>
          <a:solidFill>
            <a:srgbClr val="EEF3EA"/>
          </a:solidFill>
          <a:ln w="12700">
            <a:solidFill>
              <a:srgbClr val="EEF3EA"/>
            </a:solidFill>
            <a:prstDash val="solid"/>
          </a:ln>
        </p:spPr>
        <p:txBody>
          <a:bodyPr/>
          <a:lstStyle/>
          <a:p>
            <a:endParaRPr lang="fr-FR"/>
          </a:p>
        </p:txBody>
      </p:sp>
      <p:sp>
        <p:nvSpPr>
          <p:cNvPr id="5" name="Text 3"/>
          <p:cNvSpPr txBox="1"/>
          <p:nvPr/>
        </p:nvSpPr>
        <p:spPr>
          <a:xfrm>
            <a:off x="822960" y="1828800"/>
            <a:ext cx="4800600" cy="274320"/>
          </a:xfrm>
          <a:prstGeom prst="rect">
            <a:avLst/>
          </a:prstGeom>
          <a:noFill/>
          <a:ln/>
        </p:spPr>
        <p:txBody>
          <a:bodyPr wrap="square" lIns="0" tIns="0" rIns="0" bIns="0" rtlCol="0" anchor="ctr"/>
          <a:lstStyle/>
          <a:p>
            <a:pPr marL="0" indent="0">
              <a:buNone/>
            </a:pPr>
            <a:r>
              <a:rPr lang="en-US" sz="1200" b="1" kern="0" spc="150" dirty="0">
                <a:solidFill>
                  <a:srgbClr val="4A7A3A"/>
                </a:solidFill>
                <a:latin typeface="Calibri" pitchFamily="34" charset="0"/>
                <a:ea typeface="Calibri" pitchFamily="34" charset="-122"/>
                <a:cs typeface="Calibri" pitchFamily="34" charset="-120"/>
              </a:rPr>
              <a:t>Instance</a:t>
            </a:r>
            <a:endParaRPr lang="en-US" sz="1200" dirty="0"/>
          </a:p>
        </p:txBody>
      </p:sp>
      <p:sp>
        <p:nvSpPr>
          <p:cNvPr id="6" name="Text 4"/>
          <p:cNvSpPr txBox="1"/>
          <p:nvPr/>
        </p:nvSpPr>
        <p:spPr>
          <a:xfrm>
            <a:off x="822960" y="2240280"/>
            <a:ext cx="2103120" cy="274320"/>
          </a:xfrm>
          <a:prstGeom prst="rect">
            <a:avLst/>
          </a:prstGeom>
          <a:noFill/>
          <a:ln/>
        </p:spPr>
        <p:txBody>
          <a:bodyPr wrap="square" lIns="0" tIns="0" rIns="0" bIns="0" rtlCol="0" anchor="ctr"/>
          <a:lstStyle/>
          <a:p>
            <a:pPr marL="0" indent="0">
              <a:buNone/>
            </a:pPr>
            <a:r>
              <a:rPr lang="en-US" sz="1300" dirty="0">
                <a:solidFill>
                  <a:srgbClr val="5F6B5F"/>
                </a:solidFill>
                <a:latin typeface="Calibri" pitchFamily="34" charset="0"/>
                <a:ea typeface="Calibri" pitchFamily="34" charset="-122"/>
                <a:cs typeface="Calibri" pitchFamily="34" charset="-120"/>
              </a:rPr>
              <a:t>Type</a:t>
            </a:r>
            <a:endParaRPr lang="en-US" sz="1300" dirty="0"/>
          </a:p>
        </p:txBody>
      </p:sp>
      <p:sp>
        <p:nvSpPr>
          <p:cNvPr id="7" name="Text 5"/>
          <p:cNvSpPr txBox="1"/>
          <p:nvPr/>
        </p:nvSpPr>
        <p:spPr>
          <a:xfrm>
            <a:off x="3017520" y="2240280"/>
            <a:ext cx="2606040" cy="274320"/>
          </a:xfrm>
          <a:prstGeom prst="rect">
            <a:avLst/>
          </a:prstGeom>
          <a:noFill/>
          <a:ln/>
        </p:spPr>
        <p:txBody>
          <a:bodyPr wrap="square" lIns="0" tIns="0" rIns="0" bIns="0" rtlCol="0" anchor="ctr"/>
          <a:lstStyle/>
          <a:p>
            <a:pPr marL="0" indent="0">
              <a:buNone/>
            </a:pPr>
            <a:r>
              <a:rPr lang="en-US" sz="1400" b="1" dirty="0">
                <a:solidFill>
                  <a:srgbClr val="2B2B2B"/>
                </a:solidFill>
                <a:latin typeface="Calibri" pitchFamily="34" charset="0"/>
                <a:ea typeface="Calibri" pitchFamily="34" charset="-122"/>
                <a:cs typeface="Calibri" pitchFamily="34" charset="-120"/>
              </a:rPr>
              <a:t>EC2 t2.micro</a:t>
            </a:r>
            <a:endParaRPr lang="en-US" sz="1400" dirty="0"/>
          </a:p>
        </p:txBody>
      </p:sp>
      <p:sp>
        <p:nvSpPr>
          <p:cNvPr id="8" name="Text 6"/>
          <p:cNvSpPr txBox="1"/>
          <p:nvPr/>
        </p:nvSpPr>
        <p:spPr>
          <a:xfrm>
            <a:off x="822960" y="2898648"/>
            <a:ext cx="2103120" cy="274320"/>
          </a:xfrm>
          <a:prstGeom prst="rect">
            <a:avLst/>
          </a:prstGeom>
          <a:noFill/>
          <a:ln/>
        </p:spPr>
        <p:txBody>
          <a:bodyPr wrap="square" lIns="0" tIns="0" rIns="0" bIns="0" rtlCol="0" anchor="ctr"/>
          <a:lstStyle/>
          <a:p>
            <a:pPr marL="0" indent="0">
              <a:buNone/>
            </a:pPr>
            <a:r>
              <a:rPr lang="en-US" sz="1300" dirty="0">
                <a:solidFill>
                  <a:srgbClr val="5F6B5F"/>
                </a:solidFill>
                <a:latin typeface="Calibri" pitchFamily="34" charset="0"/>
                <a:ea typeface="Calibri" pitchFamily="34" charset="-122"/>
                <a:cs typeface="Calibri" pitchFamily="34" charset="-120"/>
              </a:rPr>
              <a:t>Système</a:t>
            </a:r>
            <a:endParaRPr lang="en-US" sz="1300" dirty="0"/>
          </a:p>
        </p:txBody>
      </p:sp>
      <p:sp>
        <p:nvSpPr>
          <p:cNvPr id="9" name="Text 7"/>
          <p:cNvSpPr txBox="1"/>
          <p:nvPr/>
        </p:nvSpPr>
        <p:spPr>
          <a:xfrm>
            <a:off x="3017520" y="2898648"/>
            <a:ext cx="2606040" cy="274320"/>
          </a:xfrm>
          <a:prstGeom prst="rect">
            <a:avLst/>
          </a:prstGeom>
          <a:noFill/>
          <a:ln/>
        </p:spPr>
        <p:txBody>
          <a:bodyPr wrap="square" lIns="0" tIns="0" rIns="0" bIns="0" rtlCol="0" anchor="ctr"/>
          <a:lstStyle/>
          <a:p>
            <a:pPr marL="0" indent="0">
              <a:buNone/>
            </a:pPr>
            <a:r>
              <a:rPr lang="en-US" sz="1400" b="1" dirty="0">
                <a:solidFill>
                  <a:srgbClr val="2B2B2B"/>
                </a:solidFill>
                <a:latin typeface="Calibri" pitchFamily="34" charset="0"/>
                <a:ea typeface="Calibri" pitchFamily="34" charset="-122"/>
                <a:cs typeface="Calibri" pitchFamily="34" charset="-120"/>
              </a:rPr>
              <a:t>Ubuntu Server LTS</a:t>
            </a:r>
            <a:endParaRPr lang="en-US" sz="1400" dirty="0"/>
          </a:p>
        </p:txBody>
      </p:sp>
      <p:sp>
        <p:nvSpPr>
          <p:cNvPr id="10" name="Text 8"/>
          <p:cNvSpPr txBox="1"/>
          <p:nvPr/>
        </p:nvSpPr>
        <p:spPr>
          <a:xfrm>
            <a:off x="822960" y="3557016"/>
            <a:ext cx="2103120" cy="274320"/>
          </a:xfrm>
          <a:prstGeom prst="rect">
            <a:avLst/>
          </a:prstGeom>
          <a:noFill/>
          <a:ln/>
        </p:spPr>
        <p:txBody>
          <a:bodyPr wrap="square" lIns="0" tIns="0" rIns="0" bIns="0" rtlCol="0" anchor="ctr"/>
          <a:lstStyle/>
          <a:p>
            <a:pPr marL="0" indent="0">
              <a:buNone/>
            </a:pPr>
            <a:r>
              <a:rPr lang="en-US" sz="1300" dirty="0">
                <a:solidFill>
                  <a:srgbClr val="5F6B5F"/>
                </a:solidFill>
                <a:latin typeface="Calibri" pitchFamily="34" charset="0"/>
                <a:ea typeface="Calibri" pitchFamily="34" charset="-122"/>
                <a:cs typeface="Calibri" pitchFamily="34" charset="-120"/>
              </a:rPr>
              <a:t>Adresse publique</a:t>
            </a:r>
            <a:endParaRPr lang="en-US" sz="1300" dirty="0"/>
          </a:p>
        </p:txBody>
      </p:sp>
      <p:sp>
        <p:nvSpPr>
          <p:cNvPr id="11" name="Text 9"/>
          <p:cNvSpPr txBox="1"/>
          <p:nvPr/>
        </p:nvSpPr>
        <p:spPr>
          <a:xfrm>
            <a:off x="3017520" y="3557016"/>
            <a:ext cx="2606040" cy="274320"/>
          </a:xfrm>
          <a:prstGeom prst="rect">
            <a:avLst/>
          </a:prstGeom>
          <a:noFill/>
          <a:ln/>
        </p:spPr>
        <p:txBody>
          <a:bodyPr wrap="square" lIns="0" tIns="0" rIns="0" bIns="0" rtlCol="0" anchor="ctr"/>
          <a:lstStyle/>
          <a:p>
            <a:pPr marL="0" indent="0">
              <a:buNone/>
            </a:pPr>
            <a:r>
              <a:rPr lang="en-US" sz="1400" b="1" dirty="0">
                <a:solidFill>
                  <a:srgbClr val="2B2B2B"/>
                </a:solidFill>
                <a:latin typeface="Calibri" pitchFamily="34" charset="0"/>
                <a:ea typeface="Calibri" pitchFamily="34" charset="-122"/>
                <a:cs typeface="Calibri" pitchFamily="34" charset="-120"/>
              </a:rPr>
              <a:t>13.51.48.254</a:t>
            </a:r>
            <a:endParaRPr lang="en-US" sz="1400" dirty="0"/>
          </a:p>
        </p:txBody>
      </p:sp>
      <p:sp>
        <p:nvSpPr>
          <p:cNvPr id="12" name="Text 10"/>
          <p:cNvSpPr txBox="1"/>
          <p:nvPr/>
        </p:nvSpPr>
        <p:spPr>
          <a:xfrm>
            <a:off x="822960" y="4215384"/>
            <a:ext cx="2103120" cy="274320"/>
          </a:xfrm>
          <a:prstGeom prst="rect">
            <a:avLst/>
          </a:prstGeom>
          <a:noFill/>
          <a:ln/>
        </p:spPr>
        <p:txBody>
          <a:bodyPr wrap="square" lIns="0" tIns="0" rIns="0" bIns="0" rtlCol="0" anchor="ctr"/>
          <a:lstStyle/>
          <a:p>
            <a:pPr marL="0" indent="0">
              <a:buNone/>
            </a:pPr>
            <a:r>
              <a:rPr lang="en-US" sz="1300" dirty="0">
                <a:solidFill>
                  <a:srgbClr val="5F6B5F"/>
                </a:solidFill>
                <a:latin typeface="Calibri" pitchFamily="34" charset="0"/>
                <a:ea typeface="Calibri" pitchFamily="34" charset="-122"/>
                <a:cs typeface="Calibri" pitchFamily="34" charset="-120"/>
              </a:rPr>
              <a:t>Disponibilité</a:t>
            </a:r>
            <a:endParaRPr lang="en-US" sz="1300" dirty="0"/>
          </a:p>
        </p:txBody>
      </p:sp>
      <p:sp>
        <p:nvSpPr>
          <p:cNvPr id="13" name="Text 11"/>
          <p:cNvSpPr txBox="1"/>
          <p:nvPr/>
        </p:nvSpPr>
        <p:spPr>
          <a:xfrm>
            <a:off x="3017520" y="4215384"/>
            <a:ext cx="2606040" cy="274320"/>
          </a:xfrm>
          <a:prstGeom prst="rect">
            <a:avLst/>
          </a:prstGeom>
          <a:noFill/>
          <a:ln/>
        </p:spPr>
        <p:txBody>
          <a:bodyPr wrap="square" lIns="0" tIns="0" rIns="0" bIns="0" rtlCol="0" anchor="ctr"/>
          <a:lstStyle/>
          <a:p>
            <a:pPr marL="0" indent="0">
              <a:buNone/>
            </a:pPr>
            <a:r>
              <a:rPr lang="en-US" sz="1400" b="1" dirty="0">
                <a:solidFill>
                  <a:srgbClr val="2B2B2B"/>
                </a:solidFill>
                <a:latin typeface="Calibri" pitchFamily="34" charset="0"/>
                <a:ea typeface="Calibri" pitchFamily="34" charset="-122"/>
                <a:cs typeface="Calibri" pitchFamily="34" charset="-120"/>
              </a:rPr>
              <a:t>24 h / 24, 7 j / 7</a:t>
            </a:r>
            <a:endParaRPr lang="en-US" sz="1400" dirty="0"/>
          </a:p>
        </p:txBody>
      </p:sp>
      <p:sp>
        <p:nvSpPr>
          <p:cNvPr id="14" name="Text 12"/>
          <p:cNvSpPr txBox="1"/>
          <p:nvPr/>
        </p:nvSpPr>
        <p:spPr>
          <a:xfrm>
            <a:off x="822960" y="4873752"/>
            <a:ext cx="2103120" cy="274320"/>
          </a:xfrm>
          <a:prstGeom prst="rect">
            <a:avLst/>
          </a:prstGeom>
          <a:noFill/>
          <a:ln/>
        </p:spPr>
        <p:txBody>
          <a:bodyPr wrap="square" lIns="0" tIns="0" rIns="0" bIns="0" rtlCol="0" anchor="ctr"/>
          <a:lstStyle/>
          <a:p>
            <a:pPr marL="0" indent="0">
              <a:buNone/>
            </a:pPr>
            <a:r>
              <a:rPr lang="en-US" sz="1300" dirty="0">
                <a:solidFill>
                  <a:srgbClr val="5F6B5F"/>
                </a:solidFill>
                <a:latin typeface="Calibri" pitchFamily="34" charset="0"/>
                <a:ea typeface="Calibri" pitchFamily="34" charset="-122"/>
                <a:cs typeface="Calibri" pitchFamily="34" charset="-120"/>
              </a:rPr>
              <a:t>Coût</a:t>
            </a:r>
            <a:endParaRPr lang="en-US" sz="1300" dirty="0"/>
          </a:p>
        </p:txBody>
      </p:sp>
      <p:sp>
        <p:nvSpPr>
          <p:cNvPr id="15" name="Text 13"/>
          <p:cNvSpPr txBox="1"/>
          <p:nvPr/>
        </p:nvSpPr>
        <p:spPr>
          <a:xfrm>
            <a:off x="3017520" y="4873752"/>
            <a:ext cx="2606040" cy="274320"/>
          </a:xfrm>
          <a:prstGeom prst="rect">
            <a:avLst/>
          </a:prstGeom>
          <a:noFill/>
          <a:ln/>
        </p:spPr>
        <p:txBody>
          <a:bodyPr wrap="square" lIns="0" tIns="0" rIns="0" bIns="0" rtlCol="0" anchor="ctr"/>
          <a:lstStyle/>
          <a:p>
            <a:pPr marL="0" indent="0">
              <a:buNone/>
            </a:pPr>
            <a:r>
              <a:rPr lang="en-US" sz="1400" b="1" dirty="0">
                <a:solidFill>
                  <a:srgbClr val="2B2B2B"/>
                </a:solidFill>
                <a:latin typeface="Calibri" pitchFamily="34" charset="0"/>
                <a:ea typeface="Calibri" pitchFamily="34" charset="-122"/>
                <a:cs typeface="Calibri" pitchFamily="34" charset="-120"/>
              </a:rPr>
              <a:t>Gratuit pendant douze mois</a:t>
            </a:r>
            <a:endParaRPr lang="en-US" sz="1400" dirty="0"/>
          </a:p>
        </p:txBody>
      </p:sp>
      <p:sp>
        <p:nvSpPr>
          <p:cNvPr id="16" name="Shape 14"/>
          <p:cNvSpPr/>
          <p:nvPr/>
        </p:nvSpPr>
        <p:spPr>
          <a:xfrm>
            <a:off x="6263640" y="1600200"/>
            <a:ext cx="5349240" cy="4206240"/>
          </a:xfrm>
          <a:prstGeom prst="roundRect">
            <a:avLst>
              <a:gd name="adj" fmla="val 1304"/>
            </a:avLst>
          </a:prstGeom>
          <a:solidFill>
            <a:srgbClr val="2C5F2D"/>
          </a:solidFill>
          <a:ln w="12700">
            <a:solidFill>
              <a:srgbClr val="2C5F2D"/>
            </a:solidFill>
            <a:prstDash val="solid"/>
          </a:ln>
        </p:spPr>
        <p:txBody>
          <a:bodyPr/>
          <a:lstStyle/>
          <a:p>
            <a:endParaRPr lang="fr-FR"/>
          </a:p>
        </p:txBody>
      </p:sp>
      <p:sp>
        <p:nvSpPr>
          <p:cNvPr id="17" name="Text 15"/>
          <p:cNvSpPr txBox="1"/>
          <p:nvPr/>
        </p:nvSpPr>
        <p:spPr>
          <a:xfrm>
            <a:off x="6537960" y="1828800"/>
            <a:ext cx="4800600" cy="274320"/>
          </a:xfrm>
          <a:prstGeom prst="rect">
            <a:avLst/>
          </a:prstGeom>
          <a:noFill/>
          <a:ln/>
        </p:spPr>
        <p:txBody>
          <a:bodyPr wrap="square" lIns="0" tIns="0" rIns="0" bIns="0" rtlCol="0" anchor="ctr"/>
          <a:lstStyle/>
          <a:p>
            <a:pPr marL="0" indent="0">
              <a:buNone/>
            </a:pPr>
            <a:r>
              <a:rPr lang="en-US" sz="1200" b="1" kern="0" spc="150" dirty="0">
                <a:solidFill>
                  <a:srgbClr val="97BC62"/>
                </a:solidFill>
                <a:latin typeface="Calibri" pitchFamily="34" charset="0"/>
                <a:ea typeface="Calibri" pitchFamily="34" charset="-122"/>
                <a:cs typeface="Calibri" pitchFamily="34" charset="-120"/>
              </a:rPr>
              <a:t>Conteneurs Docker</a:t>
            </a:r>
            <a:endParaRPr lang="en-US" sz="1200" dirty="0"/>
          </a:p>
        </p:txBody>
      </p:sp>
      <p:sp>
        <p:nvSpPr>
          <p:cNvPr id="18" name="Shape 16"/>
          <p:cNvSpPr/>
          <p:nvPr/>
        </p:nvSpPr>
        <p:spPr>
          <a:xfrm>
            <a:off x="6537960" y="2286000"/>
            <a:ext cx="4800600" cy="868680"/>
          </a:xfrm>
          <a:prstGeom prst="roundRect">
            <a:avLst>
              <a:gd name="adj" fmla="val 6316"/>
            </a:avLst>
          </a:prstGeom>
          <a:solidFill>
            <a:srgbClr val="26492A"/>
          </a:solidFill>
          <a:ln w="12700">
            <a:solidFill>
              <a:srgbClr val="26492A"/>
            </a:solidFill>
            <a:prstDash val="solid"/>
          </a:ln>
        </p:spPr>
        <p:txBody>
          <a:bodyPr/>
          <a:lstStyle/>
          <a:p>
            <a:endParaRPr lang="fr-FR"/>
          </a:p>
        </p:txBody>
      </p:sp>
      <p:sp>
        <p:nvSpPr>
          <p:cNvPr id="19" name="Text 17"/>
          <p:cNvSpPr txBox="1"/>
          <p:nvPr/>
        </p:nvSpPr>
        <p:spPr>
          <a:xfrm>
            <a:off x="6812280" y="2404872"/>
            <a:ext cx="2377440" cy="2743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FastAPI</a:t>
            </a:r>
            <a:endParaRPr lang="en-US" sz="1500" dirty="0"/>
          </a:p>
        </p:txBody>
      </p:sp>
      <p:sp>
        <p:nvSpPr>
          <p:cNvPr id="20" name="Text 18"/>
          <p:cNvSpPr txBox="1"/>
          <p:nvPr/>
        </p:nvSpPr>
        <p:spPr>
          <a:xfrm>
            <a:off x="6812280" y="2724912"/>
            <a:ext cx="2926080" cy="256032"/>
          </a:xfrm>
          <a:prstGeom prst="rect">
            <a:avLst/>
          </a:prstGeom>
          <a:noFill/>
          <a:ln/>
        </p:spPr>
        <p:txBody>
          <a:bodyPr wrap="square" lIns="0" tIns="0" rIns="0" bIns="0" rtlCol="0" anchor="ctr"/>
          <a:lstStyle/>
          <a:p>
            <a:pPr marL="0" indent="0">
              <a:buNone/>
            </a:pPr>
            <a:r>
              <a:rPr lang="en-US" sz="1150" dirty="0">
                <a:solidFill>
                  <a:srgbClr val="A8BFA0"/>
                </a:solidFill>
                <a:latin typeface="Calibri" pitchFamily="34" charset="0"/>
                <a:ea typeface="Calibri" pitchFamily="34" charset="-122"/>
                <a:cs typeface="Calibri" pitchFamily="34" charset="-120"/>
              </a:rPr>
              <a:t>API et interface web</a:t>
            </a:r>
            <a:endParaRPr lang="en-US" sz="1150" dirty="0"/>
          </a:p>
        </p:txBody>
      </p:sp>
      <p:sp>
        <p:nvSpPr>
          <p:cNvPr id="21" name="Text 19"/>
          <p:cNvSpPr txBox="1"/>
          <p:nvPr/>
        </p:nvSpPr>
        <p:spPr>
          <a:xfrm>
            <a:off x="9601200" y="2404872"/>
            <a:ext cx="1463040" cy="594360"/>
          </a:xfrm>
          <a:prstGeom prst="rect">
            <a:avLst/>
          </a:prstGeom>
          <a:noFill/>
          <a:ln/>
        </p:spPr>
        <p:txBody>
          <a:bodyPr wrap="square" lIns="0" tIns="0" rIns="0" bIns="0" rtlCol="0" anchor="ctr"/>
          <a:lstStyle/>
          <a:p>
            <a:pPr marL="0" indent="0" algn="r">
              <a:buNone/>
            </a:pPr>
            <a:r>
              <a:rPr lang="en-US" sz="1200" dirty="0">
                <a:solidFill>
                  <a:srgbClr val="97BC62"/>
                </a:solidFill>
                <a:latin typeface="Consolas" pitchFamily="34" charset="0"/>
                <a:ea typeface="Consolas" pitchFamily="34" charset="-122"/>
                <a:cs typeface="Consolas" pitchFamily="34" charset="-120"/>
              </a:rPr>
              <a:t>Port 8000</a:t>
            </a:r>
            <a:endParaRPr lang="en-US" sz="1200" dirty="0"/>
          </a:p>
        </p:txBody>
      </p:sp>
      <p:sp>
        <p:nvSpPr>
          <p:cNvPr id="22" name="Shape 20"/>
          <p:cNvSpPr/>
          <p:nvPr/>
        </p:nvSpPr>
        <p:spPr>
          <a:xfrm>
            <a:off x="6537960" y="3310128"/>
            <a:ext cx="4800600" cy="868680"/>
          </a:xfrm>
          <a:prstGeom prst="roundRect">
            <a:avLst>
              <a:gd name="adj" fmla="val 6316"/>
            </a:avLst>
          </a:prstGeom>
          <a:solidFill>
            <a:srgbClr val="26492A"/>
          </a:solidFill>
          <a:ln w="12700">
            <a:solidFill>
              <a:srgbClr val="26492A"/>
            </a:solidFill>
            <a:prstDash val="solid"/>
          </a:ln>
        </p:spPr>
        <p:txBody>
          <a:bodyPr/>
          <a:lstStyle/>
          <a:p>
            <a:endParaRPr lang="fr-FR"/>
          </a:p>
        </p:txBody>
      </p:sp>
      <p:sp>
        <p:nvSpPr>
          <p:cNvPr id="23" name="Text 21"/>
          <p:cNvSpPr txBox="1"/>
          <p:nvPr/>
        </p:nvSpPr>
        <p:spPr>
          <a:xfrm>
            <a:off x="6812280" y="3429000"/>
            <a:ext cx="2377440" cy="2743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PostgreSQL 15</a:t>
            </a:r>
            <a:endParaRPr lang="en-US" sz="1500" dirty="0"/>
          </a:p>
        </p:txBody>
      </p:sp>
      <p:sp>
        <p:nvSpPr>
          <p:cNvPr id="24" name="Text 22"/>
          <p:cNvSpPr txBox="1"/>
          <p:nvPr/>
        </p:nvSpPr>
        <p:spPr>
          <a:xfrm>
            <a:off x="6812280" y="3749040"/>
            <a:ext cx="2926080" cy="256032"/>
          </a:xfrm>
          <a:prstGeom prst="rect">
            <a:avLst/>
          </a:prstGeom>
          <a:noFill/>
          <a:ln/>
        </p:spPr>
        <p:txBody>
          <a:bodyPr wrap="square" lIns="0" tIns="0" rIns="0" bIns="0" rtlCol="0" anchor="ctr"/>
          <a:lstStyle/>
          <a:p>
            <a:pPr marL="0" indent="0">
              <a:buNone/>
            </a:pPr>
            <a:r>
              <a:rPr lang="en-US" sz="1150" dirty="0">
                <a:solidFill>
                  <a:srgbClr val="A8BFA0"/>
                </a:solidFill>
                <a:latin typeface="Calibri" pitchFamily="34" charset="0"/>
                <a:ea typeface="Calibri" pitchFamily="34" charset="-122"/>
                <a:cs typeface="Calibri" pitchFamily="34" charset="-120"/>
              </a:rPr>
              <a:t>Données persistantes</a:t>
            </a:r>
            <a:endParaRPr lang="en-US" sz="1150" dirty="0"/>
          </a:p>
        </p:txBody>
      </p:sp>
      <p:sp>
        <p:nvSpPr>
          <p:cNvPr id="25" name="Text 23"/>
          <p:cNvSpPr txBox="1"/>
          <p:nvPr/>
        </p:nvSpPr>
        <p:spPr>
          <a:xfrm>
            <a:off x="9601200" y="3429000"/>
            <a:ext cx="1463040" cy="594360"/>
          </a:xfrm>
          <a:prstGeom prst="rect">
            <a:avLst/>
          </a:prstGeom>
          <a:noFill/>
          <a:ln/>
        </p:spPr>
        <p:txBody>
          <a:bodyPr wrap="square" lIns="0" tIns="0" rIns="0" bIns="0" rtlCol="0" anchor="ctr"/>
          <a:lstStyle/>
          <a:p>
            <a:pPr marL="0" indent="0" algn="r">
              <a:buNone/>
            </a:pPr>
            <a:r>
              <a:rPr lang="en-US" sz="1200" dirty="0">
                <a:solidFill>
                  <a:srgbClr val="97BC62"/>
                </a:solidFill>
                <a:latin typeface="Consolas" pitchFamily="34" charset="0"/>
                <a:ea typeface="Consolas" pitchFamily="34" charset="-122"/>
                <a:cs typeface="Consolas" pitchFamily="34" charset="-120"/>
              </a:rPr>
              <a:t>Port 5432</a:t>
            </a:r>
            <a:endParaRPr lang="en-US" sz="1200" dirty="0"/>
          </a:p>
        </p:txBody>
      </p:sp>
      <p:sp>
        <p:nvSpPr>
          <p:cNvPr id="26" name="Shape 24"/>
          <p:cNvSpPr/>
          <p:nvPr/>
        </p:nvSpPr>
        <p:spPr>
          <a:xfrm>
            <a:off x="6537960" y="4334256"/>
            <a:ext cx="4800600" cy="868680"/>
          </a:xfrm>
          <a:prstGeom prst="roundRect">
            <a:avLst>
              <a:gd name="adj" fmla="val 6316"/>
            </a:avLst>
          </a:prstGeom>
          <a:solidFill>
            <a:srgbClr val="26492A"/>
          </a:solidFill>
          <a:ln w="12700">
            <a:solidFill>
              <a:srgbClr val="26492A"/>
            </a:solidFill>
            <a:prstDash val="solid"/>
          </a:ln>
        </p:spPr>
        <p:txBody>
          <a:bodyPr/>
          <a:lstStyle/>
          <a:p>
            <a:endParaRPr lang="fr-FR"/>
          </a:p>
        </p:txBody>
      </p:sp>
      <p:sp>
        <p:nvSpPr>
          <p:cNvPr id="27" name="Text 25"/>
          <p:cNvSpPr txBox="1"/>
          <p:nvPr/>
        </p:nvSpPr>
        <p:spPr>
          <a:xfrm>
            <a:off x="6812280" y="4453128"/>
            <a:ext cx="2377440" cy="2743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Redis 7</a:t>
            </a:r>
            <a:endParaRPr lang="en-US" sz="1500" dirty="0"/>
          </a:p>
        </p:txBody>
      </p:sp>
      <p:sp>
        <p:nvSpPr>
          <p:cNvPr id="28" name="Text 26"/>
          <p:cNvSpPr txBox="1"/>
          <p:nvPr/>
        </p:nvSpPr>
        <p:spPr>
          <a:xfrm>
            <a:off x="6812280" y="4773168"/>
            <a:ext cx="2926080" cy="256032"/>
          </a:xfrm>
          <a:prstGeom prst="rect">
            <a:avLst/>
          </a:prstGeom>
          <a:noFill/>
          <a:ln/>
        </p:spPr>
        <p:txBody>
          <a:bodyPr wrap="square" lIns="0" tIns="0" rIns="0" bIns="0" rtlCol="0" anchor="ctr"/>
          <a:lstStyle/>
          <a:p>
            <a:pPr marL="0" indent="0">
              <a:buNone/>
            </a:pPr>
            <a:r>
              <a:rPr lang="en-US" sz="1150" dirty="0">
                <a:solidFill>
                  <a:srgbClr val="A8BFA0"/>
                </a:solidFill>
                <a:latin typeface="Calibri" pitchFamily="34" charset="0"/>
                <a:ea typeface="Calibri" pitchFamily="34" charset="-122"/>
                <a:cs typeface="Calibri" pitchFamily="34" charset="-120"/>
              </a:rPr>
              <a:t>Cache et sessions</a:t>
            </a:r>
            <a:endParaRPr lang="en-US" sz="1150" dirty="0"/>
          </a:p>
        </p:txBody>
      </p:sp>
      <p:sp>
        <p:nvSpPr>
          <p:cNvPr id="29" name="Text 27"/>
          <p:cNvSpPr txBox="1"/>
          <p:nvPr/>
        </p:nvSpPr>
        <p:spPr>
          <a:xfrm>
            <a:off x="9601200" y="4453128"/>
            <a:ext cx="1463040" cy="594360"/>
          </a:xfrm>
          <a:prstGeom prst="rect">
            <a:avLst/>
          </a:prstGeom>
          <a:noFill/>
          <a:ln/>
        </p:spPr>
        <p:txBody>
          <a:bodyPr wrap="square" lIns="0" tIns="0" rIns="0" bIns="0" rtlCol="0" anchor="ctr"/>
          <a:lstStyle/>
          <a:p>
            <a:pPr marL="0" indent="0" algn="r">
              <a:buNone/>
            </a:pPr>
            <a:r>
              <a:rPr lang="en-US" sz="1200" dirty="0">
                <a:solidFill>
                  <a:srgbClr val="97BC62"/>
                </a:solidFill>
                <a:latin typeface="Consolas" pitchFamily="34" charset="0"/>
                <a:ea typeface="Consolas" pitchFamily="34" charset="-122"/>
                <a:cs typeface="Consolas" pitchFamily="34" charset="-120"/>
              </a:rPr>
              <a:t>Port 6379</a:t>
            </a:r>
            <a:endParaRPr lang="en-US" sz="1200" dirty="0"/>
          </a:p>
        </p:txBody>
      </p:sp>
      <p:sp>
        <p:nvSpPr>
          <p:cNvPr id="30" name="Text 28"/>
          <p:cNvSpPr txBox="1"/>
          <p:nvPr/>
        </p:nvSpPr>
        <p:spPr>
          <a:xfrm>
            <a:off x="6537960" y="5413248"/>
            <a:ext cx="4800600" cy="320040"/>
          </a:xfrm>
          <a:prstGeom prst="rect">
            <a:avLst/>
          </a:prstGeom>
          <a:noFill/>
          <a:ln/>
        </p:spPr>
        <p:txBody>
          <a:bodyPr wrap="square" lIns="0" tIns="0" rIns="0" bIns="0" rtlCol="0" anchor="ctr"/>
          <a:lstStyle/>
          <a:p>
            <a:pPr marL="0" indent="0">
              <a:buNone/>
            </a:pPr>
            <a:r>
              <a:rPr lang="en-US" sz="1200" i="1" dirty="0">
                <a:solidFill>
                  <a:srgbClr val="D8E8CF"/>
                </a:solidFill>
                <a:latin typeface="Calibri" pitchFamily="34" charset="0"/>
                <a:ea typeface="Calibri" pitchFamily="34" charset="-122"/>
                <a:cs typeface="Calibri" pitchFamily="34" charset="-120"/>
              </a:rPr>
              <a:t>Volumes persistants : les données survivent à tout redémarrage des conteneurs.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1B3A1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Conclusion</a:t>
            </a:r>
            <a:endParaRPr lang="en-US" sz="3400" dirty="0"/>
          </a:p>
        </p:txBody>
      </p:sp>
      <p:sp>
        <p:nvSpPr>
          <p:cNvPr id="4" name="Shape 2"/>
          <p:cNvSpPr/>
          <p:nvPr/>
        </p:nvSpPr>
        <p:spPr>
          <a:xfrm>
            <a:off x="548640" y="1572768"/>
            <a:ext cx="5440680" cy="1207008"/>
          </a:xfrm>
          <a:prstGeom prst="roundRect">
            <a:avLst>
              <a:gd name="adj" fmla="val 4545"/>
            </a:avLst>
          </a:prstGeom>
          <a:solidFill>
            <a:srgbClr val="26492A"/>
          </a:solidFill>
          <a:ln w="12700">
            <a:solidFill>
              <a:srgbClr val="26492A"/>
            </a:solidFill>
            <a:prstDash val="solid"/>
          </a:ln>
        </p:spPr>
        <p:txBody>
          <a:bodyPr/>
          <a:lstStyle/>
          <a:p>
            <a:endParaRPr lang="fr-FR"/>
          </a:p>
        </p:txBody>
      </p:sp>
      <p:sp>
        <p:nvSpPr>
          <p:cNvPr id="5" name="Text 3"/>
          <p:cNvSpPr txBox="1"/>
          <p:nvPr/>
        </p:nvSpPr>
        <p:spPr>
          <a:xfrm>
            <a:off x="868680" y="1755648"/>
            <a:ext cx="4800600" cy="329184"/>
          </a:xfrm>
          <a:prstGeom prst="rect">
            <a:avLst/>
          </a:prstGeom>
          <a:noFill/>
          <a:ln/>
        </p:spPr>
        <p:txBody>
          <a:bodyPr wrap="square" lIns="0" tIns="0" rIns="0" bIns="0" rtlCol="0" anchor="ctr"/>
          <a:lstStyle/>
          <a:p>
            <a:pPr marL="0" indent="0">
              <a:buNone/>
            </a:pPr>
            <a:r>
              <a:rPr lang="en-US" sz="1800" b="1" dirty="0">
                <a:solidFill>
                  <a:srgbClr val="97BC62"/>
                </a:solidFill>
                <a:latin typeface="Cambria" pitchFamily="34" charset="0"/>
                <a:ea typeface="Cambria" pitchFamily="34" charset="-122"/>
                <a:cs typeface="Cambria" pitchFamily="34" charset="-120"/>
              </a:rPr>
              <a:t>Fonctionnel</a:t>
            </a:r>
            <a:endParaRPr lang="en-US" sz="1800" dirty="0"/>
          </a:p>
        </p:txBody>
      </p:sp>
      <p:sp>
        <p:nvSpPr>
          <p:cNvPr id="6" name="Text 4"/>
          <p:cNvSpPr txBox="1"/>
          <p:nvPr/>
        </p:nvSpPr>
        <p:spPr>
          <a:xfrm>
            <a:off x="868680" y="2139696"/>
            <a:ext cx="4800600" cy="548640"/>
          </a:xfrm>
          <a:prstGeom prst="rect">
            <a:avLst/>
          </a:prstGeom>
          <a:noFill/>
          <a:ln/>
        </p:spPr>
        <p:txBody>
          <a:bodyPr wrap="square" lIns="0" tIns="0" rIns="0" bIns="0" rtlCol="0" anchor="ctr"/>
          <a:lstStyle/>
          <a:p>
            <a:pPr marL="0" indent="0">
              <a:buNone/>
            </a:pPr>
            <a:r>
              <a:rPr lang="en-US" sz="1200" dirty="0">
                <a:solidFill>
                  <a:srgbClr val="D8E8CF"/>
                </a:solidFill>
                <a:latin typeface="Calibri" pitchFamily="34" charset="0"/>
                <a:ea typeface="Calibri" pitchFamily="34" charset="-122"/>
                <a:cs typeface="Calibri" pitchFamily="34" charset="-120"/>
              </a:rPr>
              <a:t>L'application tourne en production et reste accessible en continu.</a:t>
            </a:r>
            <a:endParaRPr lang="en-US" sz="1200" dirty="0"/>
          </a:p>
        </p:txBody>
      </p:sp>
      <p:sp>
        <p:nvSpPr>
          <p:cNvPr id="7" name="Shape 5"/>
          <p:cNvSpPr/>
          <p:nvPr/>
        </p:nvSpPr>
        <p:spPr>
          <a:xfrm>
            <a:off x="6172200" y="1572768"/>
            <a:ext cx="5440680" cy="1207008"/>
          </a:xfrm>
          <a:prstGeom prst="roundRect">
            <a:avLst>
              <a:gd name="adj" fmla="val 4545"/>
            </a:avLst>
          </a:prstGeom>
          <a:solidFill>
            <a:srgbClr val="26492A"/>
          </a:solidFill>
          <a:ln w="12700">
            <a:solidFill>
              <a:srgbClr val="26492A"/>
            </a:solidFill>
            <a:prstDash val="solid"/>
          </a:ln>
        </p:spPr>
        <p:txBody>
          <a:bodyPr/>
          <a:lstStyle/>
          <a:p>
            <a:endParaRPr lang="fr-FR"/>
          </a:p>
        </p:txBody>
      </p:sp>
      <p:sp>
        <p:nvSpPr>
          <p:cNvPr id="8" name="Text 6"/>
          <p:cNvSpPr txBox="1"/>
          <p:nvPr/>
        </p:nvSpPr>
        <p:spPr>
          <a:xfrm>
            <a:off x="6492240" y="1755648"/>
            <a:ext cx="4800600" cy="329184"/>
          </a:xfrm>
          <a:prstGeom prst="rect">
            <a:avLst/>
          </a:prstGeom>
          <a:noFill/>
          <a:ln/>
        </p:spPr>
        <p:txBody>
          <a:bodyPr wrap="square" lIns="0" tIns="0" rIns="0" bIns="0" rtlCol="0" anchor="ctr"/>
          <a:lstStyle/>
          <a:p>
            <a:pPr marL="0" indent="0">
              <a:buNone/>
            </a:pPr>
            <a:r>
              <a:rPr lang="en-US" sz="1800" b="1" dirty="0">
                <a:solidFill>
                  <a:srgbClr val="97BC62"/>
                </a:solidFill>
                <a:latin typeface="Cambria" pitchFamily="34" charset="0"/>
                <a:ea typeface="Cambria" pitchFamily="34" charset="-122"/>
                <a:cs typeface="Cambria" pitchFamily="34" charset="-120"/>
              </a:rPr>
              <a:t>Conforme</a:t>
            </a:r>
            <a:endParaRPr lang="en-US" sz="1800" dirty="0"/>
          </a:p>
        </p:txBody>
      </p:sp>
      <p:sp>
        <p:nvSpPr>
          <p:cNvPr id="9" name="Text 7"/>
          <p:cNvSpPr txBox="1"/>
          <p:nvPr/>
        </p:nvSpPr>
        <p:spPr>
          <a:xfrm>
            <a:off x="6492240" y="2139696"/>
            <a:ext cx="4800600" cy="548640"/>
          </a:xfrm>
          <a:prstGeom prst="rect">
            <a:avLst/>
          </a:prstGeom>
          <a:noFill/>
          <a:ln/>
        </p:spPr>
        <p:txBody>
          <a:bodyPr wrap="square" lIns="0" tIns="0" rIns="0" bIns="0" rtlCol="0" anchor="ctr"/>
          <a:lstStyle/>
          <a:p>
            <a:pPr marL="0" indent="0">
              <a:buNone/>
            </a:pPr>
            <a:r>
              <a:rPr lang="en-US" sz="1200" dirty="0">
                <a:solidFill>
                  <a:srgbClr val="D8E8CF"/>
                </a:solidFill>
                <a:latin typeface="Calibri" pitchFamily="34" charset="0"/>
                <a:ea typeface="Calibri" pitchFamily="34" charset="-122"/>
                <a:cs typeface="Calibri" pitchFamily="34" charset="-120"/>
              </a:rPr>
              <a:t>Tous les objectifs du cahier des charges sont couverts et vérifiables.</a:t>
            </a:r>
            <a:endParaRPr lang="en-US" sz="1200" dirty="0"/>
          </a:p>
        </p:txBody>
      </p:sp>
      <p:sp>
        <p:nvSpPr>
          <p:cNvPr id="10" name="Shape 8"/>
          <p:cNvSpPr/>
          <p:nvPr/>
        </p:nvSpPr>
        <p:spPr>
          <a:xfrm>
            <a:off x="548640" y="2990088"/>
            <a:ext cx="5440680" cy="1207008"/>
          </a:xfrm>
          <a:prstGeom prst="roundRect">
            <a:avLst>
              <a:gd name="adj" fmla="val 4545"/>
            </a:avLst>
          </a:prstGeom>
          <a:solidFill>
            <a:srgbClr val="26492A"/>
          </a:solidFill>
          <a:ln w="12700">
            <a:solidFill>
              <a:srgbClr val="26492A"/>
            </a:solidFill>
            <a:prstDash val="solid"/>
          </a:ln>
        </p:spPr>
        <p:txBody>
          <a:bodyPr/>
          <a:lstStyle/>
          <a:p>
            <a:endParaRPr lang="fr-FR"/>
          </a:p>
        </p:txBody>
      </p:sp>
      <p:sp>
        <p:nvSpPr>
          <p:cNvPr id="11" name="Text 9"/>
          <p:cNvSpPr txBox="1"/>
          <p:nvPr/>
        </p:nvSpPr>
        <p:spPr>
          <a:xfrm>
            <a:off x="868680" y="3172968"/>
            <a:ext cx="4800600" cy="329184"/>
          </a:xfrm>
          <a:prstGeom prst="rect">
            <a:avLst/>
          </a:prstGeom>
          <a:noFill/>
          <a:ln/>
        </p:spPr>
        <p:txBody>
          <a:bodyPr wrap="square" lIns="0" tIns="0" rIns="0" bIns="0" rtlCol="0" anchor="ctr"/>
          <a:lstStyle/>
          <a:p>
            <a:pPr marL="0" indent="0">
              <a:buNone/>
            </a:pPr>
            <a:r>
              <a:rPr lang="en-US" sz="1800" b="1" dirty="0">
                <a:solidFill>
                  <a:srgbClr val="97BC62"/>
                </a:solidFill>
                <a:latin typeface="Cambria" pitchFamily="34" charset="0"/>
                <a:ea typeface="Cambria" pitchFamily="34" charset="-122"/>
                <a:cs typeface="Cambria" pitchFamily="34" charset="-120"/>
              </a:rPr>
              <a:t>Documenté</a:t>
            </a:r>
            <a:endParaRPr lang="en-US" sz="1800" dirty="0"/>
          </a:p>
        </p:txBody>
      </p:sp>
      <p:sp>
        <p:nvSpPr>
          <p:cNvPr id="12" name="Text 10"/>
          <p:cNvSpPr txBox="1"/>
          <p:nvPr/>
        </p:nvSpPr>
        <p:spPr>
          <a:xfrm>
            <a:off x="868680" y="3557016"/>
            <a:ext cx="4800600" cy="548640"/>
          </a:xfrm>
          <a:prstGeom prst="rect">
            <a:avLst/>
          </a:prstGeom>
          <a:noFill/>
          <a:ln/>
        </p:spPr>
        <p:txBody>
          <a:bodyPr wrap="square" lIns="0" tIns="0" rIns="0" bIns="0" rtlCol="0" anchor="ctr"/>
          <a:lstStyle/>
          <a:p>
            <a:pPr marL="0" indent="0">
              <a:buNone/>
            </a:pPr>
            <a:r>
              <a:rPr lang="en-US" sz="1200" dirty="0">
                <a:solidFill>
                  <a:srgbClr val="D8E8CF"/>
                </a:solidFill>
                <a:latin typeface="Calibri" pitchFamily="34" charset="0"/>
                <a:ea typeface="Calibri" pitchFamily="34" charset="-122"/>
                <a:cs typeface="Calibri" pitchFamily="34" charset="-120"/>
              </a:rPr>
              <a:t>Architecture réseau, justifications techniques et guide de déploiement rédigés.</a:t>
            </a:r>
            <a:endParaRPr lang="en-US" sz="1200" dirty="0"/>
          </a:p>
        </p:txBody>
      </p:sp>
      <p:sp>
        <p:nvSpPr>
          <p:cNvPr id="13" name="Shape 11"/>
          <p:cNvSpPr/>
          <p:nvPr/>
        </p:nvSpPr>
        <p:spPr>
          <a:xfrm>
            <a:off x="6172200" y="2990088"/>
            <a:ext cx="5440680" cy="1207008"/>
          </a:xfrm>
          <a:prstGeom prst="roundRect">
            <a:avLst>
              <a:gd name="adj" fmla="val 4545"/>
            </a:avLst>
          </a:prstGeom>
          <a:solidFill>
            <a:srgbClr val="26492A"/>
          </a:solidFill>
          <a:ln w="12700">
            <a:solidFill>
              <a:srgbClr val="26492A"/>
            </a:solidFill>
            <a:prstDash val="solid"/>
          </a:ln>
        </p:spPr>
        <p:txBody>
          <a:bodyPr/>
          <a:lstStyle/>
          <a:p>
            <a:endParaRPr lang="fr-FR"/>
          </a:p>
        </p:txBody>
      </p:sp>
      <p:sp>
        <p:nvSpPr>
          <p:cNvPr id="14" name="Text 12"/>
          <p:cNvSpPr txBox="1"/>
          <p:nvPr/>
        </p:nvSpPr>
        <p:spPr>
          <a:xfrm>
            <a:off x="6492240" y="3172968"/>
            <a:ext cx="4800600" cy="329184"/>
          </a:xfrm>
          <a:prstGeom prst="rect">
            <a:avLst/>
          </a:prstGeom>
          <a:noFill/>
          <a:ln/>
        </p:spPr>
        <p:txBody>
          <a:bodyPr wrap="square" lIns="0" tIns="0" rIns="0" bIns="0" rtlCol="0" anchor="ctr"/>
          <a:lstStyle/>
          <a:p>
            <a:pPr marL="0" indent="0">
              <a:buNone/>
            </a:pPr>
            <a:r>
              <a:rPr lang="en-US" sz="1800" b="1" dirty="0">
                <a:solidFill>
                  <a:srgbClr val="97BC62"/>
                </a:solidFill>
                <a:latin typeface="Cambria" pitchFamily="34" charset="0"/>
                <a:ea typeface="Cambria" pitchFamily="34" charset="-122"/>
                <a:cs typeface="Cambria" pitchFamily="34" charset="-120"/>
              </a:rPr>
              <a:t>Évolutif</a:t>
            </a:r>
            <a:endParaRPr lang="en-US" sz="1800" dirty="0"/>
          </a:p>
        </p:txBody>
      </p:sp>
      <p:sp>
        <p:nvSpPr>
          <p:cNvPr id="15" name="Text 13"/>
          <p:cNvSpPr txBox="1"/>
          <p:nvPr/>
        </p:nvSpPr>
        <p:spPr>
          <a:xfrm>
            <a:off x="6492240" y="3557016"/>
            <a:ext cx="4800600" cy="548640"/>
          </a:xfrm>
          <a:prstGeom prst="rect">
            <a:avLst/>
          </a:prstGeom>
          <a:noFill/>
          <a:ln/>
        </p:spPr>
        <p:txBody>
          <a:bodyPr wrap="square" lIns="0" tIns="0" rIns="0" bIns="0" rtlCol="0" anchor="ctr"/>
          <a:lstStyle/>
          <a:p>
            <a:pPr marL="0" indent="0">
              <a:buNone/>
            </a:pPr>
            <a:r>
              <a:rPr lang="en-US" sz="1200" dirty="0">
                <a:solidFill>
                  <a:srgbClr val="D8E8CF"/>
                </a:solidFill>
                <a:latin typeface="Calibri" pitchFamily="34" charset="0"/>
                <a:ea typeface="Calibri" pitchFamily="34" charset="-122"/>
                <a:cs typeface="Calibri" pitchFamily="34" charset="-120"/>
              </a:rPr>
              <a:t>L'architecture supporte la montée en charge sans réécriture.</a:t>
            </a:r>
            <a:endParaRPr lang="en-US" sz="1200" dirty="0"/>
          </a:p>
        </p:txBody>
      </p:sp>
      <p:sp>
        <p:nvSpPr>
          <p:cNvPr id="16" name="Shape 14"/>
          <p:cNvSpPr/>
          <p:nvPr/>
        </p:nvSpPr>
        <p:spPr>
          <a:xfrm>
            <a:off x="548640" y="4572000"/>
            <a:ext cx="11064240" cy="1691640"/>
          </a:xfrm>
          <a:prstGeom prst="roundRect">
            <a:avLst>
              <a:gd name="adj" fmla="val 3243"/>
            </a:avLst>
          </a:prstGeom>
          <a:solidFill>
            <a:srgbClr val="2C5F2D"/>
          </a:solidFill>
          <a:ln w="12700">
            <a:solidFill>
              <a:srgbClr val="2C5F2D"/>
            </a:solidFill>
            <a:prstDash val="solid"/>
          </a:ln>
        </p:spPr>
        <p:txBody>
          <a:bodyPr/>
          <a:lstStyle/>
          <a:p>
            <a:endParaRPr lang="fr-FR"/>
          </a:p>
        </p:txBody>
      </p:sp>
      <p:sp>
        <p:nvSpPr>
          <p:cNvPr id="17" name="Text 15"/>
          <p:cNvSpPr txBox="1"/>
          <p:nvPr/>
        </p:nvSpPr>
        <p:spPr>
          <a:xfrm>
            <a:off x="868680" y="4736592"/>
            <a:ext cx="10424160" cy="256032"/>
          </a:xfrm>
          <a:prstGeom prst="rect">
            <a:avLst/>
          </a:prstGeom>
          <a:noFill/>
          <a:ln/>
        </p:spPr>
        <p:txBody>
          <a:bodyPr wrap="square" lIns="0" tIns="0" rIns="0" bIns="0" rtlCol="0" anchor="ctr"/>
          <a:lstStyle/>
          <a:p>
            <a:pPr marL="0" indent="0">
              <a:buNone/>
            </a:pPr>
            <a:r>
              <a:rPr lang="en-US" sz="1100" b="1" kern="0" spc="120" dirty="0">
                <a:solidFill>
                  <a:srgbClr val="97BC62"/>
                </a:solidFill>
                <a:latin typeface="Calibri" pitchFamily="34" charset="0"/>
                <a:ea typeface="Calibri" pitchFamily="34" charset="-122"/>
                <a:cs typeface="Calibri" pitchFamily="34" charset="-120"/>
              </a:rPr>
              <a:t>VALIDÉ SUR LE TERRAIN, PAS SEULEMENT À L'ÉCOLE</a:t>
            </a:r>
            <a:endParaRPr lang="en-US" sz="1100" dirty="0"/>
          </a:p>
        </p:txBody>
      </p:sp>
      <p:sp>
        <p:nvSpPr>
          <p:cNvPr id="18" name="Text 16"/>
          <p:cNvSpPr txBox="1"/>
          <p:nvPr/>
        </p:nvSpPr>
        <p:spPr>
          <a:xfrm>
            <a:off x="868680" y="5029200"/>
            <a:ext cx="10424160" cy="548640"/>
          </a:xfrm>
          <a:prstGeom prst="rect">
            <a:avLst/>
          </a:prstGeom>
          <a:noFill/>
          <a:ln/>
        </p:spPr>
        <p:txBody>
          <a:bodyPr wrap="square" lIns="0" tIns="0" rIns="0" bIns="0" rtlCol="0" anchor="ctr"/>
          <a:lstStyle/>
          <a:p>
            <a:r>
              <a:rPr lang="fr-FR" sz="1350" b="1" i="1" dirty="0">
                <a:solidFill>
                  <a:schemeClr val="accent6">
                    <a:lumMod val="20000"/>
                    <a:lumOff val="80000"/>
                  </a:schemeClr>
                </a:solidFill>
              </a:rPr>
              <a:t>Testé par mon frère, agriculteur, directement dans la ferme dans laquelle il travaille. Puis testé avec mon père, commercial dans le secteur agricole, auprès de plusieurs autres agriculteurs sur le terrain.</a:t>
            </a:r>
          </a:p>
        </p:txBody>
      </p:sp>
      <p:sp>
        <p:nvSpPr>
          <p:cNvPr id="19" name="Text 17"/>
          <p:cNvSpPr txBox="1"/>
          <p:nvPr/>
        </p:nvSpPr>
        <p:spPr>
          <a:xfrm>
            <a:off x="868680" y="5532120"/>
            <a:ext cx="10424160" cy="548640"/>
          </a:xfrm>
          <a:prstGeom prst="rect">
            <a:avLst/>
          </a:prstGeom>
          <a:noFill/>
          <a:ln/>
        </p:spPr>
        <p:txBody>
          <a:bodyPr wrap="square" lIns="0" tIns="0" rIns="0" bIns="0" rtlCol="0" anchor="ctr"/>
          <a:lstStyle/>
          <a:p>
            <a:pPr marL="0" indent="0">
              <a:buNone/>
            </a:pPr>
            <a:r>
              <a:rPr lang="en-US" sz="1350" b="1" i="1" dirty="0">
                <a:solidFill>
                  <a:schemeClr val="accent6">
                    <a:lumMod val="20000"/>
                    <a:lumOff val="80000"/>
                  </a:schemeClr>
                </a:solidFill>
                <a:latin typeface="Calibri" pitchFamily="34" charset="0"/>
                <a:ea typeface="Calibri" pitchFamily="34" charset="-122"/>
                <a:cs typeface="Calibri" pitchFamily="34" charset="-120"/>
              </a:rPr>
              <a:t>Le retour le plus fréquent : centraliser toutes leurs données au même endroit, et surtout croiser la météo avec le risque de maladie pour anticiper plutôt que subir.</a:t>
            </a:r>
            <a:endParaRPr lang="en-US" sz="1350" dirty="0">
              <a:solidFill>
                <a:schemeClr val="accent6">
                  <a:lumMod val="20000"/>
                  <a:lumOff val="80000"/>
                </a:schemeClr>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96FDA8D3-0BBE-67AC-9C41-8CCD3F2D3CBA}"/>
              </a:ext>
            </a:extLst>
          </p:cNvPr>
          <p:cNvSpPr txBox="1"/>
          <p:nvPr/>
        </p:nvSpPr>
        <p:spPr>
          <a:xfrm>
            <a:off x="563880" y="466344"/>
            <a:ext cx="11064240" cy="2286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fr-FR" sz="1200" b="1" kern="0" spc="200" dirty="0">
                <a:solidFill>
                  <a:srgbClr val="4A7A3A"/>
                </a:solidFill>
                <a:latin typeface="Calibri" pitchFamily="34" charset="0"/>
              </a:rPr>
              <a:t>ÉVOLUTIONS POSSIBLES</a:t>
            </a:r>
          </a:p>
        </p:txBody>
      </p:sp>
      <p:sp>
        <p:nvSpPr>
          <p:cNvPr id="3" name="Text 1">
            <a:extLst>
              <a:ext uri="{FF2B5EF4-FFF2-40B4-BE49-F238E27FC236}">
                <a16:creationId xmlns:a16="http://schemas.microsoft.com/office/drawing/2014/main" id="{9C042D42-3067-D833-EB93-1951151E47F2}"/>
              </a:ext>
            </a:extLst>
          </p:cNvPr>
          <p:cNvSpPr txBox="1"/>
          <p:nvPr/>
        </p:nvSpPr>
        <p:spPr>
          <a:xfrm>
            <a:off x="563880" y="740664"/>
            <a:ext cx="11064240" cy="5669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fr-FR" sz="3400" b="1" dirty="0">
                <a:solidFill>
                  <a:srgbClr val="2C5F2D"/>
                </a:solidFill>
                <a:latin typeface="Cambria" pitchFamily="34" charset="0"/>
              </a:rPr>
              <a:t>Pistes d'amélioration</a:t>
            </a:r>
          </a:p>
        </p:txBody>
      </p:sp>
      <p:sp>
        <p:nvSpPr>
          <p:cNvPr id="4" name="Card">
            <a:extLst>
              <a:ext uri="{FF2B5EF4-FFF2-40B4-BE49-F238E27FC236}">
                <a16:creationId xmlns:a16="http://schemas.microsoft.com/office/drawing/2014/main" id="{71775DF3-4950-91E1-14EB-9836289B18E1}"/>
              </a:ext>
            </a:extLst>
          </p:cNvPr>
          <p:cNvSpPr/>
          <p:nvPr/>
        </p:nvSpPr>
        <p:spPr>
          <a:xfrm>
            <a:off x="563880" y="1682496"/>
            <a:ext cx="5394960" cy="2217420"/>
          </a:xfrm>
          <a:prstGeom prst="roundRect">
            <a:avLst>
              <a:gd name="adj" fmla="val 2553"/>
            </a:avLst>
          </a:prstGeom>
          <a:solidFill>
            <a:srgbClr val="EEF3EA"/>
          </a:solidFill>
          <a:ln w="12700">
            <a:solidFill>
              <a:srgbClr val="EEF3E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a:p>
        </p:txBody>
      </p:sp>
      <p:sp>
        <p:nvSpPr>
          <p:cNvPr id="5" name="Icon">
            <a:extLst>
              <a:ext uri="{FF2B5EF4-FFF2-40B4-BE49-F238E27FC236}">
                <a16:creationId xmlns:a16="http://schemas.microsoft.com/office/drawing/2014/main" id="{68FD4365-4673-91B6-F5B6-752EC6B0E588}"/>
              </a:ext>
            </a:extLst>
          </p:cNvPr>
          <p:cNvSpPr/>
          <p:nvPr/>
        </p:nvSpPr>
        <p:spPr>
          <a:xfrm>
            <a:off x="838200" y="2011680"/>
            <a:ext cx="274320" cy="274320"/>
          </a:xfrm>
          <a:prstGeom prst="ellipse">
            <a:avLst/>
          </a:prstGeom>
          <a:solidFill>
            <a:srgbClr val="2C5F2D"/>
          </a:solidFill>
          <a:ln w="12700">
            <a:solidFill>
              <a:srgbClr val="2C5F2D"/>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a:p>
        </p:txBody>
      </p:sp>
      <p:sp>
        <p:nvSpPr>
          <p:cNvPr id="6" name="CardTitle">
            <a:extLst>
              <a:ext uri="{FF2B5EF4-FFF2-40B4-BE49-F238E27FC236}">
                <a16:creationId xmlns:a16="http://schemas.microsoft.com/office/drawing/2014/main" id="{A1415DB6-CE29-4E9E-C1B5-17BA62FB82ED}"/>
              </a:ext>
            </a:extLst>
          </p:cNvPr>
          <p:cNvSpPr txBox="1"/>
          <p:nvPr/>
        </p:nvSpPr>
        <p:spPr>
          <a:xfrm>
            <a:off x="838200" y="2432304"/>
            <a:ext cx="484632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fr-FR" sz="1700" b="1" dirty="0">
                <a:solidFill>
                  <a:srgbClr val="2C5F2D"/>
                </a:solidFill>
                <a:latin typeface="Calibri" pitchFamily="34" charset="0"/>
              </a:rPr>
              <a:t>Diagnostic plus précis</a:t>
            </a:r>
          </a:p>
        </p:txBody>
      </p:sp>
      <p:sp>
        <p:nvSpPr>
          <p:cNvPr id="7" name="CardBullets">
            <a:extLst>
              <a:ext uri="{FF2B5EF4-FFF2-40B4-BE49-F238E27FC236}">
                <a16:creationId xmlns:a16="http://schemas.microsoft.com/office/drawing/2014/main" id="{43D9AAF0-06EB-7EEC-261C-3A2F96B2EEB0}"/>
              </a:ext>
            </a:extLst>
          </p:cNvPr>
          <p:cNvSpPr txBox="1"/>
          <p:nvPr/>
        </p:nvSpPr>
        <p:spPr>
          <a:xfrm>
            <a:off x="838200" y="2980944"/>
            <a:ext cx="4846320" cy="644652"/>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28600" indent="-228600">
              <a:spcAft>
                <a:spcPts val="600"/>
              </a:spcAft>
              <a:buFont typeface="Arial" pitchFamily="34" charset="0"/>
              <a:buChar char="•"/>
            </a:pPr>
            <a:r>
              <a:rPr lang="fr-FR" sz="1300" dirty="0">
                <a:solidFill>
                  <a:srgbClr val="5F6B5F"/>
                </a:solidFill>
                <a:latin typeface="Calibri" pitchFamily="34" charset="0"/>
              </a:rPr>
              <a:t>Traitement recommandé selon la météo, avec le produit à utiliser</a:t>
            </a:r>
          </a:p>
          <a:p>
            <a:pPr marL="228600" indent="-228600">
              <a:spcAft>
                <a:spcPts val="600"/>
              </a:spcAft>
              <a:buFont typeface="Arial" pitchFamily="34" charset="0"/>
              <a:buChar char="•"/>
            </a:pPr>
            <a:r>
              <a:rPr lang="fr-FR" sz="1300" dirty="0">
                <a:solidFill>
                  <a:srgbClr val="5F6B5F"/>
                </a:solidFill>
                <a:latin typeface="Calibri" pitchFamily="34" charset="0"/>
              </a:rPr>
              <a:t>Dose de semence recommandée selon la date</a:t>
            </a:r>
          </a:p>
        </p:txBody>
      </p:sp>
      <p:sp>
        <p:nvSpPr>
          <p:cNvPr id="8" name="Card">
            <a:extLst>
              <a:ext uri="{FF2B5EF4-FFF2-40B4-BE49-F238E27FC236}">
                <a16:creationId xmlns:a16="http://schemas.microsoft.com/office/drawing/2014/main" id="{4CB02A80-B612-5A23-66F4-D027E177831A}"/>
              </a:ext>
            </a:extLst>
          </p:cNvPr>
          <p:cNvSpPr/>
          <p:nvPr/>
        </p:nvSpPr>
        <p:spPr>
          <a:xfrm>
            <a:off x="6233160" y="1682496"/>
            <a:ext cx="5394960" cy="2217420"/>
          </a:xfrm>
          <a:prstGeom prst="roundRect">
            <a:avLst>
              <a:gd name="adj" fmla="val 2553"/>
            </a:avLst>
          </a:prstGeom>
          <a:solidFill>
            <a:srgbClr val="EEF3EA"/>
          </a:solidFill>
          <a:ln w="12700">
            <a:solidFill>
              <a:srgbClr val="EEF3E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a:p>
        </p:txBody>
      </p:sp>
      <p:sp>
        <p:nvSpPr>
          <p:cNvPr id="9" name="Icon">
            <a:extLst>
              <a:ext uri="{FF2B5EF4-FFF2-40B4-BE49-F238E27FC236}">
                <a16:creationId xmlns:a16="http://schemas.microsoft.com/office/drawing/2014/main" id="{748862E8-54C2-5D4E-054D-1D407AB37FB5}"/>
              </a:ext>
            </a:extLst>
          </p:cNvPr>
          <p:cNvSpPr/>
          <p:nvPr/>
        </p:nvSpPr>
        <p:spPr>
          <a:xfrm>
            <a:off x="6507480" y="2011680"/>
            <a:ext cx="274320" cy="274320"/>
          </a:xfrm>
          <a:prstGeom prst="ellipse">
            <a:avLst/>
          </a:prstGeom>
          <a:solidFill>
            <a:srgbClr val="2C5F2D"/>
          </a:solidFill>
          <a:ln w="12700">
            <a:solidFill>
              <a:srgbClr val="2C5F2D"/>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a:p>
        </p:txBody>
      </p:sp>
      <p:sp>
        <p:nvSpPr>
          <p:cNvPr id="10" name="CardTitle">
            <a:extLst>
              <a:ext uri="{FF2B5EF4-FFF2-40B4-BE49-F238E27FC236}">
                <a16:creationId xmlns:a16="http://schemas.microsoft.com/office/drawing/2014/main" id="{38AE1E99-5F51-AB62-7D1B-80BBF6AC80B2}"/>
              </a:ext>
            </a:extLst>
          </p:cNvPr>
          <p:cNvSpPr txBox="1"/>
          <p:nvPr/>
        </p:nvSpPr>
        <p:spPr>
          <a:xfrm>
            <a:off x="6507480" y="2432304"/>
            <a:ext cx="484632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fr-FR" sz="1700" b="1" dirty="0">
                <a:solidFill>
                  <a:srgbClr val="2C5F2D"/>
                </a:solidFill>
                <a:latin typeface="Calibri" pitchFamily="34" charset="0"/>
              </a:rPr>
              <a:t>Pilotage agronomique</a:t>
            </a:r>
          </a:p>
        </p:txBody>
      </p:sp>
      <p:sp>
        <p:nvSpPr>
          <p:cNvPr id="11" name="CardBullets">
            <a:extLst>
              <a:ext uri="{FF2B5EF4-FFF2-40B4-BE49-F238E27FC236}">
                <a16:creationId xmlns:a16="http://schemas.microsoft.com/office/drawing/2014/main" id="{C9B0E79C-CCEB-C4FA-9F08-9EECC83C417E}"/>
              </a:ext>
            </a:extLst>
          </p:cNvPr>
          <p:cNvSpPr txBox="1"/>
          <p:nvPr/>
        </p:nvSpPr>
        <p:spPr>
          <a:xfrm>
            <a:off x="6507480" y="2980944"/>
            <a:ext cx="4846320" cy="644652"/>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28600" indent="-228600">
              <a:spcAft>
                <a:spcPts val="600"/>
              </a:spcAft>
              <a:buFont typeface="Arial" pitchFamily="34" charset="0"/>
              <a:buChar char="•"/>
            </a:pPr>
            <a:r>
              <a:rPr lang="fr-FR" sz="1300" dirty="0">
                <a:solidFill>
                  <a:srgbClr val="5F6B5F"/>
                </a:solidFill>
                <a:latin typeface="Calibri" pitchFamily="34" charset="0"/>
              </a:rPr>
              <a:t>Itinéraire technique mis à jour au jour le jour</a:t>
            </a:r>
          </a:p>
          <a:p>
            <a:pPr marL="228600" indent="-228600">
              <a:spcAft>
                <a:spcPts val="600"/>
              </a:spcAft>
              <a:buFont typeface="Arial" pitchFamily="34" charset="0"/>
              <a:buChar char="•"/>
            </a:pPr>
            <a:r>
              <a:rPr lang="fr-FR" sz="1300" dirty="0">
                <a:solidFill>
                  <a:srgbClr val="5F6B5F"/>
                </a:solidFill>
                <a:latin typeface="Calibri" pitchFamily="34" charset="0"/>
              </a:rPr>
              <a:t>IFT et bilan azoté calculés automatiquement</a:t>
            </a:r>
          </a:p>
        </p:txBody>
      </p:sp>
      <p:sp>
        <p:nvSpPr>
          <p:cNvPr id="12" name="Card">
            <a:extLst>
              <a:ext uri="{FF2B5EF4-FFF2-40B4-BE49-F238E27FC236}">
                <a16:creationId xmlns:a16="http://schemas.microsoft.com/office/drawing/2014/main" id="{A0B1C113-F003-AB53-A864-C65520ECB71B}"/>
              </a:ext>
            </a:extLst>
          </p:cNvPr>
          <p:cNvSpPr/>
          <p:nvPr/>
        </p:nvSpPr>
        <p:spPr>
          <a:xfrm>
            <a:off x="563880" y="4174236"/>
            <a:ext cx="5394960" cy="2217420"/>
          </a:xfrm>
          <a:prstGeom prst="roundRect">
            <a:avLst>
              <a:gd name="adj" fmla="val 2553"/>
            </a:avLst>
          </a:prstGeom>
          <a:solidFill>
            <a:srgbClr val="EEF3EA"/>
          </a:solidFill>
          <a:ln w="12700">
            <a:solidFill>
              <a:srgbClr val="EEF3E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a:p>
        </p:txBody>
      </p:sp>
      <p:sp>
        <p:nvSpPr>
          <p:cNvPr id="13" name="Icon">
            <a:extLst>
              <a:ext uri="{FF2B5EF4-FFF2-40B4-BE49-F238E27FC236}">
                <a16:creationId xmlns:a16="http://schemas.microsoft.com/office/drawing/2014/main" id="{4ABAC14C-8796-0FA0-EB02-17E40840671B}"/>
              </a:ext>
            </a:extLst>
          </p:cNvPr>
          <p:cNvSpPr/>
          <p:nvPr/>
        </p:nvSpPr>
        <p:spPr>
          <a:xfrm>
            <a:off x="838200" y="4503420"/>
            <a:ext cx="274320" cy="274320"/>
          </a:xfrm>
          <a:prstGeom prst="ellipse">
            <a:avLst/>
          </a:prstGeom>
          <a:solidFill>
            <a:srgbClr val="2C5F2D"/>
          </a:solidFill>
          <a:ln w="12700">
            <a:solidFill>
              <a:srgbClr val="2C5F2D"/>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a:p>
        </p:txBody>
      </p:sp>
      <p:sp>
        <p:nvSpPr>
          <p:cNvPr id="14" name="CardTitle">
            <a:extLst>
              <a:ext uri="{FF2B5EF4-FFF2-40B4-BE49-F238E27FC236}">
                <a16:creationId xmlns:a16="http://schemas.microsoft.com/office/drawing/2014/main" id="{83DEC1FE-CC43-43D6-82DB-5489913C288F}"/>
              </a:ext>
            </a:extLst>
          </p:cNvPr>
          <p:cNvSpPr txBox="1"/>
          <p:nvPr/>
        </p:nvSpPr>
        <p:spPr>
          <a:xfrm>
            <a:off x="838200" y="4924044"/>
            <a:ext cx="484632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fr-FR" sz="1700" b="1" dirty="0">
                <a:solidFill>
                  <a:srgbClr val="2C5F2D"/>
                </a:solidFill>
                <a:latin typeface="Calibri" pitchFamily="34" charset="0"/>
              </a:rPr>
              <a:t>Gestion d'exploitation</a:t>
            </a:r>
          </a:p>
        </p:txBody>
      </p:sp>
      <p:sp>
        <p:nvSpPr>
          <p:cNvPr id="15" name="CardBullets">
            <a:extLst>
              <a:ext uri="{FF2B5EF4-FFF2-40B4-BE49-F238E27FC236}">
                <a16:creationId xmlns:a16="http://schemas.microsoft.com/office/drawing/2014/main" id="{BD2AD129-30D7-752B-9762-1DD9910DEF94}"/>
              </a:ext>
            </a:extLst>
          </p:cNvPr>
          <p:cNvSpPr txBox="1"/>
          <p:nvPr/>
        </p:nvSpPr>
        <p:spPr>
          <a:xfrm>
            <a:off x="838200" y="5472684"/>
            <a:ext cx="4846320" cy="644652"/>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28600" indent="-228600">
              <a:spcAft>
                <a:spcPts val="600"/>
              </a:spcAft>
              <a:buFont typeface="Arial" pitchFamily="34" charset="0"/>
              <a:buChar char="•"/>
            </a:pPr>
            <a:r>
              <a:rPr lang="fr-FR" sz="1300" dirty="0">
                <a:solidFill>
                  <a:srgbClr val="5F6B5F"/>
                </a:solidFill>
                <a:latin typeface="Calibri" pitchFamily="34" charset="0"/>
              </a:rPr>
              <a:t>Parcelles sélectionnées directement sur une carte</a:t>
            </a:r>
          </a:p>
          <a:p>
            <a:pPr marL="228600" indent="-228600">
              <a:spcAft>
                <a:spcPts val="600"/>
              </a:spcAft>
              <a:buFont typeface="Arial" pitchFamily="34" charset="0"/>
              <a:buChar char="•"/>
            </a:pPr>
            <a:r>
              <a:rPr lang="fr-FR" sz="1300" dirty="0">
                <a:solidFill>
                  <a:srgbClr val="5F6B5F"/>
                </a:solidFill>
                <a:latin typeface="Calibri" pitchFamily="34" charset="0"/>
              </a:rPr>
              <a:t>Planning prévisionnel avec alertes</a:t>
            </a:r>
          </a:p>
        </p:txBody>
      </p:sp>
      <p:sp>
        <p:nvSpPr>
          <p:cNvPr id="16" name="Card">
            <a:extLst>
              <a:ext uri="{FF2B5EF4-FFF2-40B4-BE49-F238E27FC236}">
                <a16:creationId xmlns:a16="http://schemas.microsoft.com/office/drawing/2014/main" id="{BBBBA982-8F4B-5DE6-D9CE-9D9344937780}"/>
              </a:ext>
            </a:extLst>
          </p:cNvPr>
          <p:cNvSpPr/>
          <p:nvPr/>
        </p:nvSpPr>
        <p:spPr>
          <a:xfrm>
            <a:off x="6233160" y="4174236"/>
            <a:ext cx="5394960" cy="2217420"/>
          </a:xfrm>
          <a:prstGeom prst="roundRect">
            <a:avLst>
              <a:gd name="adj" fmla="val 2553"/>
            </a:avLst>
          </a:prstGeom>
          <a:solidFill>
            <a:srgbClr val="EEF3EA"/>
          </a:solidFill>
          <a:ln w="12700">
            <a:solidFill>
              <a:srgbClr val="EEF3EA"/>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a:p>
        </p:txBody>
      </p:sp>
      <p:sp>
        <p:nvSpPr>
          <p:cNvPr id="17" name="Icon">
            <a:extLst>
              <a:ext uri="{FF2B5EF4-FFF2-40B4-BE49-F238E27FC236}">
                <a16:creationId xmlns:a16="http://schemas.microsoft.com/office/drawing/2014/main" id="{81269E1A-0364-8D8D-0D65-FDC3CE9964E9}"/>
              </a:ext>
            </a:extLst>
          </p:cNvPr>
          <p:cNvSpPr/>
          <p:nvPr/>
        </p:nvSpPr>
        <p:spPr>
          <a:xfrm>
            <a:off x="6507480" y="4503420"/>
            <a:ext cx="274320" cy="274320"/>
          </a:xfrm>
          <a:prstGeom prst="ellipse">
            <a:avLst/>
          </a:prstGeom>
          <a:solidFill>
            <a:srgbClr val="2C5F2D"/>
          </a:solidFill>
          <a:ln w="12700">
            <a:solidFill>
              <a:srgbClr val="2C5F2D"/>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a:p>
        </p:txBody>
      </p:sp>
      <p:sp>
        <p:nvSpPr>
          <p:cNvPr id="18" name="CardTitle">
            <a:extLst>
              <a:ext uri="{FF2B5EF4-FFF2-40B4-BE49-F238E27FC236}">
                <a16:creationId xmlns:a16="http://schemas.microsoft.com/office/drawing/2014/main" id="{7409055B-09D8-1D54-5B5E-1296122C351E}"/>
              </a:ext>
            </a:extLst>
          </p:cNvPr>
          <p:cNvSpPr txBox="1"/>
          <p:nvPr/>
        </p:nvSpPr>
        <p:spPr>
          <a:xfrm>
            <a:off x="6507480" y="4924044"/>
            <a:ext cx="484632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fr-FR" sz="1700" b="1" dirty="0">
                <a:solidFill>
                  <a:srgbClr val="2C5F2D"/>
                </a:solidFill>
                <a:latin typeface="Calibri" pitchFamily="34" charset="0"/>
              </a:rPr>
              <a:t>Accompagnement utilisateur</a:t>
            </a:r>
          </a:p>
        </p:txBody>
      </p:sp>
      <p:sp>
        <p:nvSpPr>
          <p:cNvPr id="19" name="CardBullets">
            <a:extLst>
              <a:ext uri="{FF2B5EF4-FFF2-40B4-BE49-F238E27FC236}">
                <a16:creationId xmlns:a16="http://schemas.microsoft.com/office/drawing/2014/main" id="{3060B150-FBDB-0A78-6EF3-6D1D3CE53F62}"/>
              </a:ext>
            </a:extLst>
          </p:cNvPr>
          <p:cNvSpPr txBox="1"/>
          <p:nvPr/>
        </p:nvSpPr>
        <p:spPr>
          <a:xfrm>
            <a:off x="6507480" y="5472684"/>
            <a:ext cx="4846320" cy="644652"/>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28600" indent="-228600">
              <a:spcAft>
                <a:spcPts val="600"/>
              </a:spcAft>
              <a:buFont typeface="Arial" pitchFamily="34" charset="0"/>
              <a:buChar char="•"/>
            </a:pPr>
            <a:r>
              <a:rPr lang="fr-FR" sz="1300" dirty="0">
                <a:solidFill>
                  <a:srgbClr val="5F6B5F"/>
                </a:solidFill>
                <a:latin typeface="Calibri" pitchFamily="34" charset="0"/>
              </a:rPr>
              <a:t>Menu clair pour regrouper toutes les fonctions</a:t>
            </a:r>
          </a:p>
          <a:p>
            <a:pPr marL="228600" indent="-228600">
              <a:spcAft>
                <a:spcPts val="600"/>
              </a:spcAft>
              <a:buFont typeface="Arial" pitchFamily="34" charset="0"/>
              <a:buChar char="•"/>
            </a:pPr>
            <a:r>
              <a:rPr lang="fr-FR" sz="1300" dirty="0">
                <a:solidFill>
                  <a:srgbClr val="5F6B5F"/>
                </a:solidFill>
                <a:latin typeface="Calibri" pitchFamily="34" charset="0"/>
              </a:rPr>
              <a:t>Assistant conversationnel intégré</a:t>
            </a:r>
          </a:p>
        </p:txBody>
      </p:sp>
    </p:spTree>
    <p:extLst>
      <p:ext uri="{BB962C8B-B14F-4D97-AF65-F5344CB8AC3E}">
        <p14:creationId xmlns:p14="http://schemas.microsoft.com/office/powerpoint/2010/main" val="32236134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B3A1C"/>
        </a:solidFill>
        <a:effectLst/>
      </p:bgPr>
    </p:bg>
    <p:spTree>
      <p:nvGrpSpPr>
        <p:cNvPr id="1" name=""/>
        <p:cNvGrpSpPr/>
        <p:nvPr/>
      </p:nvGrpSpPr>
      <p:grpSpPr>
        <a:xfrm>
          <a:off x="0" y="0"/>
          <a:ext cx="0" cy="0"/>
          <a:chOff x="0" y="0"/>
          <a:chExt cx="0" cy="0"/>
        </a:xfrm>
      </p:grpSpPr>
      <p:sp>
        <p:nvSpPr>
          <p:cNvPr id="2" name="Shape 0"/>
          <p:cNvSpPr/>
          <p:nvPr/>
        </p:nvSpPr>
        <p:spPr>
          <a:xfrm>
            <a:off x="9875520" y="4480560"/>
            <a:ext cx="3840480" cy="3840480"/>
          </a:xfrm>
          <a:prstGeom prst="ellipse">
            <a:avLst/>
          </a:prstGeom>
          <a:solidFill>
            <a:srgbClr val="2C5F2D"/>
          </a:solidFill>
          <a:ln w="12700">
            <a:solidFill>
              <a:srgbClr val="2C5F2D"/>
            </a:solidFill>
            <a:prstDash val="solid"/>
          </a:ln>
        </p:spPr>
        <p:txBody>
          <a:bodyPr/>
          <a:lstStyle/>
          <a:p>
            <a:endParaRPr lang="fr-FR"/>
          </a:p>
        </p:txBody>
      </p:sp>
      <p:sp>
        <p:nvSpPr>
          <p:cNvPr id="3" name="Text 1"/>
          <p:cNvSpPr txBox="1"/>
          <p:nvPr/>
        </p:nvSpPr>
        <p:spPr>
          <a:xfrm>
            <a:off x="548640" y="1737360"/>
            <a:ext cx="8229600" cy="914400"/>
          </a:xfrm>
          <a:prstGeom prst="rect">
            <a:avLst/>
          </a:prstGeom>
          <a:noFill/>
          <a:ln/>
        </p:spPr>
        <p:txBody>
          <a:bodyPr wrap="square" lIns="0" tIns="0" rIns="0" bIns="0" rtlCol="0" anchor="ctr"/>
          <a:lstStyle/>
          <a:p>
            <a:pPr marL="0" indent="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4" name="Text 2"/>
          <p:cNvSpPr txBox="1"/>
          <p:nvPr/>
        </p:nvSpPr>
        <p:spPr>
          <a:xfrm>
            <a:off x="548640" y="2743200"/>
            <a:ext cx="8229600" cy="411480"/>
          </a:xfrm>
          <a:prstGeom prst="rect">
            <a:avLst/>
          </a:prstGeom>
          <a:noFill/>
          <a:ln/>
        </p:spPr>
        <p:txBody>
          <a:bodyPr wrap="square" lIns="0" tIns="0" rIns="0" bIns="0" rtlCol="0" anchor="ctr"/>
          <a:lstStyle/>
          <a:p>
            <a:pPr marL="0" indent="0">
              <a:buNone/>
            </a:pPr>
            <a:r>
              <a:rPr lang="en-US" sz="2000" dirty="0">
                <a:solidFill>
                  <a:srgbClr val="97BC62"/>
                </a:solidFill>
                <a:latin typeface="Calibri" pitchFamily="34" charset="0"/>
                <a:ea typeface="Calibri" pitchFamily="34" charset="-122"/>
                <a:cs typeface="Calibri" pitchFamily="34" charset="-120"/>
              </a:rPr>
              <a:t>Merci de votre attention</a:t>
            </a:r>
            <a:endParaRPr lang="en-US" sz="2000" dirty="0"/>
          </a:p>
        </p:txBody>
      </p:sp>
      <p:sp>
        <p:nvSpPr>
          <p:cNvPr id="5" name="Text 3"/>
          <p:cNvSpPr txBox="1"/>
          <p:nvPr/>
        </p:nvSpPr>
        <p:spPr>
          <a:xfrm>
            <a:off x="548640" y="3794760"/>
            <a:ext cx="2651760" cy="292608"/>
          </a:xfrm>
          <a:prstGeom prst="rect">
            <a:avLst/>
          </a:prstGeom>
          <a:noFill/>
          <a:ln/>
        </p:spPr>
        <p:txBody>
          <a:bodyPr wrap="square" lIns="0" tIns="0" rIns="0" bIns="0" rtlCol="0" anchor="ctr"/>
          <a:lstStyle/>
          <a:p>
            <a:pPr marL="0" indent="0">
              <a:buNone/>
            </a:pPr>
            <a:r>
              <a:rPr lang="en-US" sz="1300" dirty="0">
                <a:solidFill>
                  <a:srgbClr val="97BC62"/>
                </a:solidFill>
                <a:latin typeface="Calibri" pitchFamily="34" charset="0"/>
                <a:ea typeface="Calibri" pitchFamily="34" charset="-122"/>
                <a:cs typeface="Calibri" pitchFamily="34" charset="-120"/>
              </a:rPr>
              <a:t>Application</a:t>
            </a:r>
            <a:endParaRPr lang="en-US" sz="1300" dirty="0"/>
          </a:p>
        </p:txBody>
      </p:sp>
      <p:sp>
        <p:nvSpPr>
          <p:cNvPr id="6" name="Text 4"/>
          <p:cNvSpPr txBox="1"/>
          <p:nvPr/>
        </p:nvSpPr>
        <p:spPr>
          <a:xfrm>
            <a:off x="3200400" y="3794760"/>
            <a:ext cx="6400800" cy="292608"/>
          </a:xfrm>
          <a:prstGeom prst="rect">
            <a:avLst/>
          </a:prstGeom>
          <a:noFill/>
          <a:ln/>
        </p:spPr>
        <p:txBody>
          <a:bodyPr wrap="square" lIns="0" tIns="0" rIns="0" bIns="0" rtlCol="0" anchor="ctr"/>
          <a:lstStyle/>
          <a:p>
            <a:pPr marL="0" indent="0">
              <a:buNone/>
            </a:pPr>
            <a:r>
              <a:rPr lang="en-US" sz="1400" b="1" dirty="0">
                <a:solidFill>
                  <a:srgbClr val="FFFFFF"/>
                </a:solidFill>
                <a:latin typeface="Consolas" pitchFamily="34" charset="0"/>
                <a:ea typeface="Consolas" pitchFamily="34" charset="-122"/>
                <a:cs typeface="Consolas" pitchFamily="34" charset="-120"/>
              </a:rPr>
              <a:t>http://13.51.48.254:8000</a:t>
            </a:r>
            <a:endParaRPr lang="en-US" sz="1400" dirty="0"/>
          </a:p>
        </p:txBody>
      </p:sp>
      <p:sp>
        <p:nvSpPr>
          <p:cNvPr id="7" name="Text 5"/>
          <p:cNvSpPr txBox="1"/>
          <p:nvPr/>
        </p:nvSpPr>
        <p:spPr>
          <a:xfrm>
            <a:off x="548640" y="4480560"/>
            <a:ext cx="2651760" cy="292608"/>
          </a:xfrm>
          <a:prstGeom prst="rect">
            <a:avLst/>
          </a:prstGeom>
          <a:noFill/>
          <a:ln/>
        </p:spPr>
        <p:txBody>
          <a:bodyPr wrap="square" lIns="0" tIns="0" rIns="0" bIns="0" rtlCol="0" anchor="ctr"/>
          <a:lstStyle/>
          <a:p>
            <a:pPr marL="0" indent="0">
              <a:buNone/>
            </a:pPr>
            <a:r>
              <a:rPr lang="en-US" sz="1300" dirty="0">
                <a:solidFill>
                  <a:srgbClr val="97BC62"/>
                </a:solidFill>
                <a:latin typeface="Calibri" pitchFamily="34" charset="0"/>
                <a:ea typeface="Calibri" pitchFamily="34" charset="-122"/>
                <a:cs typeface="Calibri" pitchFamily="34" charset="-120"/>
              </a:rPr>
              <a:t>Documentation API</a:t>
            </a:r>
            <a:endParaRPr lang="en-US" sz="1300" dirty="0"/>
          </a:p>
        </p:txBody>
      </p:sp>
      <p:sp>
        <p:nvSpPr>
          <p:cNvPr id="8" name="Text 6"/>
          <p:cNvSpPr txBox="1"/>
          <p:nvPr/>
        </p:nvSpPr>
        <p:spPr>
          <a:xfrm>
            <a:off x="3200400" y="4480560"/>
            <a:ext cx="6400800" cy="292608"/>
          </a:xfrm>
          <a:prstGeom prst="rect">
            <a:avLst/>
          </a:prstGeom>
          <a:noFill/>
          <a:ln/>
        </p:spPr>
        <p:txBody>
          <a:bodyPr wrap="square" lIns="0" tIns="0" rIns="0" bIns="0" rtlCol="0" anchor="ctr"/>
          <a:lstStyle/>
          <a:p>
            <a:pPr marL="0" indent="0">
              <a:buNone/>
            </a:pPr>
            <a:r>
              <a:rPr lang="en-US" sz="1400" b="1" dirty="0">
                <a:solidFill>
                  <a:srgbClr val="FFFFFF"/>
                </a:solidFill>
                <a:latin typeface="Consolas" pitchFamily="34" charset="0"/>
                <a:ea typeface="Consolas" pitchFamily="34" charset="-122"/>
                <a:cs typeface="Consolas" pitchFamily="34" charset="-120"/>
              </a:rPr>
              <a:t>http://13.51.48.254:8000/docs</a:t>
            </a:r>
            <a:endParaRPr lang="en-US" sz="1400" dirty="0"/>
          </a:p>
        </p:txBody>
      </p:sp>
      <p:sp>
        <p:nvSpPr>
          <p:cNvPr id="9" name="Text 7"/>
          <p:cNvSpPr txBox="1"/>
          <p:nvPr/>
        </p:nvSpPr>
        <p:spPr>
          <a:xfrm>
            <a:off x="548640" y="5166360"/>
            <a:ext cx="2651760" cy="292608"/>
          </a:xfrm>
          <a:prstGeom prst="rect">
            <a:avLst/>
          </a:prstGeom>
          <a:noFill/>
          <a:ln/>
        </p:spPr>
        <p:txBody>
          <a:bodyPr wrap="square" lIns="0" tIns="0" rIns="0" bIns="0" rtlCol="0" anchor="ctr"/>
          <a:lstStyle/>
          <a:p>
            <a:pPr marL="0" indent="0">
              <a:buNone/>
            </a:pPr>
            <a:r>
              <a:rPr lang="en-US" sz="1300" dirty="0">
                <a:solidFill>
                  <a:srgbClr val="97BC62"/>
                </a:solidFill>
                <a:latin typeface="Calibri" pitchFamily="34" charset="0"/>
                <a:ea typeface="Calibri" pitchFamily="34" charset="-122"/>
                <a:cs typeface="Calibri" pitchFamily="34" charset="-120"/>
              </a:rPr>
              <a:t>Code source</a:t>
            </a:r>
            <a:endParaRPr lang="en-US" sz="1300" dirty="0"/>
          </a:p>
        </p:txBody>
      </p:sp>
      <p:sp>
        <p:nvSpPr>
          <p:cNvPr id="10" name="Text 8"/>
          <p:cNvSpPr txBox="1"/>
          <p:nvPr/>
        </p:nvSpPr>
        <p:spPr>
          <a:xfrm>
            <a:off x="3200400" y="5166360"/>
            <a:ext cx="6400800" cy="292608"/>
          </a:xfrm>
          <a:prstGeom prst="rect">
            <a:avLst/>
          </a:prstGeom>
          <a:noFill/>
          <a:ln/>
        </p:spPr>
        <p:txBody>
          <a:bodyPr wrap="square" lIns="0" tIns="0" rIns="0" bIns="0" rtlCol="0" anchor="ctr"/>
          <a:lstStyle/>
          <a:p>
            <a:pPr marL="0" indent="0">
              <a:buNone/>
            </a:pPr>
            <a:r>
              <a:rPr lang="en-US" sz="1400" b="1" dirty="0">
                <a:solidFill>
                  <a:srgbClr val="FFFFFF"/>
                </a:solidFill>
                <a:latin typeface="Consolas" pitchFamily="34" charset="0"/>
                <a:ea typeface="Consolas" pitchFamily="34" charset="-122"/>
                <a:cs typeface="Consolas" pitchFamily="34" charset="-120"/>
              </a:rPr>
              <a:t>github.com/Antonito35/diagnositique-plante</a:t>
            </a:r>
            <a:endParaRPr lang="en-US" sz="1400" dirty="0"/>
          </a:p>
        </p:txBody>
      </p:sp>
      <p:sp>
        <p:nvSpPr>
          <p:cNvPr id="12" name="Text 4">
            <a:extLst>
              <a:ext uri="{FF2B5EF4-FFF2-40B4-BE49-F238E27FC236}">
                <a16:creationId xmlns:a16="http://schemas.microsoft.com/office/drawing/2014/main" id="{1E31C570-251F-7696-60C1-3250801A1507}"/>
              </a:ext>
            </a:extLst>
          </p:cNvPr>
          <p:cNvSpPr txBox="1"/>
          <p:nvPr/>
        </p:nvSpPr>
        <p:spPr>
          <a:xfrm>
            <a:off x="195713" y="6079155"/>
            <a:ext cx="548640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Antoine SIMON</a:t>
            </a:r>
            <a:endParaRPr lang="en-US" sz="1600" dirty="0"/>
          </a:p>
        </p:txBody>
      </p:sp>
      <p:sp>
        <p:nvSpPr>
          <p:cNvPr id="14" name="Text 5">
            <a:extLst>
              <a:ext uri="{FF2B5EF4-FFF2-40B4-BE49-F238E27FC236}">
                <a16:creationId xmlns:a16="http://schemas.microsoft.com/office/drawing/2014/main" id="{F2325B1C-0234-EE50-9AD8-9AE3181674E1}"/>
              </a:ext>
            </a:extLst>
          </p:cNvPr>
          <p:cNvSpPr txBox="1"/>
          <p:nvPr/>
        </p:nvSpPr>
        <p:spPr>
          <a:xfrm>
            <a:off x="195713" y="6417483"/>
            <a:ext cx="7315200" cy="320040"/>
          </a:xfrm>
          <a:prstGeom prst="rect">
            <a:avLst/>
          </a:prstGeom>
          <a:noFill/>
          <a:ln/>
        </p:spPr>
        <p:txBody>
          <a:bodyPr wrap="square" lIns="0" tIns="0" rIns="0" bIns="0" rtlCol="0" anchor="ctr"/>
          <a:lstStyle/>
          <a:p>
            <a:pPr marL="0" indent="0">
              <a:buNone/>
            </a:pPr>
            <a:r>
              <a:rPr lang="en-US" sz="1300" dirty="0" err="1">
                <a:solidFill>
                  <a:srgbClr val="97BC62"/>
                </a:solidFill>
                <a:latin typeface="Calibri" pitchFamily="34" charset="0"/>
                <a:ea typeface="Calibri" pitchFamily="34" charset="-122"/>
                <a:cs typeface="Calibri" pitchFamily="34" charset="-120"/>
              </a:rPr>
              <a:t>Septembre</a:t>
            </a:r>
            <a:r>
              <a:rPr lang="en-US" sz="1300" dirty="0">
                <a:solidFill>
                  <a:srgbClr val="97BC62"/>
                </a:solidFill>
                <a:latin typeface="Calibri" pitchFamily="34" charset="0"/>
                <a:ea typeface="Calibri" pitchFamily="34" charset="-122"/>
                <a:cs typeface="Calibri" pitchFamily="34" charset="-120"/>
              </a:rPr>
              <a:t>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482</TotalTime>
  <Words>2461</Words>
  <Application>Microsoft Office PowerPoint</Application>
  <PresentationFormat>Grand écran</PresentationFormat>
  <Paragraphs>333</Paragraphs>
  <Slides>15</Slides>
  <Notes>15</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15</vt:i4>
      </vt:variant>
    </vt:vector>
  </HeadingPairs>
  <TitlesOfParts>
    <vt:vector size="21" baseType="lpstr">
      <vt:lpstr>Aptos</vt:lpstr>
      <vt:lpstr>Arial</vt:lpstr>
      <vt:lpstr>Calibri</vt:lpstr>
      <vt:lpstr>Cambria</vt:lpstr>
      <vt:lpstr>Consolas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PlantDiag - Soutenance Bachelor 2</dc:title>
  <dc:subject>PptxGenJS Presentation</dc:subject>
  <dc:creator>Antoine SIMON</dc:creator>
  <cp:lastModifiedBy>SIMON Antoine</cp:lastModifiedBy>
  <cp:revision>26</cp:revision>
  <dcterms:created xsi:type="dcterms:W3CDTF">2026-09-21T12:38:36Z</dcterms:created>
  <dcterms:modified xsi:type="dcterms:W3CDTF">2026-09-22T05:38:18Z</dcterms:modified>
</cp:coreProperties>
</file>